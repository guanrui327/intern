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0" r:id="rId7"/>
    <p:sldId id="261" r:id="rId8"/>
    <p:sldId id="263" r:id="rId9"/>
    <p:sldId id="264" r:id="rId10"/>
    <p:sldId id="265" r:id="rId11"/>
    <p:sldId id="266" r:id="rId12"/>
    <p:sldId id="269" r:id="rId13"/>
    <p:sldId id="270" r:id="rId14"/>
    <p:sldId id="271" r:id="rId15"/>
    <p:sldId id="274"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8FD"/>
        </a:solidFill>
        <a:effectLst/>
      </p:bgPr>
    </p:bg>
    <p:spTree>
      <p:nvGrpSpPr>
        <p:cNvPr id="1" name=""/>
        <p:cNvGrpSpPr/>
        <p:nvPr/>
      </p:nvGrpSpPr>
      <p:grpSpPr/>
      <p:sp>
        <p:nvSpPr>
          <p:cNvPr id="2" name="矩形 1"/>
          <p:cNvSpPr>
            <a:spLocks noGrp="1"/>
          </p:cNvSpPr>
          <p:nvPr/>
        </p:nvSpPr>
        <p:spPr>
          <a:xfrm>
            <a:off x="0" y="0"/>
            <a:ext cx="209550" cy="6858000"/>
          </a:xfrm>
          <a:prstGeom prst="rect">
            <a:avLst/>
          </a:prstGeom>
          <a:solidFill>
            <a:srgbClr val="0B3A75"/>
          </a:solidFill>
          <a:ln w="0">
            <a:noFill/>
            <a:prstDash val="solid"/>
          </a:ln>
        </p:spPr>
      </p:sp>
      <p:sp>
        <p:nvSpPr>
          <p:cNvPr id="3" name="矩形 2"/>
          <p:cNvSpPr>
            <a:spLocks noGrp="1"/>
          </p:cNvSpPr>
          <p:nvPr/>
        </p:nvSpPr>
        <p:spPr>
          <a:xfrm>
            <a:off x="209550" y="0"/>
            <a:ext cx="76200" cy="6858000"/>
          </a:xfrm>
          <a:prstGeom prst="rect">
            <a:avLst/>
          </a:prstGeom>
          <a:solidFill>
            <a:srgbClr val="155AA8"/>
          </a:solidFill>
          <a:ln w="0">
            <a:noFill/>
            <a:prstDash val="solid"/>
          </a:ln>
        </p:spPr>
      </p:sp>
      <p:sp>
        <p:nvSpPr>
          <p:cNvPr id="4" name="矩形 3"/>
          <p:cNvSpPr>
            <a:spLocks noGrp="1"/>
          </p:cNvSpPr>
          <p:nvPr/>
        </p:nvSpPr>
        <p:spPr>
          <a:xfrm>
            <a:off x="800100" y="1295400"/>
            <a:ext cx="8572500" cy="571500"/>
          </a:xfrm>
          <a:prstGeom prst="rect">
            <a:avLst/>
          </a:prstGeom>
          <a:noFill/>
          <a:ln w="0">
            <a:noFill/>
            <a:prstDash val="solid"/>
          </a:ln>
        </p:spPr>
        <p:txBody>
          <a:bodyPr/>
          <a:lstStyle/>
          <a:p>
            <a:pPr algn="l">
              <a:defRPr sz="2100" b="1">
                <a:solidFill>
                  <a:srgbClr val="0B3A75"/>
                </a:solidFill>
              </a:defRPr>
            </a:pPr>
            <a:r>
              <a:rPr sz="2100" b="1">
                <a:solidFill>
                  <a:srgbClr val="0B3A75"/>
                </a:solidFill>
              </a:rPr>
              <a:t>煤矿设备智能监测数据分析建模</a:t>
            </a:r>
            <a:endParaRPr sz="2100" b="1">
              <a:solidFill>
                <a:srgbClr val="0B3A75"/>
              </a:solidFill>
            </a:endParaRPr>
          </a:p>
        </p:txBody>
      </p:sp>
      <p:sp>
        <p:nvSpPr>
          <p:cNvPr id="5" name="矩形 4"/>
          <p:cNvSpPr>
            <a:spLocks noGrp="1"/>
          </p:cNvSpPr>
          <p:nvPr/>
        </p:nvSpPr>
        <p:spPr>
          <a:xfrm>
            <a:off x="800100" y="2057400"/>
            <a:ext cx="8191500" cy="742950"/>
          </a:xfrm>
          <a:prstGeom prst="rect">
            <a:avLst/>
          </a:prstGeom>
          <a:noFill/>
          <a:ln w="0">
            <a:noFill/>
            <a:prstDash val="solid"/>
          </a:ln>
        </p:spPr>
        <p:txBody>
          <a:bodyPr/>
          <a:lstStyle/>
          <a:p>
            <a:pPr algn="l">
              <a:defRPr sz="3600" b="1">
                <a:solidFill>
                  <a:srgbClr val="172033"/>
                </a:solidFill>
              </a:defRPr>
            </a:pPr>
            <a:r>
              <a:rPr sz="3600" b="1">
                <a:solidFill>
                  <a:srgbClr val="172033"/>
                </a:solidFill>
              </a:rPr>
              <a:t>第一阶段第一周汇报</a:t>
            </a:r>
            <a:endParaRPr sz="3600" b="1">
              <a:solidFill>
                <a:srgbClr val="172033"/>
              </a:solidFill>
            </a:endParaRPr>
          </a:p>
        </p:txBody>
      </p:sp>
      <p:sp>
        <p:nvSpPr>
          <p:cNvPr id="6" name="矩形 5"/>
          <p:cNvSpPr>
            <a:spLocks noGrp="1"/>
          </p:cNvSpPr>
          <p:nvPr/>
        </p:nvSpPr>
        <p:spPr>
          <a:xfrm>
            <a:off x="800100" y="2990850"/>
            <a:ext cx="7239000" cy="400050"/>
          </a:xfrm>
          <a:prstGeom prst="rect">
            <a:avLst/>
          </a:prstGeom>
          <a:noFill/>
          <a:ln w="0">
            <a:noFill/>
            <a:prstDash val="solid"/>
          </a:ln>
        </p:spPr>
        <p:txBody>
          <a:bodyPr/>
          <a:lstStyle/>
          <a:p>
            <a:pPr algn="l">
              <a:defRPr sz="1875" b="1">
                <a:solidFill>
                  <a:srgbClr val="155AA8"/>
                </a:solidFill>
              </a:defRPr>
            </a:pPr>
            <a:r>
              <a:rPr sz="1875" b="1">
                <a:solidFill>
                  <a:srgbClr val="155AA8"/>
                </a:solidFill>
              </a:rPr>
              <a:t>刮板机与破碎机单设备分析</a:t>
            </a:r>
            <a:endParaRPr sz="1875" b="1">
              <a:solidFill>
                <a:srgbClr val="155AA8"/>
              </a:solidFill>
            </a:endParaRPr>
          </a:p>
        </p:txBody>
      </p:sp>
      <p:sp>
        <p:nvSpPr>
          <p:cNvPr id="7" name="圆角矩形 6"/>
          <p:cNvSpPr>
            <a:spLocks noGrp="1"/>
          </p:cNvSpPr>
          <p:nvPr/>
        </p:nvSpPr>
        <p:spPr>
          <a:xfrm>
            <a:off x="800100" y="4076700"/>
            <a:ext cx="7810500" cy="838200"/>
          </a:xfrm>
          <a:prstGeom prst="roundRect">
            <a:avLst>
              <a:gd name="adj" fmla="val 9091"/>
            </a:avLst>
          </a:prstGeom>
          <a:solidFill>
            <a:srgbClr val="EAF3FF"/>
          </a:solidFill>
          <a:ln w="9525">
            <a:solidFill>
              <a:srgbClr val="CFE0F5"/>
            </a:solidFill>
            <a:prstDash val="solid"/>
          </a:ln>
        </p:spPr>
      </p:sp>
      <p:sp>
        <p:nvSpPr>
          <p:cNvPr id="8" name="矩形 7"/>
          <p:cNvSpPr>
            <a:spLocks noGrp="1"/>
          </p:cNvSpPr>
          <p:nvPr/>
        </p:nvSpPr>
        <p:spPr>
          <a:xfrm>
            <a:off x="1055370" y="4364990"/>
            <a:ext cx="7147560" cy="384810"/>
          </a:xfrm>
          <a:prstGeom prst="rect">
            <a:avLst/>
          </a:prstGeom>
          <a:noFill/>
          <a:ln w="0">
            <a:noFill/>
            <a:prstDash val="solid"/>
          </a:ln>
        </p:spPr>
        <p:txBody>
          <a:bodyPr/>
          <a:lstStyle/>
          <a:p>
            <a:pPr algn="l">
              <a:defRPr sz="1200" b="0">
                <a:solidFill>
                  <a:srgbClr val="172033"/>
                </a:solidFill>
              </a:defRPr>
            </a:pPr>
            <a:r>
              <a:rPr sz="1200" b="0">
                <a:solidFill>
                  <a:srgbClr val="172033"/>
                </a:solidFill>
              </a:rPr>
              <a:t>本周</a:t>
            </a:r>
            <a:r>
              <a:rPr lang="zh-CN" sz="1200" b="0">
                <a:solidFill>
                  <a:srgbClr val="172033"/>
                </a:solidFill>
              </a:rPr>
              <a:t>完成进度</a:t>
            </a:r>
            <a:r>
              <a:rPr sz="1200" b="0">
                <a:solidFill>
                  <a:srgbClr val="172033"/>
                </a:solidFill>
              </a:rPr>
              <a:t>：预处理、状态划分与统计、基于状态量的工况比较、状态量对监测参数的影响。</a:t>
            </a:r>
            <a:endParaRPr sz="1200" b="0">
              <a:solidFill>
                <a:srgbClr val="17203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lang="zh-CN" sz="1875" b="1">
                <a:solidFill>
                  <a:srgbClr val="FFFFFF"/>
                </a:solidFill>
              </a:rPr>
              <a:t>任务分析</a:t>
            </a:r>
            <a:endParaRPr lang="zh-CN" sz="1875" b="1">
              <a:solidFill>
                <a:srgbClr val="FFFFFF"/>
              </a:solidFill>
            </a:endParaRPr>
          </a:p>
        </p:txBody>
      </p:sp>
      <p:sp>
        <p:nvSpPr>
          <p:cNvPr id="5" name="矩形 4"/>
          <p:cNvSpPr>
            <a:spLocks noGrp="1"/>
          </p:cNvSpPr>
          <p:nvPr/>
        </p:nvSpPr>
        <p:spPr>
          <a:xfrm>
            <a:off x="609600" y="990600"/>
            <a:ext cx="2000250" cy="495300"/>
          </a:xfrm>
          <a:prstGeom prst="rect">
            <a:avLst/>
          </a:prstGeom>
          <a:solidFill>
            <a:srgbClr val="0B3A75"/>
          </a:solidFill>
          <a:ln w="9525">
            <a:solidFill>
              <a:srgbClr val="D9E6F7"/>
            </a:solidFill>
            <a:prstDash val="solid"/>
          </a:ln>
        </p:spPr>
      </p:sp>
      <p:sp>
        <p:nvSpPr>
          <p:cNvPr id="6" name="矩形 5"/>
          <p:cNvSpPr>
            <a:spLocks noGrp="1"/>
          </p:cNvSpPr>
          <p:nvPr/>
        </p:nvSpPr>
        <p:spPr>
          <a:xfrm>
            <a:off x="685800" y="1066800"/>
            <a:ext cx="1847850" cy="400050"/>
          </a:xfrm>
          <a:prstGeom prst="rect">
            <a:avLst/>
          </a:prstGeom>
          <a:noFill/>
          <a:ln w="0">
            <a:noFill/>
            <a:prstDash val="solid"/>
          </a:ln>
        </p:spPr>
        <p:txBody>
          <a:bodyPr/>
          <a:lstStyle/>
          <a:p>
            <a:pPr algn="l">
              <a:defRPr sz="1050" b="1">
                <a:solidFill>
                  <a:srgbClr val="FFFFFF"/>
                </a:solidFill>
              </a:defRPr>
            </a:pPr>
            <a:r>
              <a:rPr sz="1050" b="1">
                <a:solidFill>
                  <a:srgbClr val="FFFFFF"/>
                </a:solidFill>
              </a:rPr>
              <a:t>阶段一任务</a:t>
            </a:r>
            <a:endParaRPr sz="1050" b="1">
              <a:solidFill>
                <a:srgbClr val="FFFFFF"/>
              </a:solidFill>
            </a:endParaRPr>
          </a:p>
        </p:txBody>
      </p:sp>
      <p:sp>
        <p:nvSpPr>
          <p:cNvPr id="7" name="矩形 6"/>
          <p:cNvSpPr>
            <a:spLocks noGrp="1"/>
          </p:cNvSpPr>
          <p:nvPr/>
        </p:nvSpPr>
        <p:spPr>
          <a:xfrm>
            <a:off x="2609850" y="990600"/>
            <a:ext cx="5715000" cy="495300"/>
          </a:xfrm>
          <a:prstGeom prst="rect">
            <a:avLst/>
          </a:prstGeom>
          <a:solidFill>
            <a:srgbClr val="0B3A75"/>
          </a:solidFill>
          <a:ln w="9525">
            <a:solidFill>
              <a:srgbClr val="D9E6F7"/>
            </a:solidFill>
            <a:prstDash val="solid"/>
          </a:ln>
        </p:spPr>
      </p:sp>
      <p:sp>
        <p:nvSpPr>
          <p:cNvPr id="9" name="矩形 8"/>
          <p:cNvSpPr>
            <a:spLocks noGrp="1"/>
          </p:cNvSpPr>
          <p:nvPr/>
        </p:nvSpPr>
        <p:spPr>
          <a:xfrm>
            <a:off x="8324850" y="990600"/>
            <a:ext cx="2857500" cy="495300"/>
          </a:xfrm>
          <a:prstGeom prst="rect">
            <a:avLst/>
          </a:prstGeom>
          <a:solidFill>
            <a:srgbClr val="0B3A75"/>
          </a:solidFill>
          <a:ln w="9525">
            <a:solidFill>
              <a:srgbClr val="D9E6F7"/>
            </a:solidFill>
            <a:prstDash val="solid"/>
          </a:ln>
        </p:spPr>
      </p:sp>
      <p:sp>
        <p:nvSpPr>
          <p:cNvPr id="10" name="矩形 9"/>
          <p:cNvSpPr>
            <a:spLocks noGrp="1"/>
          </p:cNvSpPr>
          <p:nvPr/>
        </p:nvSpPr>
        <p:spPr>
          <a:xfrm>
            <a:off x="8401050" y="1066800"/>
            <a:ext cx="2705100" cy="400050"/>
          </a:xfrm>
          <a:prstGeom prst="rect">
            <a:avLst/>
          </a:prstGeom>
          <a:noFill/>
          <a:ln w="0">
            <a:noFill/>
            <a:prstDash val="solid"/>
          </a:ln>
        </p:spPr>
        <p:txBody>
          <a:bodyPr/>
          <a:lstStyle/>
          <a:p>
            <a:pPr algn="l">
              <a:defRPr sz="1050" b="1">
                <a:solidFill>
                  <a:srgbClr val="FFFFFF"/>
                </a:solidFill>
              </a:defRPr>
            </a:pPr>
            <a:r>
              <a:rPr lang="zh-CN" sz="1050" b="1">
                <a:solidFill>
                  <a:srgbClr val="FFFFFF"/>
                </a:solidFill>
              </a:rPr>
              <a:t>成果</a:t>
            </a:r>
            <a:r>
              <a:rPr lang="zh-CN" sz="1050" b="1">
                <a:solidFill>
                  <a:srgbClr val="FFFFFF"/>
                </a:solidFill>
              </a:rPr>
              <a:t>展示</a:t>
            </a:r>
            <a:endParaRPr lang="zh-CN" sz="1050" b="1">
              <a:solidFill>
                <a:srgbClr val="FFFFFF"/>
              </a:solidFill>
            </a:endParaRPr>
          </a:p>
        </p:txBody>
      </p:sp>
      <p:sp>
        <p:nvSpPr>
          <p:cNvPr id="11" name="矩形 10"/>
          <p:cNvSpPr>
            <a:spLocks noGrp="1"/>
          </p:cNvSpPr>
          <p:nvPr/>
        </p:nvSpPr>
        <p:spPr>
          <a:xfrm>
            <a:off x="609600" y="1485900"/>
            <a:ext cx="2000250" cy="495300"/>
          </a:xfrm>
          <a:prstGeom prst="rect">
            <a:avLst/>
          </a:prstGeom>
          <a:solidFill>
            <a:srgbClr val="F7FBFF"/>
          </a:solidFill>
          <a:ln w="9525">
            <a:solidFill>
              <a:srgbClr val="D9E6F7"/>
            </a:solidFill>
            <a:prstDash val="solid"/>
          </a:ln>
        </p:spPr>
      </p:sp>
      <p:sp>
        <p:nvSpPr>
          <p:cNvPr id="12" name="矩形 11"/>
          <p:cNvSpPr>
            <a:spLocks noGrp="1"/>
          </p:cNvSpPr>
          <p:nvPr/>
        </p:nvSpPr>
        <p:spPr>
          <a:xfrm>
            <a:off x="685800" y="1562100"/>
            <a:ext cx="184785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1 数据预处理</a:t>
            </a:r>
            <a:endParaRPr sz="975" b="0">
              <a:solidFill>
                <a:srgbClr val="172033"/>
              </a:solidFill>
            </a:endParaRPr>
          </a:p>
        </p:txBody>
      </p:sp>
      <p:sp>
        <p:nvSpPr>
          <p:cNvPr id="13" name="矩形 12"/>
          <p:cNvSpPr>
            <a:spLocks noGrp="1"/>
          </p:cNvSpPr>
          <p:nvPr/>
        </p:nvSpPr>
        <p:spPr>
          <a:xfrm>
            <a:off x="2609850" y="1485900"/>
            <a:ext cx="5715000" cy="495300"/>
          </a:xfrm>
          <a:prstGeom prst="rect">
            <a:avLst/>
          </a:prstGeom>
          <a:solidFill>
            <a:srgbClr val="F7FBFF"/>
          </a:solidFill>
          <a:ln w="9525">
            <a:solidFill>
              <a:srgbClr val="D9E6F7"/>
            </a:solidFill>
            <a:prstDash val="solid"/>
          </a:ln>
        </p:spPr>
      </p:sp>
      <p:sp>
        <p:nvSpPr>
          <p:cNvPr id="14" name="矩形 13"/>
          <p:cNvSpPr>
            <a:spLocks noGrp="1"/>
          </p:cNvSpPr>
          <p:nvPr/>
        </p:nvSpPr>
        <p:spPr>
          <a:xfrm>
            <a:off x="2686050" y="1562100"/>
            <a:ext cx="55626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保留 point_name、value、time；长表转宽表；30s 重采样</a:t>
            </a:r>
            <a:endParaRPr sz="975" b="0">
              <a:solidFill>
                <a:srgbClr val="172033"/>
              </a:solidFill>
            </a:endParaRPr>
          </a:p>
        </p:txBody>
      </p:sp>
      <p:sp>
        <p:nvSpPr>
          <p:cNvPr id="15" name="矩形 14"/>
          <p:cNvSpPr>
            <a:spLocks noGrp="1"/>
          </p:cNvSpPr>
          <p:nvPr/>
        </p:nvSpPr>
        <p:spPr>
          <a:xfrm>
            <a:off x="8324850" y="1485900"/>
            <a:ext cx="2857500" cy="495300"/>
          </a:xfrm>
          <a:prstGeom prst="rect">
            <a:avLst/>
          </a:prstGeom>
          <a:solidFill>
            <a:srgbClr val="F7FBFF"/>
          </a:solidFill>
          <a:ln w="9525">
            <a:solidFill>
              <a:srgbClr val="D9E6F7"/>
            </a:solidFill>
            <a:prstDash val="solid"/>
          </a:ln>
        </p:spPr>
      </p:sp>
      <p:sp>
        <p:nvSpPr>
          <p:cNvPr id="16" name="矩形 15"/>
          <p:cNvSpPr>
            <a:spLocks noGrp="1"/>
          </p:cNvSpPr>
          <p:nvPr/>
        </p:nvSpPr>
        <p:spPr>
          <a:xfrm>
            <a:off x="8401050" y="1562100"/>
            <a:ext cx="2705100" cy="400050"/>
          </a:xfrm>
          <a:prstGeom prst="rect">
            <a:avLst/>
          </a:prstGeom>
          <a:noFill/>
          <a:ln w="0">
            <a:noFill/>
            <a:prstDash val="solid"/>
          </a:ln>
        </p:spPr>
        <p:txBody>
          <a:bodyPr/>
          <a:lstStyle/>
          <a:p>
            <a:pPr algn="l">
              <a:defRPr sz="975" b="0">
                <a:solidFill>
                  <a:srgbClr val="172033"/>
                </a:solidFill>
              </a:defRPr>
            </a:pPr>
            <a:r>
              <a:rPr lang="zh-CN" sz="975" b="0">
                <a:solidFill>
                  <a:srgbClr val="172033"/>
                </a:solidFill>
              </a:rPr>
              <a:t>点位覆盖检验</a:t>
            </a:r>
            <a:r>
              <a:rPr sz="975" b="0">
                <a:solidFill>
                  <a:srgbClr val="172033"/>
                </a:solidFill>
              </a:rPr>
              <a:t>、IQR 审计</a:t>
            </a:r>
            <a:endParaRPr sz="975" b="0">
              <a:solidFill>
                <a:srgbClr val="172033"/>
              </a:solidFill>
            </a:endParaRPr>
          </a:p>
        </p:txBody>
      </p:sp>
      <p:sp>
        <p:nvSpPr>
          <p:cNvPr id="17" name="矩形 16"/>
          <p:cNvSpPr>
            <a:spLocks noGrp="1"/>
          </p:cNvSpPr>
          <p:nvPr/>
        </p:nvSpPr>
        <p:spPr>
          <a:xfrm>
            <a:off x="609600" y="1981200"/>
            <a:ext cx="2000250" cy="495300"/>
          </a:xfrm>
          <a:prstGeom prst="rect">
            <a:avLst/>
          </a:prstGeom>
          <a:solidFill>
            <a:srgbClr val="FFFFFF"/>
          </a:solidFill>
          <a:ln w="9525">
            <a:solidFill>
              <a:srgbClr val="D9E6F7"/>
            </a:solidFill>
            <a:prstDash val="solid"/>
          </a:ln>
        </p:spPr>
      </p:sp>
      <p:sp>
        <p:nvSpPr>
          <p:cNvPr id="18" name="矩形 17"/>
          <p:cNvSpPr>
            <a:spLocks noGrp="1"/>
          </p:cNvSpPr>
          <p:nvPr/>
        </p:nvSpPr>
        <p:spPr>
          <a:xfrm>
            <a:off x="685800" y="2057400"/>
            <a:ext cx="184785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2 状态量划分与统计</a:t>
            </a:r>
            <a:endParaRPr sz="975" b="0">
              <a:solidFill>
                <a:srgbClr val="172033"/>
              </a:solidFill>
            </a:endParaRPr>
          </a:p>
        </p:txBody>
      </p:sp>
      <p:sp>
        <p:nvSpPr>
          <p:cNvPr id="19" name="矩形 18"/>
          <p:cNvSpPr>
            <a:spLocks noGrp="1"/>
          </p:cNvSpPr>
          <p:nvPr/>
        </p:nvSpPr>
        <p:spPr>
          <a:xfrm>
            <a:off x="2609850" y="1981200"/>
            <a:ext cx="5715000" cy="495300"/>
          </a:xfrm>
          <a:prstGeom prst="rect">
            <a:avLst/>
          </a:prstGeom>
          <a:solidFill>
            <a:srgbClr val="FFFFFF"/>
          </a:solidFill>
          <a:ln w="9525">
            <a:solidFill>
              <a:srgbClr val="D9E6F7"/>
            </a:solidFill>
            <a:prstDash val="solid"/>
          </a:ln>
        </p:spPr>
      </p:sp>
      <p:sp>
        <p:nvSpPr>
          <p:cNvPr id="20" name="矩形 19"/>
          <p:cNvSpPr>
            <a:spLocks noGrp="1"/>
          </p:cNvSpPr>
          <p:nvPr/>
        </p:nvSpPr>
        <p:spPr>
          <a:xfrm>
            <a:off x="2686050" y="2057400"/>
            <a:ext cx="55626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用真实运行状态点划分运行/停机样本</a:t>
            </a:r>
            <a:endParaRPr sz="975" b="0">
              <a:solidFill>
                <a:srgbClr val="172033"/>
              </a:solidFill>
            </a:endParaRPr>
          </a:p>
        </p:txBody>
      </p:sp>
      <p:sp>
        <p:nvSpPr>
          <p:cNvPr id="21" name="矩形 20"/>
          <p:cNvSpPr>
            <a:spLocks noGrp="1"/>
          </p:cNvSpPr>
          <p:nvPr/>
        </p:nvSpPr>
        <p:spPr>
          <a:xfrm>
            <a:off x="8324850" y="1981200"/>
            <a:ext cx="2857500" cy="495300"/>
          </a:xfrm>
          <a:prstGeom prst="rect">
            <a:avLst/>
          </a:prstGeom>
          <a:solidFill>
            <a:srgbClr val="FFFFFF"/>
          </a:solidFill>
          <a:ln w="9525">
            <a:solidFill>
              <a:srgbClr val="D9E6F7"/>
            </a:solidFill>
            <a:prstDash val="solid"/>
          </a:ln>
        </p:spPr>
      </p:sp>
      <p:sp>
        <p:nvSpPr>
          <p:cNvPr id="22" name="矩形 21"/>
          <p:cNvSpPr>
            <a:spLocks noGrp="1"/>
          </p:cNvSpPr>
          <p:nvPr/>
        </p:nvSpPr>
        <p:spPr>
          <a:xfrm>
            <a:off x="8401050" y="2057400"/>
            <a:ext cx="27051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状态点核验、状态时序图、持续时间表</a:t>
            </a:r>
            <a:endParaRPr sz="975" b="0">
              <a:solidFill>
                <a:srgbClr val="172033"/>
              </a:solidFill>
            </a:endParaRPr>
          </a:p>
        </p:txBody>
      </p:sp>
      <p:sp>
        <p:nvSpPr>
          <p:cNvPr id="23" name="矩形 22"/>
          <p:cNvSpPr>
            <a:spLocks noGrp="1"/>
          </p:cNvSpPr>
          <p:nvPr/>
        </p:nvSpPr>
        <p:spPr>
          <a:xfrm>
            <a:off x="609600" y="2476500"/>
            <a:ext cx="2000250" cy="495300"/>
          </a:xfrm>
          <a:prstGeom prst="rect">
            <a:avLst/>
          </a:prstGeom>
          <a:solidFill>
            <a:srgbClr val="F7FBFF"/>
          </a:solidFill>
          <a:ln w="9525">
            <a:solidFill>
              <a:srgbClr val="D9E6F7"/>
            </a:solidFill>
            <a:prstDash val="solid"/>
          </a:ln>
        </p:spPr>
      </p:sp>
      <p:sp>
        <p:nvSpPr>
          <p:cNvPr id="24" name="矩形 23"/>
          <p:cNvSpPr>
            <a:spLocks noGrp="1"/>
          </p:cNvSpPr>
          <p:nvPr/>
        </p:nvSpPr>
        <p:spPr>
          <a:xfrm>
            <a:off x="685800" y="2552700"/>
            <a:ext cx="184785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3 基于状态量的工况比较</a:t>
            </a:r>
            <a:endParaRPr sz="975" b="0">
              <a:solidFill>
                <a:srgbClr val="172033"/>
              </a:solidFill>
            </a:endParaRPr>
          </a:p>
        </p:txBody>
      </p:sp>
      <p:sp>
        <p:nvSpPr>
          <p:cNvPr id="25" name="矩形 24"/>
          <p:cNvSpPr>
            <a:spLocks noGrp="1"/>
          </p:cNvSpPr>
          <p:nvPr/>
        </p:nvSpPr>
        <p:spPr>
          <a:xfrm>
            <a:off x="2609850" y="2476500"/>
            <a:ext cx="5715000" cy="495300"/>
          </a:xfrm>
          <a:prstGeom prst="rect">
            <a:avLst/>
          </a:prstGeom>
          <a:solidFill>
            <a:srgbClr val="F7FBFF"/>
          </a:solidFill>
          <a:ln w="9525">
            <a:solidFill>
              <a:srgbClr val="D9E6F7"/>
            </a:solidFill>
            <a:prstDash val="solid"/>
          </a:ln>
        </p:spPr>
      </p:sp>
      <p:sp>
        <p:nvSpPr>
          <p:cNvPr id="26" name="矩形 25"/>
          <p:cNvSpPr>
            <a:spLocks noGrp="1"/>
          </p:cNvSpPr>
          <p:nvPr/>
        </p:nvSpPr>
        <p:spPr>
          <a:xfrm>
            <a:off x="2686050" y="2552700"/>
            <a:ext cx="55626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比较运行/停机下监测参数分布差异</a:t>
            </a:r>
            <a:endParaRPr sz="975" b="0">
              <a:solidFill>
                <a:srgbClr val="172033"/>
              </a:solidFill>
            </a:endParaRPr>
          </a:p>
        </p:txBody>
      </p:sp>
      <p:sp>
        <p:nvSpPr>
          <p:cNvPr id="27" name="矩形 26"/>
          <p:cNvSpPr>
            <a:spLocks noGrp="1"/>
          </p:cNvSpPr>
          <p:nvPr/>
        </p:nvSpPr>
        <p:spPr>
          <a:xfrm>
            <a:off x="8324850" y="2476500"/>
            <a:ext cx="2857500" cy="495300"/>
          </a:xfrm>
          <a:prstGeom prst="rect">
            <a:avLst/>
          </a:prstGeom>
          <a:solidFill>
            <a:srgbClr val="F7FBFF"/>
          </a:solidFill>
          <a:ln w="9525">
            <a:solidFill>
              <a:srgbClr val="D9E6F7"/>
            </a:solidFill>
            <a:prstDash val="solid"/>
          </a:ln>
        </p:spPr>
      </p:sp>
      <p:sp>
        <p:nvSpPr>
          <p:cNvPr id="28" name="矩形 27"/>
          <p:cNvSpPr>
            <a:spLocks noGrp="1"/>
          </p:cNvSpPr>
          <p:nvPr/>
        </p:nvSpPr>
        <p:spPr>
          <a:xfrm>
            <a:off x="8401050" y="2552700"/>
            <a:ext cx="27051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箱线图</a:t>
            </a:r>
            <a:endParaRPr sz="975" b="0">
              <a:solidFill>
                <a:srgbClr val="172033"/>
              </a:solidFill>
            </a:endParaRPr>
          </a:p>
        </p:txBody>
      </p:sp>
      <p:sp>
        <p:nvSpPr>
          <p:cNvPr id="29" name="矩形 28"/>
          <p:cNvSpPr>
            <a:spLocks noGrp="1"/>
          </p:cNvSpPr>
          <p:nvPr/>
        </p:nvSpPr>
        <p:spPr>
          <a:xfrm>
            <a:off x="609600" y="2971800"/>
            <a:ext cx="2000250" cy="495300"/>
          </a:xfrm>
          <a:prstGeom prst="rect">
            <a:avLst/>
          </a:prstGeom>
          <a:solidFill>
            <a:srgbClr val="FFFFFF"/>
          </a:solidFill>
          <a:ln w="9525">
            <a:solidFill>
              <a:srgbClr val="D9E6F7"/>
            </a:solidFill>
            <a:prstDash val="solid"/>
          </a:ln>
        </p:spPr>
      </p:sp>
      <p:sp>
        <p:nvSpPr>
          <p:cNvPr id="30" name="矩形 29"/>
          <p:cNvSpPr>
            <a:spLocks noGrp="1"/>
          </p:cNvSpPr>
          <p:nvPr/>
        </p:nvSpPr>
        <p:spPr>
          <a:xfrm>
            <a:off x="685800" y="3048000"/>
            <a:ext cx="184785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4 状态量影响分析</a:t>
            </a:r>
            <a:endParaRPr sz="975" b="0">
              <a:solidFill>
                <a:srgbClr val="172033"/>
              </a:solidFill>
            </a:endParaRPr>
          </a:p>
        </p:txBody>
      </p:sp>
      <p:sp>
        <p:nvSpPr>
          <p:cNvPr id="31" name="矩形 30"/>
          <p:cNvSpPr>
            <a:spLocks noGrp="1"/>
          </p:cNvSpPr>
          <p:nvPr/>
        </p:nvSpPr>
        <p:spPr>
          <a:xfrm>
            <a:off x="2609850" y="2971800"/>
            <a:ext cx="5715000" cy="495300"/>
          </a:xfrm>
          <a:prstGeom prst="rect">
            <a:avLst/>
          </a:prstGeom>
          <a:solidFill>
            <a:srgbClr val="FFFFFF"/>
          </a:solidFill>
          <a:ln w="9525">
            <a:solidFill>
              <a:srgbClr val="D9E6F7"/>
            </a:solidFill>
            <a:prstDash val="solid"/>
          </a:ln>
        </p:spPr>
      </p:sp>
      <p:sp>
        <p:nvSpPr>
          <p:cNvPr id="32" name="矩形 31"/>
          <p:cNvSpPr>
            <a:spLocks noGrp="1"/>
          </p:cNvSpPr>
          <p:nvPr/>
        </p:nvSpPr>
        <p:spPr>
          <a:xfrm>
            <a:off x="2686050" y="3048000"/>
            <a:ext cx="55626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判断状态量影响哪些数值监测参数</a:t>
            </a:r>
            <a:endParaRPr sz="975" b="0">
              <a:solidFill>
                <a:srgbClr val="172033"/>
              </a:solidFill>
            </a:endParaRPr>
          </a:p>
        </p:txBody>
      </p:sp>
      <p:sp>
        <p:nvSpPr>
          <p:cNvPr id="33" name="矩形 32"/>
          <p:cNvSpPr>
            <a:spLocks noGrp="1"/>
          </p:cNvSpPr>
          <p:nvPr/>
        </p:nvSpPr>
        <p:spPr>
          <a:xfrm>
            <a:off x="8324850" y="2971800"/>
            <a:ext cx="2857500" cy="495300"/>
          </a:xfrm>
          <a:prstGeom prst="rect">
            <a:avLst/>
          </a:prstGeom>
          <a:solidFill>
            <a:srgbClr val="FFFFFF"/>
          </a:solidFill>
          <a:ln w="9525">
            <a:solidFill>
              <a:srgbClr val="D9E6F7"/>
            </a:solidFill>
            <a:prstDash val="solid"/>
          </a:ln>
        </p:spPr>
      </p:sp>
      <p:sp>
        <p:nvSpPr>
          <p:cNvPr id="34" name="矩形 33"/>
          <p:cNvSpPr>
            <a:spLocks noGrp="1"/>
          </p:cNvSpPr>
          <p:nvPr/>
        </p:nvSpPr>
        <p:spPr>
          <a:xfrm>
            <a:off x="8401050" y="3048000"/>
            <a:ext cx="27051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Kruskal-Wallis、FDR、ε²效应量</a:t>
            </a:r>
            <a:endParaRPr sz="975" b="0">
              <a:solidFill>
                <a:srgbClr val="172033"/>
              </a:solidFill>
            </a:endParaRPr>
          </a:p>
        </p:txBody>
      </p:sp>
      <p:sp>
        <p:nvSpPr>
          <p:cNvPr id="35" name="矩形 34"/>
          <p:cNvSpPr>
            <a:spLocks noGrp="1"/>
          </p:cNvSpPr>
          <p:nvPr/>
        </p:nvSpPr>
        <p:spPr>
          <a:xfrm>
            <a:off x="609600" y="3467100"/>
            <a:ext cx="2000250" cy="495300"/>
          </a:xfrm>
          <a:prstGeom prst="rect">
            <a:avLst/>
          </a:prstGeom>
          <a:solidFill>
            <a:srgbClr val="F7FBFF"/>
          </a:solidFill>
          <a:ln w="9525">
            <a:solidFill>
              <a:srgbClr val="D9E6F7"/>
            </a:solidFill>
            <a:prstDash val="solid"/>
          </a:ln>
        </p:spPr>
      </p:sp>
      <p:sp>
        <p:nvSpPr>
          <p:cNvPr id="36" name="矩形 35"/>
          <p:cNvSpPr>
            <a:spLocks noGrp="1"/>
          </p:cNvSpPr>
          <p:nvPr/>
        </p:nvSpPr>
        <p:spPr>
          <a:xfrm>
            <a:off x="685800" y="3543300"/>
            <a:ext cx="184785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5 细粒度工况划分</a:t>
            </a:r>
            <a:endParaRPr sz="975" b="0">
              <a:solidFill>
                <a:srgbClr val="172033"/>
              </a:solidFill>
            </a:endParaRPr>
          </a:p>
        </p:txBody>
      </p:sp>
      <p:sp>
        <p:nvSpPr>
          <p:cNvPr id="37" name="矩形 36"/>
          <p:cNvSpPr>
            <a:spLocks noGrp="1"/>
          </p:cNvSpPr>
          <p:nvPr/>
        </p:nvSpPr>
        <p:spPr>
          <a:xfrm>
            <a:off x="2609850" y="3467100"/>
            <a:ext cx="5715000" cy="495300"/>
          </a:xfrm>
          <a:prstGeom prst="rect">
            <a:avLst/>
          </a:prstGeom>
          <a:solidFill>
            <a:srgbClr val="F7FBFF"/>
          </a:solidFill>
          <a:ln w="9525">
            <a:solidFill>
              <a:srgbClr val="D9E6F7"/>
            </a:solidFill>
            <a:prstDash val="solid"/>
          </a:ln>
        </p:spPr>
      </p:sp>
      <p:sp>
        <p:nvSpPr>
          <p:cNvPr id="38" name="矩形 37"/>
          <p:cNvSpPr>
            <a:spLocks noGrp="1"/>
          </p:cNvSpPr>
          <p:nvPr/>
        </p:nvSpPr>
        <p:spPr>
          <a:xfrm>
            <a:off x="2686050" y="3543300"/>
            <a:ext cx="5562600" cy="400050"/>
          </a:xfrm>
          <a:prstGeom prst="rect">
            <a:avLst/>
          </a:prstGeom>
          <a:noFill/>
          <a:ln w="0">
            <a:noFill/>
            <a:prstDash val="solid"/>
          </a:ln>
        </p:spPr>
        <p:txBody>
          <a:bodyPr/>
          <a:lstStyle/>
          <a:p>
            <a:pPr algn="l">
              <a:defRPr sz="975" b="0">
                <a:solidFill>
                  <a:srgbClr val="172033"/>
                </a:solidFill>
              </a:defRPr>
            </a:pPr>
            <a:r>
              <a:rPr sz="975" b="0">
                <a:solidFill>
                  <a:srgbClr val="172033"/>
                </a:solidFill>
              </a:rPr>
              <a:t>本周不展开</a:t>
            </a:r>
            <a:endParaRPr sz="975" b="0">
              <a:solidFill>
                <a:srgbClr val="172033"/>
              </a:solidFill>
            </a:endParaRPr>
          </a:p>
        </p:txBody>
      </p:sp>
      <p:sp>
        <p:nvSpPr>
          <p:cNvPr id="39" name="矩形 38"/>
          <p:cNvSpPr>
            <a:spLocks noGrp="1"/>
          </p:cNvSpPr>
          <p:nvPr/>
        </p:nvSpPr>
        <p:spPr>
          <a:xfrm>
            <a:off x="8324850" y="3467100"/>
            <a:ext cx="2857500" cy="495300"/>
          </a:xfrm>
          <a:prstGeom prst="rect">
            <a:avLst/>
          </a:prstGeom>
          <a:solidFill>
            <a:srgbClr val="F7FBFF"/>
          </a:solidFill>
          <a:ln w="9525">
            <a:solidFill>
              <a:srgbClr val="D9E6F7"/>
            </a:solidFill>
            <a:prstDash val="solid"/>
          </a:ln>
        </p:spPr>
      </p:sp>
      <p:sp>
        <p:nvSpPr>
          <p:cNvPr id="41" name="矩形 40"/>
          <p:cNvSpPr>
            <a:spLocks noGrp="1"/>
          </p:cNvSpPr>
          <p:nvPr/>
        </p:nvSpPr>
        <p:spPr>
          <a:xfrm>
            <a:off x="609600" y="4343400"/>
            <a:ext cx="57150" cy="247650"/>
          </a:xfrm>
          <a:prstGeom prst="rect">
            <a:avLst/>
          </a:prstGeom>
          <a:solidFill>
            <a:srgbClr val="155AA8"/>
          </a:solidFill>
          <a:ln w="0">
            <a:noFill/>
            <a:prstDash val="solid"/>
          </a:ln>
        </p:spPr>
      </p:sp>
      <p:sp>
        <p:nvSpPr>
          <p:cNvPr id="42" name="矩形 41"/>
          <p:cNvSpPr>
            <a:spLocks noGrp="1"/>
          </p:cNvSpPr>
          <p:nvPr/>
        </p:nvSpPr>
        <p:spPr>
          <a:xfrm>
            <a:off x="742950" y="4333875"/>
            <a:ext cx="4381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解决步骤</a:t>
            </a:r>
            <a:endParaRPr sz="1425" b="1">
              <a:solidFill>
                <a:srgbClr val="0B3A75"/>
              </a:solidFill>
            </a:endParaRPr>
          </a:p>
        </p:txBody>
      </p:sp>
      <p:sp>
        <p:nvSpPr>
          <p:cNvPr id="43" name="圆角矩形 42"/>
          <p:cNvSpPr>
            <a:spLocks noGrp="1"/>
          </p:cNvSpPr>
          <p:nvPr/>
        </p:nvSpPr>
        <p:spPr>
          <a:xfrm>
            <a:off x="666750" y="4819650"/>
            <a:ext cx="1238250" cy="457200"/>
          </a:xfrm>
          <a:prstGeom prst="roundRect">
            <a:avLst>
              <a:gd name="adj" fmla="val 16667"/>
            </a:avLst>
          </a:prstGeom>
          <a:solidFill>
            <a:srgbClr val="EAF3FF"/>
          </a:solidFill>
          <a:ln w="9525">
            <a:solidFill>
              <a:srgbClr val="BFD5EE"/>
            </a:solidFill>
            <a:prstDash val="solid"/>
          </a:ln>
        </p:spPr>
      </p:sp>
      <p:sp>
        <p:nvSpPr>
          <p:cNvPr id="44" name="矩形 43"/>
          <p:cNvSpPr>
            <a:spLocks noGrp="1"/>
          </p:cNvSpPr>
          <p:nvPr/>
        </p:nvSpPr>
        <p:spPr>
          <a:xfrm>
            <a:off x="762000" y="486918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原始CSV</a:t>
            </a:r>
            <a:endParaRPr sz="975" b="1">
              <a:solidFill>
                <a:srgbClr val="172033"/>
              </a:solidFill>
            </a:endParaRPr>
          </a:p>
          <a:p>
            <a:pPr algn="ctr">
              <a:defRPr sz="975" b="1">
                <a:solidFill>
                  <a:srgbClr val="172033"/>
                </a:solidFill>
              </a:defRPr>
            </a:pPr>
            <a:r>
              <a:rPr sz="975" b="1">
                <a:solidFill>
                  <a:srgbClr val="172033"/>
                </a:solidFill>
              </a:rPr>
              <a:t>三字段保留</a:t>
            </a:r>
            <a:endParaRPr sz="975" b="1">
              <a:solidFill>
                <a:srgbClr val="172033"/>
              </a:solidFill>
            </a:endParaRPr>
          </a:p>
        </p:txBody>
      </p:sp>
      <p:sp>
        <p:nvSpPr>
          <p:cNvPr id="45" name="矩形 44"/>
          <p:cNvSpPr>
            <a:spLocks noGrp="1"/>
          </p:cNvSpPr>
          <p:nvPr/>
        </p:nvSpPr>
        <p:spPr>
          <a:xfrm>
            <a:off x="2000250" y="4933950"/>
            <a:ext cx="228600" cy="228600"/>
          </a:xfrm>
          <a:prstGeom prst="rect">
            <a:avLst/>
          </a:prstGeom>
          <a:noFill/>
          <a:ln w="0">
            <a:noFill/>
            <a:prstDash val="solid"/>
          </a:ln>
        </p:spPr>
        <p:txBody>
          <a:bodyPr/>
          <a:lstStyle/>
          <a:p>
            <a:pPr algn="ctr">
              <a:defRPr sz="1200" b="1">
                <a:solidFill>
                  <a:srgbClr val="155AA8"/>
                </a:solidFill>
              </a:defRPr>
            </a:pPr>
            <a:r>
              <a:rPr sz="1200" b="1">
                <a:solidFill>
                  <a:srgbClr val="155AA8"/>
                </a:solidFill>
              </a:rPr>
              <a:t>→</a:t>
            </a:r>
            <a:endParaRPr sz="1200" b="1">
              <a:solidFill>
                <a:srgbClr val="155AA8"/>
              </a:solidFill>
            </a:endParaRPr>
          </a:p>
        </p:txBody>
      </p:sp>
      <p:sp>
        <p:nvSpPr>
          <p:cNvPr id="46" name="圆角矩形 45"/>
          <p:cNvSpPr>
            <a:spLocks noGrp="1"/>
          </p:cNvSpPr>
          <p:nvPr/>
        </p:nvSpPr>
        <p:spPr>
          <a:xfrm>
            <a:off x="2324100" y="4819650"/>
            <a:ext cx="1238250" cy="457200"/>
          </a:xfrm>
          <a:prstGeom prst="roundRect">
            <a:avLst>
              <a:gd name="adj" fmla="val 16667"/>
            </a:avLst>
          </a:prstGeom>
          <a:solidFill>
            <a:srgbClr val="FFFFFF"/>
          </a:solidFill>
          <a:ln w="9525">
            <a:solidFill>
              <a:srgbClr val="BFD5EE"/>
            </a:solidFill>
            <a:prstDash val="solid"/>
          </a:ln>
        </p:spPr>
      </p:sp>
      <p:sp>
        <p:nvSpPr>
          <p:cNvPr id="47" name="矩形 46"/>
          <p:cNvSpPr>
            <a:spLocks noGrp="1"/>
          </p:cNvSpPr>
          <p:nvPr/>
        </p:nvSpPr>
        <p:spPr>
          <a:xfrm>
            <a:off x="2419350" y="487680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点位核验</a:t>
            </a:r>
            <a:endParaRPr sz="975" b="1">
              <a:solidFill>
                <a:srgbClr val="172033"/>
              </a:solidFill>
            </a:endParaRPr>
          </a:p>
          <a:p>
            <a:pPr algn="ctr">
              <a:defRPr sz="975" b="1">
                <a:solidFill>
                  <a:srgbClr val="172033"/>
                </a:solidFill>
              </a:defRPr>
            </a:pPr>
            <a:r>
              <a:rPr sz="975" b="1">
                <a:solidFill>
                  <a:srgbClr val="172033"/>
                </a:solidFill>
              </a:rPr>
              <a:t>确认真实存在</a:t>
            </a:r>
            <a:endParaRPr sz="975" b="1">
              <a:solidFill>
                <a:srgbClr val="172033"/>
              </a:solidFill>
            </a:endParaRPr>
          </a:p>
        </p:txBody>
      </p:sp>
      <p:sp>
        <p:nvSpPr>
          <p:cNvPr id="48" name="矩形 47"/>
          <p:cNvSpPr>
            <a:spLocks noGrp="1"/>
          </p:cNvSpPr>
          <p:nvPr/>
        </p:nvSpPr>
        <p:spPr>
          <a:xfrm>
            <a:off x="3657600" y="4933950"/>
            <a:ext cx="228600" cy="228600"/>
          </a:xfrm>
          <a:prstGeom prst="rect">
            <a:avLst/>
          </a:prstGeom>
          <a:noFill/>
          <a:ln w="0">
            <a:noFill/>
            <a:prstDash val="solid"/>
          </a:ln>
        </p:spPr>
        <p:txBody>
          <a:bodyPr/>
          <a:lstStyle/>
          <a:p>
            <a:pPr algn="ctr">
              <a:defRPr sz="1200" b="1">
                <a:solidFill>
                  <a:srgbClr val="155AA8"/>
                </a:solidFill>
              </a:defRPr>
            </a:pPr>
            <a:r>
              <a:rPr sz="1200" b="1">
                <a:solidFill>
                  <a:srgbClr val="155AA8"/>
                </a:solidFill>
              </a:rPr>
              <a:t>→</a:t>
            </a:r>
            <a:endParaRPr sz="1200" b="1">
              <a:solidFill>
                <a:srgbClr val="155AA8"/>
              </a:solidFill>
            </a:endParaRPr>
          </a:p>
        </p:txBody>
      </p:sp>
      <p:sp>
        <p:nvSpPr>
          <p:cNvPr id="49" name="圆角矩形 48"/>
          <p:cNvSpPr>
            <a:spLocks noGrp="1"/>
          </p:cNvSpPr>
          <p:nvPr/>
        </p:nvSpPr>
        <p:spPr>
          <a:xfrm>
            <a:off x="3981450" y="4819650"/>
            <a:ext cx="1238250" cy="457200"/>
          </a:xfrm>
          <a:prstGeom prst="roundRect">
            <a:avLst>
              <a:gd name="adj" fmla="val 16667"/>
            </a:avLst>
          </a:prstGeom>
          <a:solidFill>
            <a:srgbClr val="FFFFFF"/>
          </a:solidFill>
          <a:ln w="9525">
            <a:solidFill>
              <a:srgbClr val="BFD5EE"/>
            </a:solidFill>
            <a:prstDash val="solid"/>
          </a:ln>
        </p:spPr>
      </p:sp>
      <p:sp>
        <p:nvSpPr>
          <p:cNvPr id="50" name="矩形 49"/>
          <p:cNvSpPr>
            <a:spLocks noGrp="1"/>
          </p:cNvSpPr>
          <p:nvPr/>
        </p:nvSpPr>
        <p:spPr>
          <a:xfrm>
            <a:off x="4076700" y="486918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预处理</a:t>
            </a:r>
            <a:endParaRPr sz="975" b="1">
              <a:solidFill>
                <a:srgbClr val="172033"/>
              </a:solidFill>
            </a:endParaRPr>
          </a:p>
          <a:p>
            <a:pPr algn="ctr">
              <a:defRPr sz="975" b="1">
                <a:solidFill>
                  <a:srgbClr val="172033"/>
                </a:solidFill>
              </a:defRPr>
            </a:pPr>
            <a:r>
              <a:rPr sz="975" b="1">
                <a:solidFill>
                  <a:srgbClr val="172033"/>
                </a:solidFill>
              </a:rPr>
              <a:t>长表转宽表</a:t>
            </a:r>
            <a:endParaRPr sz="975" b="1">
              <a:solidFill>
                <a:srgbClr val="172033"/>
              </a:solidFill>
            </a:endParaRPr>
          </a:p>
        </p:txBody>
      </p:sp>
      <p:sp>
        <p:nvSpPr>
          <p:cNvPr id="51" name="矩形 50"/>
          <p:cNvSpPr>
            <a:spLocks noGrp="1"/>
          </p:cNvSpPr>
          <p:nvPr/>
        </p:nvSpPr>
        <p:spPr>
          <a:xfrm>
            <a:off x="5314950" y="4933950"/>
            <a:ext cx="228600" cy="228600"/>
          </a:xfrm>
          <a:prstGeom prst="rect">
            <a:avLst/>
          </a:prstGeom>
          <a:noFill/>
          <a:ln w="0">
            <a:noFill/>
            <a:prstDash val="solid"/>
          </a:ln>
        </p:spPr>
        <p:txBody>
          <a:bodyPr/>
          <a:lstStyle/>
          <a:p>
            <a:pPr algn="ctr">
              <a:defRPr sz="1200" b="1">
                <a:solidFill>
                  <a:srgbClr val="155AA8"/>
                </a:solidFill>
              </a:defRPr>
            </a:pPr>
            <a:r>
              <a:rPr sz="1200" b="1">
                <a:solidFill>
                  <a:srgbClr val="155AA8"/>
                </a:solidFill>
              </a:rPr>
              <a:t>→</a:t>
            </a:r>
            <a:endParaRPr sz="1200" b="1">
              <a:solidFill>
                <a:srgbClr val="155AA8"/>
              </a:solidFill>
            </a:endParaRPr>
          </a:p>
        </p:txBody>
      </p:sp>
      <p:sp>
        <p:nvSpPr>
          <p:cNvPr id="52" name="圆角矩形 51"/>
          <p:cNvSpPr>
            <a:spLocks noGrp="1"/>
          </p:cNvSpPr>
          <p:nvPr/>
        </p:nvSpPr>
        <p:spPr>
          <a:xfrm>
            <a:off x="5638800" y="4819650"/>
            <a:ext cx="1238250" cy="457200"/>
          </a:xfrm>
          <a:prstGeom prst="roundRect">
            <a:avLst>
              <a:gd name="adj" fmla="val 16667"/>
            </a:avLst>
          </a:prstGeom>
          <a:solidFill>
            <a:srgbClr val="FFFFFF"/>
          </a:solidFill>
          <a:ln w="9525">
            <a:solidFill>
              <a:srgbClr val="BFD5EE"/>
            </a:solidFill>
            <a:prstDash val="solid"/>
          </a:ln>
        </p:spPr>
      </p:sp>
      <p:sp>
        <p:nvSpPr>
          <p:cNvPr id="53" name="矩形 52"/>
          <p:cNvSpPr>
            <a:spLocks noGrp="1"/>
          </p:cNvSpPr>
          <p:nvPr/>
        </p:nvSpPr>
        <p:spPr>
          <a:xfrm>
            <a:off x="5734050" y="486918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状态划分</a:t>
            </a:r>
            <a:endParaRPr sz="975" b="1">
              <a:solidFill>
                <a:srgbClr val="172033"/>
              </a:solidFill>
            </a:endParaRPr>
          </a:p>
          <a:p>
            <a:pPr algn="ctr">
              <a:defRPr sz="975" b="1">
                <a:solidFill>
                  <a:srgbClr val="172033"/>
                </a:solidFill>
              </a:defRPr>
            </a:pPr>
            <a:r>
              <a:rPr sz="975" b="1">
                <a:solidFill>
                  <a:srgbClr val="172033"/>
                </a:solidFill>
              </a:rPr>
              <a:t>运行/停机</a:t>
            </a:r>
            <a:endParaRPr sz="975" b="1">
              <a:solidFill>
                <a:srgbClr val="172033"/>
              </a:solidFill>
            </a:endParaRPr>
          </a:p>
        </p:txBody>
      </p:sp>
      <p:sp>
        <p:nvSpPr>
          <p:cNvPr id="54" name="矩形 53"/>
          <p:cNvSpPr>
            <a:spLocks noGrp="1"/>
          </p:cNvSpPr>
          <p:nvPr/>
        </p:nvSpPr>
        <p:spPr>
          <a:xfrm>
            <a:off x="6972300" y="4933950"/>
            <a:ext cx="228600" cy="228600"/>
          </a:xfrm>
          <a:prstGeom prst="rect">
            <a:avLst/>
          </a:prstGeom>
          <a:noFill/>
          <a:ln w="0">
            <a:noFill/>
            <a:prstDash val="solid"/>
          </a:ln>
        </p:spPr>
        <p:txBody>
          <a:bodyPr/>
          <a:lstStyle/>
          <a:p>
            <a:pPr algn="ctr">
              <a:defRPr sz="1200" b="1">
                <a:solidFill>
                  <a:srgbClr val="155AA8"/>
                </a:solidFill>
              </a:defRPr>
            </a:pPr>
            <a:r>
              <a:rPr sz="1200" b="1">
                <a:solidFill>
                  <a:srgbClr val="155AA8"/>
                </a:solidFill>
              </a:rPr>
              <a:t>→</a:t>
            </a:r>
            <a:endParaRPr sz="1200" b="1">
              <a:solidFill>
                <a:srgbClr val="155AA8"/>
              </a:solidFill>
            </a:endParaRPr>
          </a:p>
        </p:txBody>
      </p:sp>
      <p:sp>
        <p:nvSpPr>
          <p:cNvPr id="55" name="圆角矩形 54"/>
          <p:cNvSpPr>
            <a:spLocks noGrp="1"/>
          </p:cNvSpPr>
          <p:nvPr/>
        </p:nvSpPr>
        <p:spPr>
          <a:xfrm>
            <a:off x="7296150" y="4819650"/>
            <a:ext cx="1238250" cy="457200"/>
          </a:xfrm>
          <a:prstGeom prst="roundRect">
            <a:avLst>
              <a:gd name="adj" fmla="val 16667"/>
            </a:avLst>
          </a:prstGeom>
          <a:solidFill>
            <a:srgbClr val="FFFFFF"/>
          </a:solidFill>
          <a:ln w="9525">
            <a:solidFill>
              <a:srgbClr val="BFD5EE"/>
            </a:solidFill>
            <a:prstDash val="solid"/>
          </a:ln>
        </p:spPr>
      </p:sp>
      <p:sp>
        <p:nvSpPr>
          <p:cNvPr id="56" name="矩形 55"/>
          <p:cNvSpPr>
            <a:spLocks noGrp="1"/>
          </p:cNvSpPr>
          <p:nvPr/>
        </p:nvSpPr>
        <p:spPr>
          <a:xfrm>
            <a:off x="7391400" y="486918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分状态统计</a:t>
            </a:r>
            <a:endParaRPr sz="975" b="1">
              <a:solidFill>
                <a:srgbClr val="172033"/>
              </a:solidFill>
            </a:endParaRPr>
          </a:p>
          <a:p>
            <a:pPr algn="ctr">
              <a:defRPr sz="975" b="1">
                <a:solidFill>
                  <a:srgbClr val="172033"/>
                </a:solidFill>
              </a:defRPr>
            </a:pPr>
            <a:r>
              <a:rPr sz="975" b="1">
                <a:solidFill>
                  <a:srgbClr val="172033"/>
                </a:solidFill>
              </a:rPr>
              <a:t>参数比较</a:t>
            </a:r>
            <a:endParaRPr sz="975" b="1">
              <a:solidFill>
                <a:srgbClr val="172033"/>
              </a:solidFill>
            </a:endParaRPr>
          </a:p>
        </p:txBody>
      </p:sp>
      <p:sp>
        <p:nvSpPr>
          <p:cNvPr id="57" name="矩形 56"/>
          <p:cNvSpPr>
            <a:spLocks noGrp="1"/>
          </p:cNvSpPr>
          <p:nvPr/>
        </p:nvSpPr>
        <p:spPr>
          <a:xfrm>
            <a:off x="8629650" y="4933950"/>
            <a:ext cx="228600" cy="228600"/>
          </a:xfrm>
          <a:prstGeom prst="rect">
            <a:avLst/>
          </a:prstGeom>
          <a:noFill/>
          <a:ln w="0">
            <a:noFill/>
            <a:prstDash val="solid"/>
          </a:ln>
        </p:spPr>
        <p:txBody>
          <a:bodyPr/>
          <a:lstStyle/>
          <a:p>
            <a:pPr algn="ctr">
              <a:defRPr sz="1200" b="1">
                <a:solidFill>
                  <a:srgbClr val="155AA8"/>
                </a:solidFill>
              </a:defRPr>
            </a:pPr>
            <a:r>
              <a:rPr sz="1200" b="1">
                <a:solidFill>
                  <a:srgbClr val="155AA8"/>
                </a:solidFill>
              </a:rPr>
              <a:t>→</a:t>
            </a:r>
            <a:endParaRPr sz="1200" b="1">
              <a:solidFill>
                <a:srgbClr val="155AA8"/>
              </a:solidFill>
            </a:endParaRPr>
          </a:p>
        </p:txBody>
      </p:sp>
      <p:sp>
        <p:nvSpPr>
          <p:cNvPr id="58" name="圆角矩形 57"/>
          <p:cNvSpPr>
            <a:spLocks noGrp="1"/>
          </p:cNvSpPr>
          <p:nvPr/>
        </p:nvSpPr>
        <p:spPr>
          <a:xfrm>
            <a:off x="8953500" y="4819650"/>
            <a:ext cx="1238250" cy="457200"/>
          </a:xfrm>
          <a:prstGeom prst="roundRect">
            <a:avLst>
              <a:gd name="adj" fmla="val 16667"/>
            </a:avLst>
          </a:prstGeom>
          <a:solidFill>
            <a:srgbClr val="FFFFFF"/>
          </a:solidFill>
          <a:ln w="9525">
            <a:solidFill>
              <a:srgbClr val="BFD5EE"/>
            </a:solidFill>
            <a:prstDash val="solid"/>
          </a:ln>
        </p:spPr>
      </p:sp>
      <p:sp>
        <p:nvSpPr>
          <p:cNvPr id="59" name="矩形 58"/>
          <p:cNvSpPr>
            <a:spLocks noGrp="1"/>
          </p:cNvSpPr>
          <p:nvPr/>
        </p:nvSpPr>
        <p:spPr>
          <a:xfrm>
            <a:off x="9048750" y="4869180"/>
            <a:ext cx="1047750" cy="342900"/>
          </a:xfrm>
          <a:prstGeom prst="rect">
            <a:avLst/>
          </a:prstGeom>
          <a:noFill/>
          <a:ln w="0">
            <a:noFill/>
            <a:prstDash val="solid"/>
          </a:ln>
        </p:spPr>
        <p:txBody>
          <a:bodyPr/>
          <a:lstStyle/>
          <a:p>
            <a:pPr algn="ctr">
              <a:defRPr sz="975" b="1">
                <a:solidFill>
                  <a:srgbClr val="172033"/>
                </a:solidFill>
              </a:defRPr>
            </a:pPr>
            <a:r>
              <a:rPr sz="975" b="1">
                <a:solidFill>
                  <a:srgbClr val="172033"/>
                </a:solidFill>
              </a:rPr>
              <a:t>影响分析</a:t>
            </a:r>
            <a:endParaRPr sz="975" b="1">
              <a:solidFill>
                <a:srgbClr val="172033"/>
              </a:solidFill>
            </a:endParaRPr>
          </a:p>
          <a:p>
            <a:pPr algn="ctr">
              <a:defRPr sz="975" b="1">
                <a:solidFill>
                  <a:srgbClr val="172033"/>
                </a:solidFill>
              </a:defRPr>
            </a:pPr>
            <a:r>
              <a:rPr sz="975" b="1">
                <a:solidFill>
                  <a:srgbClr val="172033"/>
                </a:solidFill>
              </a:rPr>
              <a:t>显著性+效应量</a:t>
            </a:r>
            <a:endParaRPr sz="975" b="1">
              <a:solidFill>
                <a:srgbClr val="172033"/>
              </a:solidFill>
            </a:endParaRPr>
          </a:p>
        </p:txBody>
      </p:sp>
      <p:sp>
        <p:nvSpPr>
          <p:cNvPr id="60" name="圆角矩形 59"/>
          <p:cNvSpPr>
            <a:spLocks noGrp="1"/>
          </p:cNvSpPr>
          <p:nvPr/>
        </p:nvSpPr>
        <p:spPr>
          <a:xfrm>
            <a:off x="1562100" y="5676900"/>
            <a:ext cx="9048750" cy="457200"/>
          </a:xfrm>
          <a:prstGeom prst="roundRect">
            <a:avLst>
              <a:gd name="adj" fmla="val 16667"/>
            </a:avLst>
          </a:prstGeom>
          <a:solidFill>
            <a:srgbClr val="EAF3FF"/>
          </a:solidFill>
          <a:ln w="9525">
            <a:solidFill>
              <a:srgbClr val="CFE0F5"/>
            </a:solidFill>
            <a:prstDash val="solid"/>
          </a:ln>
        </p:spPr>
      </p:sp>
      <p:sp>
        <p:nvSpPr>
          <p:cNvPr id="61" name="矩形 60"/>
          <p:cNvSpPr>
            <a:spLocks noGrp="1"/>
          </p:cNvSpPr>
          <p:nvPr/>
        </p:nvSpPr>
        <p:spPr>
          <a:xfrm>
            <a:off x="1703070" y="5676900"/>
            <a:ext cx="8705850" cy="228600"/>
          </a:xfrm>
          <a:prstGeom prst="rect">
            <a:avLst/>
          </a:prstGeom>
          <a:noFill/>
          <a:ln w="0">
            <a:noFill/>
            <a:prstDash val="solid"/>
          </a:ln>
        </p:spPr>
        <p:txBody>
          <a:bodyPr/>
          <a:lstStyle/>
          <a:p>
            <a:pPr algn="ctr">
              <a:defRPr sz="1200" b="0">
                <a:solidFill>
                  <a:srgbClr val="172033"/>
                </a:solidFill>
              </a:defRPr>
            </a:pPr>
            <a:r>
              <a:rPr sz="2400" b="0">
                <a:solidFill>
                  <a:srgbClr val="172033"/>
                </a:solidFill>
                <a:latin typeface="黑体" panose="02010609060101010101" charset="-122"/>
                <a:ea typeface="黑体" panose="02010609060101010101" charset="-122"/>
                <a:cs typeface="黑体" panose="02010609060101010101" charset="-122"/>
              </a:rPr>
              <a:t>“数据能不能</a:t>
            </a:r>
            <a:r>
              <a:rPr lang="zh-CN" sz="2400" b="0">
                <a:solidFill>
                  <a:srgbClr val="172033"/>
                </a:solidFill>
                <a:latin typeface="黑体" panose="02010609060101010101" charset="-122"/>
                <a:ea typeface="黑体" panose="02010609060101010101" charset="-122"/>
                <a:cs typeface="黑体" panose="02010609060101010101" charset="-122"/>
              </a:rPr>
              <a:t>对的上？</a:t>
            </a:r>
            <a:r>
              <a:rPr sz="2400" b="0">
                <a:solidFill>
                  <a:srgbClr val="172033"/>
                </a:solidFill>
                <a:latin typeface="黑体" panose="02010609060101010101" charset="-122"/>
                <a:ea typeface="黑体" panose="02010609060101010101" charset="-122"/>
                <a:cs typeface="黑体" panose="02010609060101010101" charset="-122"/>
              </a:rPr>
              <a:t>状态能不能划分</a:t>
            </a:r>
            <a:r>
              <a:rPr lang="zh-CN" sz="2400" b="0">
                <a:solidFill>
                  <a:srgbClr val="172033"/>
                </a:solidFill>
                <a:latin typeface="黑体" panose="02010609060101010101" charset="-122"/>
                <a:ea typeface="黑体" panose="02010609060101010101" charset="-122"/>
                <a:cs typeface="黑体" panose="02010609060101010101" charset="-122"/>
              </a:rPr>
              <a:t>？</a:t>
            </a:r>
            <a:r>
              <a:rPr sz="2400" b="0">
                <a:solidFill>
                  <a:srgbClr val="172033"/>
                </a:solidFill>
                <a:latin typeface="黑体" panose="02010609060101010101" charset="-122"/>
                <a:ea typeface="黑体" panose="02010609060101010101" charset="-122"/>
                <a:cs typeface="黑体" panose="02010609060101010101" charset="-122"/>
              </a:rPr>
              <a:t>状态是否影响参数</a:t>
            </a:r>
            <a:r>
              <a:rPr lang="zh-CN" sz="2400" b="0">
                <a:solidFill>
                  <a:srgbClr val="172033"/>
                </a:solidFill>
                <a:latin typeface="黑体" panose="02010609060101010101" charset="-122"/>
                <a:ea typeface="黑体" panose="02010609060101010101" charset="-122"/>
                <a:cs typeface="黑体" panose="02010609060101010101" charset="-122"/>
              </a:rPr>
              <a:t>？</a:t>
            </a:r>
            <a:r>
              <a:rPr sz="2400" b="0">
                <a:solidFill>
                  <a:srgbClr val="172033"/>
                </a:solidFill>
                <a:latin typeface="黑体" panose="02010609060101010101" charset="-122"/>
                <a:ea typeface="黑体" panose="02010609060101010101" charset="-122"/>
                <a:cs typeface="黑体" panose="02010609060101010101" charset="-122"/>
              </a:rPr>
              <a:t>”</a:t>
            </a:r>
            <a:endParaRPr sz="2400" b="0">
              <a:solidFill>
                <a:srgbClr val="172033"/>
              </a:solidFill>
              <a:latin typeface="黑体" panose="02010609060101010101" charset="-122"/>
              <a:ea typeface="黑体" panose="02010609060101010101" charset="-122"/>
              <a:cs typeface="黑体" panose="02010609060101010101" charset="-122"/>
            </a:endParaRPr>
          </a:p>
        </p:txBody>
      </p:sp>
      <p:sp>
        <p:nvSpPr>
          <p:cNvPr id="62" name="矩形 61"/>
          <p:cNvSpPr>
            <a:spLocks noGrp="1"/>
          </p:cNvSpPr>
          <p:nvPr/>
        </p:nvSpPr>
        <p:spPr>
          <a:xfrm>
            <a:off x="514350" y="6429375"/>
            <a:ext cx="11163300" cy="9525"/>
          </a:xfrm>
          <a:prstGeom prst="rect">
            <a:avLst/>
          </a:prstGeom>
          <a:solidFill>
            <a:srgbClr val="D9E6F7"/>
          </a:solidFill>
          <a:ln w="0">
            <a:noFill/>
            <a:prstDash val="solid"/>
          </a:ln>
        </p:spPr>
      </p:sp>
      <p:sp>
        <p:nvSpPr>
          <p:cNvPr id="64" name="矩形 63"/>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02</a:t>
            </a:r>
            <a:endParaRPr sz="825" b="0">
              <a:solidFill>
                <a:srgbClr val="5D6B8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lang="zh-CN" sz="1875" b="1">
                <a:solidFill>
                  <a:srgbClr val="FFFFFF"/>
                </a:solidFill>
              </a:rPr>
              <a:t>技术</a:t>
            </a:r>
            <a:r>
              <a:rPr sz="1875" b="1">
                <a:solidFill>
                  <a:srgbClr val="FFFFFF"/>
                </a:solidFill>
              </a:rPr>
              <a:t>方法</a:t>
            </a:r>
            <a:r>
              <a:rPr lang="zh-CN" sz="1875" b="1">
                <a:solidFill>
                  <a:srgbClr val="FFFFFF"/>
                </a:solidFill>
              </a:rPr>
              <a:t>及</a:t>
            </a:r>
            <a:r>
              <a:rPr lang="zh-CN" sz="1875" b="1">
                <a:solidFill>
                  <a:srgbClr val="FFFFFF"/>
                </a:solidFill>
              </a:rPr>
              <a:t>依据</a:t>
            </a:r>
            <a:endParaRPr lang="zh-CN" sz="1875" b="1">
              <a:solidFill>
                <a:srgbClr val="FFFFFF"/>
              </a:solidFill>
            </a:endParaRPr>
          </a:p>
        </p:txBody>
      </p:sp>
      <p:sp>
        <p:nvSpPr>
          <p:cNvPr id="5" name="矩形 4"/>
          <p:cNvSpPr>
            <a:spLocks noGrp="1"/>
          </p:cNvSpPr>
          <p:nvPr/>
        </p:nvSpPr>
        <p:spPr>
          <a:xfrm>
            <a:off x="590550" y="1130300"/>
            <a:ext cx="1428750" cy="628650"/>
          </a:xfrm>
          <a:prstGeom prst="rect">
            <a:avLst/>
          </a:prstGeom>
          <a:solidFill>
            <a:srgbClr val="0B3A75"/>
          </a:solidFill>
          <a:ln w="9525">
            <a:solidFill>
              <a:srgbClr val="D9E6F7"/>
            </a:solidFill>
            <a:prstDash val="solid"/>
          </a:ln>
        </p:spPr>
      </p:sp>
      <p:sp>
        <p:nvSpPr>
          <p:cNvPr id="6" name="矩形 5"/>
          <p:cNvSpPr>
            <a:spLocks noGrp="1"/>
          </p:cNvSpPr>
          <p:nvPr/>
        </p:nvSpPr>
        <p:spPr>
          <a:xfrm>
            <a:off x="666750" y="1206500"/>
            <a:ext cx="1276350" cy="533400"/>
          </a:xfrm>
          <a:prstGeom prst="rect">
            <a:avLst/>
          </a:prstGeom>
          <a:noFill/>
          <a:ln w="0">
            <a:noFill/>
            <a:prstDash val="solid"/>
          </a:ln>
        </p:spPr>
        <p:txBody>
          <a:bodyPr/>
          <a:lstStyle/>
          <a:p>
            <a:pPr algn="l">
              <a:defRPr sz="1050" b="1">
                <a:solidFill>
                  <a:srgbClr val="FFFFFF"/>
                </a:solidFill>
              </a:defRPr>
            </a:pPr>
            <a:r>
              <a:rPr sz="1050" b="1">
                <a:solidFill>
                  <a:srgbClr val="FFFFFF"/>
                </a:solidFill>
              </a:rPr>
              <a:t>环节</a:t>
            </a:r>
            <a:endParaRPr sz="1050" b="1">
              <a:solidFill>
                <a:srgbClr val="FFFFFF"/>
              </a:solidFill>
            </a:endParaRPr>
          </a:p>
        </p:txBody>
      </p:sp>
      <p:sp>
        <p:nvSpPr>
          <p:cNvPr id="7" name="矩形 6"/>
          <p:cNvSpPr>
            <a:spLocks noGrp="1"/>
          </p:cNvSpPr>
          <p:nvPr/>
        </p:nvSpPr>
        <p:spPr>
          <a:xfrm>
            <a:off x="2019300" y="1130300"/>
            <a:ext cx="2952750" cy="628650"/>
          </a:xfrm>
          <a:prstGeom prst="rect">
            <a:avLst/>
          </a:prstGeom>
          <a:solidFill>
            <a:srgbClr val="0B3A75"/>
          </a:solidFill>
          <a:ln w="9525">
            <a:solidFill>
              <a:srgbClr val="D9E6F7"/>
            </a:solidFill>
            <a:prstDash val="solid"/>
          </a:ln>
        </p:spPr>
      </p:sp>
      <p:sp>
        <p:nvSpPr>
          <p:cNvPr id="8" name="矩形 7"/>
          <p:cNvSpPr>
            <a:spLocks noGrp="1"/>
          </p:cNvSpPr>
          <p:nvPr/>
        </p:nvSpPr>
        <p:spPr>
          <a:xfrm>
            <a:off x="2095500" y="1206500"/>
            <a:ext cx="2800350" cy="533400"/>
          </a:xfrm>
          <a:prstGeom prst="rect">
            <a:avLst/>
          </a:prstGeom>
          <a:noFill/>
          <a:ln w="0">
            <a:noFill/>
            <a:prstDash val="solid"/>
          </a:ln>
        </p:spPr>
        <p:txBody>
          <a:bodyPr/>
          <a:lstStyle/>
          <a:p>
            <a:pPr algn="l">
              <a:defRPr sz="1050" b="1">
                <a:solidFill>
                  <a:srgbClr val="FFFFFF"/>
                </a:solidFill>
              </a:defRPr>
            </a:pPr>
            <a:r>
              <a:rPr sz="1050" b="1">
                <a:solidFill>
                  <a:srgbClr val="FFFFFF"/>
                </a:solidFill>
              </a:rPr>
              <a:t>采用方法</a:t>
            </a:r>
            <a:endParaRPr sz="1050" b="1">
              <a:solidFill>
                <a:srgbClr val="FFFFFF"/>
              </a:solidFill>
            </a:endParaRPr>
          </a:p>
        </p:txBody>
      </p:sp>
      <p:sp>
        <p:nvSpPr>
          <p:cNvPr id="9" name="矩形 8"/>
          <p:cNvSpPr>
            <a:spLocks noGrp="1"/>
          </p:cNvSpPr>
          <p:nvPr/>
        </p:nvSpPr>
        <p:spPr>
          <a:xfrm>
            <a:off x="4972050" y="1130300"/>
            <a:ext cx="6858000" cy="628650"/>
          </a:xfrm>
          <a:prstGeom prst="rect">
            <a:avLst/>
          </a:prstGeom>
          <a:solidFill>
            <a:srgbClr val="0B3A75"/>
          </a:solidFill>
          <a:ln w="9525">
            <a:solidFill>
              <a:srgbClr val="D9E6F7"/>
            </a:solidFill>
            <a:prstDash val="solid"/>
          </a:ln>
        </p:spPr>
      </p:sp>
      <p:sp>
        <p:nvSpPr>
          <p:cNvPr id="10" name="矩形 9"/>
          <p:cNvSpPr>
            <a:spLocks noGrp="1"/>
          </p:cNvSpPr>
          <p:nvPr/>
        </p:nvSpPr>
        <p:spPr>
          <a:xfrm>
            <a:off x="5048250" y="1206500"/>
            <a:ext cx="6705600" cy="533400"/>
          </a:xfrm>
          <a:prstGeom prst="rect">
            <a:avLst/>
          </a:prstGeom>
          <a:noFill/>
          <a:ln w="0">
            <a:noFill/>
            <a:prstDash val="solid"/>
          </a:ln>
        </p:spPr>
        <p:txBody>
          <a:bodyPr/>
          <a:lstStyle/>
          <a:p>
            <a:pPr algn="l">
              <a:defRPr sz="1050" b="1">
                <a:solidFill>
                  <a:srgbClr val="FFFFFF"/>
                </a:solidFill>
              </a:defRPr>
            </a:pPr>
            <a:r>
              <a:rPr lang="zh-CN" sz="1050" b="1">
                <a:solidFill>
                  <a:srgbClr val="FFFFFF"/>
                </a:solidFill>
              </a:rPr>
              <a:t>依据</a:t>
            </a:r>
            <a:endParaRPr lang="zh-CN" sz="1050" b="1">
              <a:solidFill>
                <a:srgbClr val="FFFFFF"/>
              </a:solidFill>
            </a:endParaRPr>
          </a:p>
        </p:txBody>
      </p:sp>
      <p:sp>
        <p:nvSpPr>
          <p:cNvPr id="11" name="矩形 10"/>
          <p:cNvSpPr>
            <a:spLocks noGrp="1"/>
          </p:cNvSpPr>
          <p:nvPr/>
        </p:nvSpPr>
        <p:spPr>
          <a:xfrm>
            <a:off x="590550" y="1758950"/>
            <a:ext cx="1428750" cy="628650"/>
          </a:xfrm>
          <a:prstGeom prst="rect">
            <a:avLst/>
          </a:prstGeom>
          <a:solidFill>
            <a:srgbClr val="F7FBFF"/>
          </a:solidFill>
          <a:ln w="9525">
            <a:solidFill>
              <a:srgbClr val="D9E6F7"/>
            </a:solidFill>
            <a:prstDash val="solid"/>
          </a:ln>
        </p:spPr>
      </p:sp>
      <p:sp>
        <p:nvSpPr>
          <p:cNvPr id="12" name="矩形 11"/>
          <p:cNvSpPr>
            <a:spLocks noGrp="1"/>
          </p:cNvSpPr>
          <p:nvPr/>
        </p:nvSpPr>
        <p:spPr>
          <a:xfrm>
            <a:off x="666750" y="1835150"/>
            <a:ext cx="1276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长表转宽表</a:t>
            </a:r>
            <a:endParaRPr sz="975" b="0">
              <a:solidFill>
                <a:srgbClr val="172033"/>
              </a:solidFill>
            </a:endParaRPr>
          </a:p>
        </p:txBody>
      </p:sp>
      <p:sp>
        <p:nvSpPr>
          <p:cNvPr id="13" name="矩形 12"/>
          <p:cNvSpPr>
            <a:spLocks noGrp="1"/>
          </p:cNvSpPr>
          <p:nvPr/>
        </p:nvSpPr>
        <p:spPr>
          <a:xfrm>
            <a:off x="2019300" y="1758950"/>
            <a:ext cx="2952750" cy="628650"/>
          </a:xfrm>
          <a:prstGeom prst="rect">
            <a:avLst/>
          </a:prstGeom>
          <a:solidFill>
            <a:srgbClr val="F7FBFF"/>
          </a:solidFill>
          <a:ln w="9525">
            <a:solidFill>
              <a:srgbClr val="D9E6F7"/>
            </a:solidFill>
            <a:prstDash val="solid"/>
          </a:ln>
        </p:spPr>
      </p:sp>
      <p:sp>
        <p:nvSpPr>
          <p:cNvPr id="14" name="矩形 13"/>
          <p:cNvSpPr>
            <a:spLocks noGrp="1"/>
          </p:cNvSpPr>
          <p:nvPr/>
        </p:nvSpPr>
        <p:spPr>
          <a:xfrm>
            <a:off x="2095500" y="1835150"/>
            <a:ext cx="2800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仅保留 time、point_name、value 后 pivot</a:t>
            </a:r>
            <a:endParaRPr sz="975" b="0">
              <a:solidFill>
                <a:srgbClr val="172033"/>
              </a:solidFill>
            </a:endParaRPr>
          </a:p>
        </p:txBody>
      </p:sp>
      <p:sp>
        <p:nvSpPr>
          <p:cNvPr id="15" name="矩形 14"/>
          <p:cNvSpPr>
            <a:spLocks noGrp="1"/>
          </p:cNvSpPr>
          <p:nvPr/>
        </p:nvSpPr>
        <p:spPr>
          <a:xfrm>
            <a:off x="4972050" y="1758950"/>
            <a:ext cx="6858000" cy="628650"/>
          </a:xfrm>
          <a:prstGeom prst="rect">
            <a:avLst/>
          </a:prstGeom>
          <a:solidFill>
            <a:srgbClr val="F7FBFF"/>
          </a:solidFill>
          <a:ln w="9525">
            <a:solidFill>
              <a:srgbClr val="D9E6F7"/>
            </a:solidFill>
            <a:prstDash val="solid"/>
          </a:ln>
        </p:spPr>
      </p:sp>
      <p:sp>
        <p:nvSpPr>
          <p:cNvPr id="16" name="矩形 15"/>
          <p:cNvSpPr>
            <a:spLocks noGrp="1"/>
          </p:cNvSpPr>
          <p:nvPr/>
        </p:nvSpPr>
        <p:spPr>
          <a:xfrm>
            <a:off x="5048250" y="1835150"/>
            <a:ext cx="670560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原始 CSV 一行只有一个测点值，必须先按时间对齐不同测点</a:t>
            </a:r>
            <a:endParaRPr sz="975" b="0">
              <a:solidFill>
                <a:srgbClr val="172033"/>
              </a:solidFill>
            </a:endParaRPr>
          </a:p>
        </p:txBody>
      </p:sp>
      <p:sp>
        <p:nvSpPr>
          <p:cNvPr id="17" name="矩形 16"/>
          <p:cNvSpPr>
            <a:spLocks noGrp="1"/>
          </p:cNvSpPr>
          <p:nvPr/>
        </p:nvSpPr>
        <p:spPr>
          <a:xfrm>
            <a:off x="590550" y="2387600"/>
            <a:ext cx="1428750" cy="628650"/>
          </a:xfrm>
          <a:prstGeom prst="rect">
            <a:avLst/>
          </a:prstGeom>
          <a:solidFill>
            <a:srgbClr val="FFFFFF"/>
          </a:solidFill>
          <a:ln w="9525">
            <a:solidFill>
              <a:srgbClr val="D9E6F7"/>
            </a:solidFill>
            <a:prstDash val="solid"/>
          </a:ln>
        </p:spPr>
      </p:sp>
      <p:sp>
        <p:nvSpPr>
          <p:cNvPr id="18" name="矩形 17"/>
          <p:cNvSpPr>
            <a:spLocks noGrp="1"/>
          </p:cNvSpPr>
          <p:nvPr/>
        </p:nvSpPr>
        <p:spPr>
          <a:xfrm>
            <a:off x="666750" y="2463800"/>
            <a:ext cx="1276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30s 重采样</a:t>
            </a:r>
            <a:endParaRPr sz="975" b="0">
              <a:solidFill>
                <a:srgbClr val="172033"/>
              </a:solidFill>
            </a:endParaRPr>
          </a:p>
        </p:txBody>
      </p:sp>
      <p:sp>
        <p:nvSpPr>
          <p:cNvPr id="19" name="矩形 18"/>
          <p:cNvSpPr>
            <a:spLocks noGrp="1"/>
          </p:cNvSpPr>
          <p:nvPr/>
        </p:nvSpPr>
        <p:spPr>
          <a:xfrm>
            <a:off x="2019300" y="2387600"/>
            <a:ext cx="2952750" cy="628650"/>
          </a:xfrm>
          <a:prstGeom prst="rect">
            <a:avLst/>
          </a:prstGeom>
          <a:solidFill>
            <a:srgbClr val="FFFFFF"/>
          </a:solidFill>
          <a:ln w="9525">
            <a:solidFill>
              <a:srgbClr val="D9E6F7"/>
            </a:solidFill>
            <a:prstDash val="solid"/>
          </a:ln>
        </p:spPr>
      </p:sp>
      <p:sp>
        <p:nvSpPr>
          <p:cNvPr id="20" name="矩形 19"/>
          <p:cNvSpPr>
            <a:spLocks noGrp="1"/>
          </p:cNvSpPr>
          <p:nvPr/>
        </p:nvSpPr>
        <p:spPr>
          <a:xfrm>
            <a:off x="2095500" y="2463800"/>
            <a:ext cx="2800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last + 前向保持</a:t>
            </a:r>
            <a:endParaRPr sz="975" b="0">
              <a:solidFill>
                <a:srgbClr val="172033"/>
              </a:solidFill>
            </a:endParaRPr>
          </a:p>
        </p:txBody>
      </p:sp>
      <p:sp>
        <p:nvSpPr>
          <p:cNvPr id="21" name="矩形 20"/>
          <p:cNvSpPr>
            <a:spLocks noGrp="1"/>
          </p:cNvSpPr>
          <p:nvPr/>
        </p:nvSpPr>
        <p:spPr>
          <a:xfrm>
            <a:off x="4972050" y="2387600"/>
            <a:ext cx="6858000" cy="628650"/>
          </a:xfrm>
          <a:prstGeom prst="rect">
            <a:avLst/>
          </a:prstGeom>
          <a:solidFill>
            <a:srgbClr val="FFFFFF"/>
          </a:solidFill>
          <a:ln w="9525">
            <a:solidFill>
              <a:srgbClr val="D9E6F7"/>
            </a:solidFill>
            <a:prstDash val="solid"/>
          </a:ln>
        </p:spPr>
      </p:sp>
      <p:sp>
        <p:nvSpPr>
          <p:cNvPr id="22" name="矩形 21"/>
          <p:cNvSpPr>
            <a:spLocks noGrp="1"/>
          </p:cNvSpPr>
          <p:nvPr/>
        </p:nvSpPr>
        <p:spPr>
          <a:xfrm>
            <a:off x="5048250" y="2463800"/>
            <a:ext cx="670560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数据是 on-change 存储；重采样后才能比较同一时刻的状态和参数</a:t>
            </a:r>
            <a:endParaRPr sz="975" b="0">
              <a:solidFill>
                <a:srgbClr val="172033"/>
              </a:solidFill>
            </a:endParaRPr>
          </a:p>
        </p:txBody>
      </p:sp>
      <p:sp>
        <p:nvSpPr>
          <p:cNvPr id="23" name="矩形 22"/>
          <p:cNvSpPr>
            <a:spLocks noGrp="1"/>
          </p:cNvSpPr>
          <p:nvPr/>
        </p:nvSpPr>
        <p:spPr>
          <a:xfrm>
            <a:off x="590550" y="3016250"/>
            <a:ext cx="1428750" cy="628650"/>
          </a:xfrm>
          <a:prstGeom prst="rect">
            <a:avLst/>
          </a:prstGeom>
          <a:solidFill>
            <a:srgbClr val="F7FBFF"/>
          </a:solidFill>
          <a:ln w="9525">
            <a:solidFill>
              <a:srgbClr val="D9E6F7"/>
            </a:solidFill>
            <a:prstDash val="solid"/>
          </a:ln>
        </p:spPr>
      </p:sp>
      <p:sp>
        <p:nvSpPr>
          <p:cNvPr id="24" name="矩形 23"/>
          <p:cNvSpPr>
            <a:spLocks noGrp="1"/>
          </p:cNvSpPr>
          <p:nvPr/>
        </p:nvSpPr>
        <p:spPr>
          <a:xfrm>
            <a:off x="666750" y="3092450"/>
            <a:ext cx="1276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状态划分</a:t>
            </a:r>
            <a:endParaRPr sz="975" b="0">
              <a:solidFill>
                <a:srgbClr val="172033"/>
              </a:solidFill>
            </a:endParaRPr>
          </a:p>
        </p:txBody>
      </p:sp>
      <p:sp>
        <p:nvSpPr>
          <p:cNvPr id="25" name="矩形 24"/>
          <p:cNvSpPr>
            <a:spLocks noGrp="1"/>
          </p:cNvSpPr>
          <p:nvPr/>
        </p:nvSpPr>
        <p:spPr>
          <a:xfrm>
            <a:off x="2019300" y="3016250"/>
            <a:ext cx="2952750" cy="628650"/>
          </a:xfrm>
          <a:prstGeom prst="rect">
            <a:avLst/>
          </a:prstGeom>
          <a:solidFill>
            <a:srgbClr val="F7FBFF"/>
          </a:solidFill>
          <a:ln w="9525">
            <a:solidFill>
              <a:srgbClr val="D9E6F7"/>
            </a:solidFill>
            <a:prstDash val="solid"/>
          </a:ln>
        </p:spPr>
      </p:sp>
      <p:sp>
        <p:nvSpPr>
          <p:cNvPr id="26" name="矩形 25"/>
          <p:cNvSpPr>
            <a:spLocks noGrp="1"/>
          </p:cNvSpPr>
          <p:nvPr/>
        </p:nvSpPr>
        <p:spPr>
          <a:xfrm>
            <a:off x="2095500" y="3092450"/>
            <a:ext cx="2800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真实运行状态点；刮板机多状态点取最大值</a:t>
            </a:r>
            <a:endParaRPr sz="975" b="0">
              <a:solidFill>
                <a:srgbClr val="172033"/>
              </a:solidFill>
            </a:endParaRPr>
          </a:p>
        </p:txBody>
      </p:sp>
      <p:sp>
        <p:nvSpPr>
          <p:cNvPr id="27" name="矩形 26"/>
          <p:cNvSpPr>
            <a:spLocks noGrp="1"/>
          </p:cNvSpPr>
          <p:nvPr/>
        </p:nvSpPr>
        <p:spPr>
          <a:xfrm>
            <a:off x="4972050" y="3016250"/>
            <a:ext cx="6858000" cy="628650"/>
          </a:xfrm>
          <a:prstGeom prst="rect">
            <a:avLst/>
          </a:prstGeom>
          <a:solidFill>
            <a:srgbClr val="F7FBFF"/>
          </a:solidFill>
          <a:ln w="9525">
            <a:solidFill>
              <a:srgbClr val="D9E6F7"/>
            </a:solidFill>
            <a:prstDash val="solid"/>
          </a:ln>
        </p:spPr>
      </p:sp>
      <p:sp>
        <p:nvSpPr>
          <p:cNvPr id="28" name="矩形 27"/>
          <p:cNvSpPr>
            <a:spLocks noGrp="1"/>
          </p:cNvSpPr>
          <p:nvPr/>
        </p:nvSpPr>
        <p:spPr>
          <a:xfrm>
            <a:off x="5048250" y="3092450"/>
            <a:ext cx="670560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任一驱动部运行时整机不应视为停机，同时保留状态一致性审计</a:t>
            </a:r>
            <a:endParaRPr sz="975" b="0">
              <a:solidFill>
                <a:srgbClr val="172033"/>
              </a:solidFill>
            </a:endParaRPr>
          </a:p>
        </p:txBody>
      </p:sp>
      <p:sp>
        <p:nvSpPr>
          <p:cNvPr id="29" name="矩形 28"/>
          <p:cNvSpPr>
            <a:spLocks noGrp="1"/>
          </p:cNvSpPr>
          <p:nvPr/>
        </p:nvSpPr>
        <p:spPr>
          <a:xfrm>
            <a:off x="590550" y="3644900"/>
            <a:ext cx="1428750" cy="628650"/>
          </a:xfrm>
          <a:prstGeom prst="rect">
            <a:avLst/>
          </a:prstGeom>
          <a:solidFill>
            <a:srgbClr val="FFFFFF"/>
          </a:solidFill>
          <a:ln w="9525">
            <a:solidFill>
              <a:srgbClr val="D9E6F7"/>
            </a:solidFill>
            <a:prstDash val="solid"/>
          </a:ln>
        </p:spPr>
      </p:sp>
      <p:sp>
        <p:nvSpPr>
          <p:cNvPr id="30" name="矩形 29"/>
          <p:cNvSpPr>
            <a:spLocks noGrp="1"/>
          </p:cNvSpPr>
          <p:nvPr/>
        </p:nvSpPr>
        <p:spPr>
          <a:xfrm>
            <a:off x="666750" y="3721100"/>
            <a:ext cx="1276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离群审计</a:t>
            </a:r>
            <a:endParaRPr sz="975" b="0">
              <a:solidFill>
                <a:srgbClr val="172033"/>
              </a:solidFill>
            </a:endParaRPr>
          </a:p>
        </p:txBody>
      </p:sp>
      <p:sp>
        <p:nvSpPr>
          <p:cNvPr id="31" name="矩形 30"/>
          <p:cNvSpPr>
            <a:spLocks noGrp="1"/>
          </p:cNvSpPr>
          <p:nvPr/>
        </p:nvSpPr>
        <p:spPr>
          <a:xfrm>
            <a:off x="2019300" y="3644900"/>
            <a:ext cx="2952750" cy="628650"/>
          </a:xfrm>
          <a:prstGeom prst="rect">
            <a:avLst/>
          </a:prstGeom>
          <a:solidFill>
            <a:srgbClr val="FFFFFF"/>
          </a:solidFill>
          <a:ln w="9525">
            <a:solidFill>
              <a:srgbClr val="D9E6F7"/>
            </a:solidFill>
            <a:prstDash val="solid"/>
          </a:ln>
        </p:spPr>
      </p:sp>
      <p:sp>
        <p:nvSpPr>
          <p:cNvPr id="32" name="矩形 31"/>
          <p:cNvSpPr>
            <a:spLocks noGrp="1"/>
          </p:cNvSpPr>
          <p:nvPr/>
        </p:nvSpPr>
        <p:spPr>
          <a:xfrm>
            <a:off x="2095500" y="3721100"/>
            <a:ext cx="2800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IQR 标记波动比例</a:t>
            </a:r>
            <a:endParaRPr sz="975" b="0">
              <a:solidFill>
                <a:srgbClr val="172033"/>
              </a:solidFill>
            </a:endParaRPr>
          </a:p>
        </p:txBody>
      </p:sp>
      <p:sp>
        <p:nvSpPr>
          <p:cNvPr id="33" name="矩形 32"/>
          <p:cNvSpPr>
            <a:spLocks noGrp="1"/>
          </p:cNvSpPr>
          <p:nvPr/>
        </p:nvSpPr>
        <p:spPr>
          <a:xfrm>
            <a:off x="4972050" y="3644900"/>
            <a:ext cx="6858000" cy="628650"/>
          </a:xfrm>
          <a:prstGeom prst="rect">
            <a:avLst/>
          </a:prstGeom>
          <a:solidFill>
            <a:srgbClr val="FFFFFF"/>
          </a:solidFill>
          <a:ln w="9525">
            <a:solidFill>
              <a:srgbClr val="D9E6F7"/>
            </a:solidFill>
            <a:prstDash val="solid"/>
          </a:ln>
        </p:spPr>
      </p:sp>
      <p:sp>
        <p:nvSpPr>
          <p:cNvPr id="34" name="矩形 33"/>
          <p:cNvSpPr>
            <a:spLocks noGrp="1"/>
          </p:cNvSpPr>
          <p:nvPr/>
        </p:nvSpPr>
        <p:spPr>
          <a:xfrm>
            <a:off x="5048250" y="3721100"/>
            <a:ext cx="670560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SCADA 数据有尖峰和长尾，IQR 稳健；这里只审计，不直接删改原始统计</a:t>
            </a:r>
            <a:endParaRPr sz="975" b="0">
              <a:solidFill>
                <a:srgbClr val="172033"/>
              </a:solidFill>
            </a:endParaRPr>
          </a:p>
        </p:txBody>
      </p:sp>
      <p:sp>
        <p:nvSpPr>
          <p:cNvPr id="35" name="矩形 34"/>
          <p:cNvSpPr>
            <a:spLocks noGrp="1"/>
          </p:cNvSpPr>
          <p:nvPr/>
        </p:nvSpPr>
        <p:spPr>
          <a:xfrm>
            <a:off x="590550" y="4273550"/>
            <a:ext cx="1428750" cy="628650"/>
          </a:xfrm>
          <a:prstGeom prst="rect">
            <a:avLst/>
          </a:prstGeom>
          <a:solidFill>
            <a:srgbClr val="F7FBFF"/>
          </a:solidFill>
          <a:ln w="9525">
            <a:solidFill>
              <a:srgbClr val="D9E6F7"/>
            </a:solidFill>
            <a:prstDash val="solid"/>
          </a:ln>
        </p:spPr>
      </p:sp>
      <p:sp>
        <p:nvSpPr>
          <p:cNvPr id="36" name="矩形 35"/>
          <p:cNvSpPr>
            <a:spLocks noGrp="1"/>
          </p:cNvSpPr>
          <p:nvPr/>
        </p:nvSpPr>
        <p:spPr>
          <a:xfrm>
            <a:off x="666750" y="4349750"/>
            <a:ext cx="1276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状态影响</a:t>
            </a:r>
            <a:endParaRPr sz="975" b="0">
              <a:solidFill>
                <a:srgbClr val="172033"/>
              </a:solidFill>
            </a:endParaRPr>
          </a:p>
        </p:txBody>
      </p:sp>
      <p:sp>
        <p:nvSpPr>
          <p:cNvPr id="37" name="矩形 36"/>
          <p:cNvSpPr>
            <a:spLocks noGrp="1"/>
          </p:cNvSpPr>
          <p:nvPr/>
        </p:nvSpPr>
        <p:spPr>
          <a:xfrm>
            <a:off x="2019300" y="4273550"/>
            <a:ext cx="2952750" cy="628650"/>
          </a:xfrm>
          <a:prstGeom prst="rect">
            <a:avLst/>
          </a:prstGeom>
          <a:solidFill>
            <a:srgbClr val="F7FBFF"/>
          </a:solidFill>
          <a:ln w="9525">
            <a:solidFill>
              <a:srgbClr val="D9E6F7"/>
            </a:solidFill>
            <a:prstDash val="solid"/>
          </a:ln>
        </p:spPr>
      </p:sp>
      <p:sp>
        <p:nvSpPr>
          <p:cNvPr id="38" name="矩形 37"/>
          <p:cNvSpPr>
            <a:spLocks noGrp="1"/>
          </p:cNvSpPr>
          <p:nvPr/>
        </p:nvSpPr>
        <p:spPr>
          <a:xfrm>
            <a:off x="2095500" y="4349750"/>
            <a:ext cx="280035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Kruskal-Wallis + FDR + ε²</a:t>
            </a:r>
            <a:endParaRPr sz="975" b="0">
              <a:solidFill>
                <a:srgbClr val="172033"/>
              </a:solidFill>
            </a:endParaRPr>
          </a:p>
        </p:txBody>
      </p:sp>
      <p:sp>
        <p:nvSpPr>
          <p:cNvPr id="39" name="矩形 38"/>
          <p:cNvSpPr>
            <a:spLocks noGrp="1"/>
          </p:cNvSpPr>
          <p:nvPr/>
        </p:nvSpPr>
        <p:spPr>
          <a:xfrm>
            <a:off x="4972050" y="4273550"/>
            <a:ext cx="6858000" cy="628650"/>
          </a:xfrm>
          <a:prstGeom prst="rect">
            <a:avLst/>
          </a:prstGeom>
          <a:solidFill>
            <a:srgbClr val="F7FBFF"/>
          </a:solidFill>
          <a:ln w="9525">
            <a:solidFill>
              <a:srgbClr val="D9E6F7"/>
            </a:solidFill>
            <a:prstDash val="solid"/>
          </a:ln>
        </p:spPr>
      </p:sp>
      <p:sp>
        <p:nvSpPr>
          <p:cNvPr id="40" name="矩形 39"/>
          <p:cNvSpPr>
            <a:spLocks noGrp="1"/>
          </p:cNvSpPr>
          <p:nvPr/>
        </p:nvSpPr>
        <p:spPr>
          <a:xfrm>
            <a:off x="5048250" y="4349750"/>
            <a:ext cx="6705600" cy="533400"/>
          </a:xfrm>
          <a:prstGeom prst="rect">
            <a:avLst/>
          </a:prstGeom>
          <a:noFill/>
          <a:ln w="0">
            <a:noFill/>
            <a:prstDash val="solid"/>
          </a:ln>
        </p:spPr>
        <p:txBody>
          <a:bodyPr/>
          <a:lstStyle/>
          <a:p>
            <a:pPr algn="l">
              <a:defRPr sz="975" b="0">
                <a:solidFill>
                  <a:srgbClr val="172033"/>
                </a:solidFill>
              </a:defRPr>
            </a:pPr>
            <a:r>
              <a:rPr sz="975" b="0">
                <a:solidFill>
                  <a:srgbClr val="172033"/>
                </a:solidFill>
              </a:rPr>
              <a:t>分布通常不服从正态</a:t>
            </a:r>
            <a:r>
              <a:rPr lang="zh-CN" sz="975" b="0">
                <a:solidFill>
                  <a:srgbClr val="172033"/>
                </a:solidFill>
                <a:ea typeface="宋体" panose="02010600030101010101" pitchFamily="2" charset="-122"/>
              </a:rPr>
              <a:t>，</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mn-ea"/>
              </a:rPr>
              <a:t>克拉斯卡-瓦立斯检验</a:t>
            </a:r>
            <a:r>
              <a:rPr lang="zh-CN" altLang="en-US" sz="975" b="0">
                <a:solidFill>
                  <a:srgbClr val="172033"/>
                </a:solidFill>
              </a:rPr>
              <a:t>不直接比较均值，而是把数据转换成秩次，比较不同状态组的秩分布差异</a:t>
            </a:r>
            <a:r>
              <a:rPr sz="975" b="0">
                <a:solidFill>
                  <a:srgbClr val="172033"/>
                </a:solidFill>
              </a:rPr>
              <a:t>；</a:t>
            </a:r>
            <a:endParaRPr sz="975" b="0">
              <a:solidFill>
                <a:srgbClr val="172033"/>
              </a:solidFill>
            </a:endParaRPr>
          </a:p>
          <a:p>
            <a:pPr algn="l">
              <a:defRPr sz="975" b="0">
                <a:solidFill>
                  <a:srgbClr val="172033"/>
                </a:solidFill>
              </a:defRPr>
            </a:pPr>
            <a:r>
              <a:rPr sz="975" b="0">
                <a:solidFill>
                  <a:srgbClr val="172033"/>
                </a:solidFill>
              </a:rPr>
              <a:t>FDR 控制多参数误判</a:t>
            </a:r>
            <a:r>
              <a:rPr lang="zh-CN" sz="975" b="0">
                <a:solidFill>
                  <a:srgbClr val="172033"/>
                </a:solidFill>
                <a:ea typeface="宋体" panose="02010600030101010101" pitchFamily="2" charset="-122"/>
              </a:rPr>
              <a:t>，</a:t>
            </a:r>
            <a:r>
              <a:rPr lang="zh-CN" altLang="en-US" sz="975" b="0">
                <a:solidFill>
                  <a:srgbClr val="172033"/>
                </a:solidFill>
              </a:rPr>
              <a:t>在所有被判定为显著的参数里，控制假阳性结果的比例。</a:t>
            </a:r>
            <a:endParaRPr lang="zh-CN" altLang="en-US" sz="975" b="0">
              <a:solidFill>
                <a:srgbClr val="172033"/>
              </a:solidFill>
            </a:endParaRPr>
          </a:p>
          <a:p>
            <a:pPr algn="l">
              <a:defRPr sz="975" b="0">
                <a:solidFill>
                  <a:srgbClr val="172033"/>
                </a:solidFill>
              </a:defRPr>
            </a:pPr>
            <a:r>
              <a:rPr sz="975" b="0">
                <a:solidFill>
                  <a:srgbClr val="172033"/>
                </a:solidFill>
              </a:rPr>
              <a:t>ε²说明影响到底有多强</a:t>
            </a:r>
            <a:r>
              <a:rPr lang="zh-CN" sz="975" b="0">
                <a:solidFill>
                  <a:srgbClr val="172033"/>
                </a:solidFill>
                <a:ea typeface="宋体" panose="02010600030101010101" pitchFamily="2" charset="-122"/>
              </a:rPr>
              <a:t>，</a:t>
            </a:r>
            <a:r>
              <a:rPr lang="zh-CN" altLang="en-US" sz="975" b="0">
                <a:solidFill>
                  <a:srgbClr val="172033"/>
                </a:solidFill>
              </a:rPr>
              <a:t>样本量大时，</a:t>
            </a:r>
            <a:r>
              <a:rPr lang="en-US" altLang="zh-CN" sz="975" b="0">
                <a:solidFill>
                  <a:srgbClr val="172033"/>
                </a:solidFill>
              </a:rPr>
              <a:t>p </a:t>
            </a:r>
            <a:r>
              <a:rPr lang="zh-CN" altLang="en-US" sz="975" b="0">
                <a:solidFill>
                  <a:srgbClr val="172033"/>
                </a:solidFill>
              </a:rPr>
              <a:t>值很容易显著，状态分组对该参数差异的解释强度有多大</a:t>
            </a:r>
            <a:endParaRPr lang="zh-CN" altLang="en-US" sz="975" b="0">
              <a:solidFill>
                <a:srgbClr val="172033"/>
              </a:solidFill>
            </a:endParaRPr>
          </a:p>
        </p:txBody>
      </p:sp>
      <p:sp>
        <p:nvSpPr>
          <p:cNvPr id="41" name="圆角矩形 40"/>
          <p:cNvSpPr>
            <a:spLocks noGrp="1"/>
          </p:cNvSpPr>
          <p:nvPr/>
        </p:nvSpPr>
        <p:spPr>
          <a:xfrm>
            <a:off x="1485900" y="5229225"/>
            <a:ext cx="9220200" cy="514350"/>
          </a:xfrm>
          <a:prstGeom prst="roundRect">
            <a:avLst>
              <a:gd name="adj" fmla="val 14815"/>
            </a:avLst>
          </a:prstGeom>
          <a:solidFill>
            <a:srgbClr val="EAF3FF"/>
          </a:solidFill>
          <a:ln w="9525">
            <a:solidFill>
              <a:srgbClr val="CFE0F5"/>
            </a:solidFill>
            <a:prstDash val="solid"/>
          </a:ln>
        </p:spPr>
      </p:sp>
      <p:sp>
        <p:nvSpPr>
          <p:cNvPr id="42" name="矩形 41"/>
          <p:cNvSpPr>
            <a:spLocks noGrp="1"/>
          </p:cNvSpPr>
          <p:nvPr/>
        </p:nvSpPr>
        <p:spPr>
          <a:xfrm>
            <a:off x="1657350" y="5343525"/>
            <a:ext cx="8877300" cy="285750"/>
          </a:xfrm>
          <a:prstGeom prst="rect">
            <a:avLst/>
          </a:prstGeom>
          <a:noFill/>
          <a:ln w="0">
            <a:noFill/>
            <a:prstDash val="solid"/>
          </a:ln>
        </p:spPr>
        <p:txBody>
          <a:bodyPr/>
          <a:lstStyle/>
          <a:p>
            <a:pPr algn="l">
              <a:defRPr sz="1200" b="0">
                <a:solidFill>
                  <a:srgbClr val="172033"/>
                </a:solidFill>
              </a:defRPr>
            </a:pPr>
            <a:r>
              <a:rPr sz="1600" b="0">
                <a:solidFill>
                  <a:srgbClr val="172033"/>
                </a:solidFill>
                <a:latin typeface="微软雅黑" panose="020B0503020204020204" charset="-122"/>
                <a:ea typeface="微软雅黑" panose="020B0503020204020204" charset="-122"/>
              </a:rPr>
              <a:t>本周先把点位、状态、统计口径和影响分析</a:t>
            </a:r>
            <a:r>
              <a:rPr lang="zh-CN" sz="1600" b="0">
                <a:solidFill>
                  <a:srgbClr val="172033"/>
                </a:solidFill>
                <a:latin typeface="微软雅黑" panose="020B0503020204020204" charset="-122"/>
                <a:ea typeface="微软雅黑" panose="020B0503020204020204" charset="-122"/>
              </a:rPr>
              <a:t>完成</a:t>
            </a:r>
            <a:r>
              <a:rPr sz="1600" b="0">
                <a:solidFill>
                  <a:srgbClr val="172033"/>
                </a:solidFill>
                <a:latin typeface="微软雅黑" panose="020B0503020204020204" charset="-122"/>
                <a:ea typeface="微软雅黑" panose="020B0503020204020204" charset="-122"/>
              </a:rPr>
              <a:t>，第二周再展开细粒度工况。</a:t>
            </a:r>
            <a:endParaRPr sz="1600" b="0">
              <a:solidFill>
                <a:srgbClr val="172033"/>
              </a:solidFill>
              <a:latin typeface="微软雅黑" panose="020B0503020204020204" charset="-122"/>
              <a:ea typeface="微软雅黑" panose="020B0503020204020204" charset="-122"/>
            </a:endParaRPr>
          </a:p>
        </p:txBody>
      </p:sp>
      <p:sp>
        <p:nvSpPr>
          <p:cNvPr id="43" name="矩形 42"/>
          <p:cNvSpPr>
            <a:spLocks noGrp="1"/>
          </p:cNvSpPr>
          <p:nvPr/>
        </p:nvSpPr>
        <p:spPr>
          <a:xfrm>
            <a:off x="514350" y="6429375"/>
            <a:ext cx="11163300" cy="9525"/>
          </a:xfrm>
          <a:prstGeom prst="rect">
            <a:avLst/>
          </a:prstGeom>
          <a:solidFill>
            <a:srgbClr val="D9E6F7"/>
          </a:solidFill>
          <a:ln w="0">
            <a:noFill/>
            <a:prstDash val="solid"/>
          </a:ln>
        </p:spPr>
      </p:sp>
      <p:sp>
        <p:nvSpPr>
          <p:cNvPr id="45" name="矩形 44"/>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03</a:t>
            </a:r>
            <a:endParaRPr sz="825" b="0">
              <a:solidFill>
                <a:srgbClr val="5D6B8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479425" y="116840"/>
            <a:ext cx="9334500" cy="361950"/>
          </a:xfrm>
          <a:prstGeom prst="rect">
            <a:avLst/>
          </a:prstGeom>
          <a:noFill/>
          <a:ln w="0">
            <a:noFill/>
            <a:prstDash val="solid"/>
          </a:ln>
        </p:spPr>
        <p:txBody>
          <a:bodyPr/>
          <a:lstStyle/>
          <a:p>
            <a:pPr algn="l">
              <a:defRPr sz="1875" b="1">
                <a:solidFill>
                  <a:srgbClr val="FFFFFF"/>
                </a:solidFill>
              </a:defRPr>
            </a:pPr>
            <a:r>
              <a:rPr>
                <a:sym typeface="+mn-ea"/>
              </a:rPr>
              <a:t>明确</a:t>
            </a:r>
            <a:r>
              <a:rPr sz="1875" b="1">
                <a:solidFill>
                  <a:srgbClr val="FFFFFF"/>
                </a:solidFill>
              </a:rPr>
              <a:t>测点结构</a:t>
            </a:r>
            <a:endParaRPr sz="1875" b="1">
              <a:solidFill>
                <a:srgbClr val="FFFFFF"/>
              </a:solidFill>
            </a:endParaRPr>
          </a:p>
        </p:txBody>
      </p:sp>
      <p:sp>
        <p:nvSpPr>
          <p:cNvPr id="5" name="圆角矩形 4"/>
          <p:cNvSpPr>
            <a:spLocks noGrp="1"/>
          </p:cNvSpPr>
          <p:nvPr/>
        </p:nvSpPr>
        <p:spPr>
          <a:xfrm>
            <a:off x="695325" y="807720"/>
            <a:ext cx="2095500" cy="876300"/>
          </a:xfrm>
          <a:prstGeom prst="roundRect">
            <a:avLst>
              <a:gd name="adj" fmla="val 8696"/>
            </a:avLst>
          </a:prstGeom>
          <a:solidFill>
            <a:srgbClr val="FFFFFF"/>
          </a:solidFill>
          <a:ln w="9525">
            <a:solidFill>
              <a:srgbClr val="BCD2EC"/>
            </a:solidFill>
            <a:prstDash val="solid"/>
          </a:ln>
        </p:spPr>
      </p:sp>
      <p:sp>
        <p:nvSpPr>
          <p:cNvPr id="6" name="矩形 5"/>
          <p:cNvSpPr>
            <a:spLocks noGrp="1"/>
          </p:cNvSpPr>
          <p:nvPr/>
        </p:nvSpPr>
        <p:spPr>
          <a:xfrm>
            <a:off x="695325" y="807720"/>
            <a:ext cx="57150" cy="876300"/>
          </a:xfrm>
          <a:prstGeom prst="rect">
            <a:avLst/>
          </a:prstGeom>
          <a:solidFill>
            <a:srgbClr val="155AA8"/>
          </a:solidFill>
          <a:ln w="0">
            <a:noFill/>
            <a:prstDash val="solid"/>
          </a:ln>
        </p:spPr>
      </p:sp>
      <p:sp>
        <p:nvSpPr>
          <p:cNvPr id="7" name="矩形 6"/>
          <p:cNvSpPr>
            <a:spLocks noGrp="1"/>
          </p:cNvSpPr>
          <p:nvPr/>
        </p:nvSpPr>
        <p:spPr>
          <a:xfrm>
            <a:off x="866775" y="960120"/>
            <a:ext cx="1828800" cy="333375"/>
          </a:xfrm>
          <a:prstGeom prst="rect">
            <a:avLst/>
          </a:prstGeom>
          <a:noFill/>
          <a:ln w="0">
            <a:noFill/>
            <a:prstDash val="solid"/>
          </a:ln>
        </p:spPr>
        <p:txBody>
          <a:bodyPr/>
          <a:lstStyle/>
          <a:p>
            <a:pPr algn="l">
              <a:defRPr sz="2025" b="1">
                <a:solidFill>
                  <a:srgbClr val="155AA8"/>
                </a:solidFill>
              </a:defRPr>
            </a:pPr>
            <a:r>
              <a:rPr sz="2025" b="1">
                <a:solidFill>
                  <a:srgbClr val="155AA8"/>
                </a:solidFill>
              </a:rPr>
              <a:t>63 种</a:t>
            </a:r>
            <a:endParaRPr sz="2025" b="1">
              <a:solidFill>
                <a:srgbClr val="155AA8"/>
              </a:solidFill>
            </a:endParaRPr>
          </a:p>
        </p:txBody>
      </p:sp>
      <p:sp>
        <p:nvSpPr>
          <p:cNvPr id="8" name="矩形 7"/>
          <p:cNvSpPr>
            <a:spLocks noGrp="1"/>
          </p:cNvSpPr>
          <p:nvPr/>
        </p:nvSpPr>
        <p:spPr>
          <a:xfrm>
            <a:off x="866775" y="1341120"/>
            <a:ext cx="1828800" cy="228600"/>
          </a:xfrm>
          <a:prstGeom prst="rect">
            <a:avLst/>
          </a:prstGeom>
          <a:noFill/>
          <a:ln w="0">
            <a:noFill/>
            <a:prstDash val="solid"/>
          </a:ln>
        </p:spPr>
        <p:txBody>
          <a:bodyPr/>
          <a:lstStyle/>
          <a:p>
            <a:pPr algn="l">
              <a:defRPr sz="1050" b="0">
                <a:solidFill>
                  <a:srgbClr val="5D6B82"/>
                </a:solidFill>
              </a:defRPr>
            </a:pPr>
            <a:r>
              <a:rPr sz="1050" b="0">
                <a:solidFill>
                  <a:srgbClr val="5D6B82"/>
                </a:solidFill>
              </a:rPr>
              <a:t>刮板机 point_name</a:t>
            </a:r>
            <a:endParaRPr sz="1050" b="0">
              <a:solidFill>
                <a:srgbClr val="5D6B82"/>
              </a:solidFill>
            </a:endParaRPr>
          </a:p>
        </p:txBody>
      </p:sp>
      <p:sp>
        <p:nvSpPr>
          <p:cNvPr id="9" name="圆角矩形 8"/>
          <p:cNvSpPr>
            <a:spLocks noGrp="1"/>
          </p:cNvSpPr>
          <p:nvPr/>
        </p:nvSpPr>
        <p:spPr>
          <a:xfrm>
            <a:off x="695325" y="1848485"/>
            <a:ext cx="2095500" cy="876300"/>
          </a:xfrm>
          <a:prstGeom prst="roundRect">
            <a:avLst>
              <a:gd name="adj" fmla="val 8696"/>
            </a:avLst>
          </a:prstGeom>
          <a:solidFill>
            <a:srgbClr val="FFFFFF"/>
          </a:solidFill>
          <a:ln w="9525">
            <a:solidFill>
              <a:srgbClr val="BCD2EC"/>
            </a:solidFill>
            <a:prstDash val="solid"/>
          </a:ln>
        </p:spPr>
      </p:sp>
      <p:sp>
        <p:nvSpPr>
          <p:cNvPr id="10" name="矩形 9"/>
          <p:cNvSpPr>
            <a:spLocks noGrp="1"/>
          </p:cNvSpPr>
          <p:nvPr/>
        </p:nvSpPr>
        <p:spPr>
          <a:xfrm>
            <a:off x="695325" y="1848485"/>
            <a:ext cx="57150" cy="876300"/>
          </a:xfrm>
          <a:prstGeom prst="rect">
            <a:avLst/>
          </a:prstGeom>
          <a:solidFill>
            <a:srgbClr val="16836A"/>
          </a:solidFill>
          <a:ln w="0">
            <a:noFill/>
            <a:prstDash val="solid"/>
          </a:ln>
        </p:spPr>
      </p:sp>
      <p:sp>
        <p:nvSpPr>
          <p:cNvPr id="11" name="矩形 10"/>
          <p:cNvSpPr>
            <a:spLocks noGrp="1"/>
          </p:cNvSpPr>
          <p:nvPr/>
        </p:nvSpPr>
        <p:spPr>
          <a:xfrm>
            <a:off x="866775" y="2000885"/>
            <a:ext cx="1828800" cy="333375"/>
          </a:xfrm>
          <a:prstGeom prst="rect">
            <a:avLst/>
          </a:prstGeom>
          <a:noFill/>
          <a:ln w="0">
            <a:noFill/>
            <a:prstDash val="solid"/>
          </a:ln>
        </p:spPr>
        <p:txBody>
          <a:bodyPr/>
          <a:lstStyle/>
          <a:p>
            <a:pPr algn="l">
              <a:defRPr sz="2025" b="1">
                <a:solidFill>
                  <a:srgbClr val="16836A"/>
                </a:solidFill>
              </a:defRPr>
            </a:pPr>
            <a:r>
              <a:rPr sz="2025" b="1">
                <a:solidFill>
                  <a:srgbClr val="16836A"/>
                </a:solidFill>
              </a:rPr>
              <a:t>12 种</a:t>
            </a:r>
            <a:endParaRPr sz="2025" b="1">
              <a:solidFill>
                <a:srgbClr val="16836A"/>
              </a:solidFill>
            </a:endParaRPr>
          </a:p>
        </p:txBody>
      </p:sp>
      <p:sp>
        <p:nvSpPr>
          <p:cNvPr id="12" name="矩形 11"/>
          <p:cNvSpPr>
            <a:spLocks noGrp="1"/>
          </p:cNvSpPr>
          <p:nvPr/>
        </p:nvSpPr>
        <p:spPr>
          <a:xfrm>
            <a:off x="866775" y="2381885"/>
            <a:ext cx="1828800" cy="228600"/>
          </a:xfrm>
          <a:prstGeom prst="rect">
            <a:avLst/>
          </a:prstGeom>
          <a:noFill/>
          <a:ln w="0">
            <a:noFill/>
            <a:prstDash val="solid"/>
          </a:ln>
        </p:spPr>
        <p:txBody>
          <a:bodyPr/>
          <a:lstStyle/>
          <a:p>
            <a:pPr algn="l">
              <a:defRPr sz="1050" b="0">
                <a:solidFill>
                  <a:srgbClr val="5D6B82"/>
                </a:solidFill>
              </a:defRPr>
            </a:pPr>
            <a:r>
              <a:rPr sz="1050" b="0">
                <a:solidFill>
                  <a:srgbClr val="5D6B82"/>
                </a:solidFill>
              </a:rPr>
              <a:t>破碎机 point_name</a:t>
            </a:r>
            <a:endParaRPr sz="1050" b="0">
              <a:solidFill>
                <a:srgbClr val="5D6B82"/>
              </a:solidFill>
            </a:endParaRPr>
          </a:p>
        </p:txBody>
      </p:sp>
      <p:sp>
        <p:nvSpPr>
          <p:cNvPr id="21" name="矩形 20"/>
          <p:cNvSpPr>
            <a:spLocks noGrp="1"/>
          </p:cNvSpPr>
          <p:nvPr/>
        </p:nvSpPr>
        <p:spPr>
          <a:xfrm>
            <a:off x="3932555" y="593090"/>
            <a:ext cx="57150" cy="247650"/>
          </a:xfrm>
          <a:prstGeom prst="rect">
            <a:avLst/>
          </a:prstGeom>
          <a:solidFill>
            <a:srgbClr val="155AA8"/>
          </a:solidFill>
          <a:ln w="0">
            <a:noFill/>
            <a:prstDash val="solid"/>
          </a:ln>
        </p:spPr>
      </p:sp>
      <p:sp>
        <p:nvSpPr>
          <p:cNvPr id="22" name="矩形 21"/>
          <p:cNvSpPr>
            <a:spLocks noGrp="1"/>
          </p:cNvSpPr>
          <p:nvPr/>
        </p:nvSpPr>
        <p:spPr>
          <a:xfrm>
            <a:off x="4065905" y="583565"/>
            <a:ext cx="4381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刮板机：63 种 point_name 按部件归类</a:t>
            </a:r>
            <a:endParaRPr sz="1425" b="1">
              <a:solidFill>
                <a:srgbClr val="0B3A75"/>
              </a:solidFill>
            </a:endParaRPr>
          </a:p>
        </p:txBody>
      </p:sp>
      <p:sp>
        <p:nvSpPr>
          <p:cNvPr id="23" name="矩形 22"/>
          <p:cNvSpPr>
            <a:spLocks noGrp="1"/>
          </p:cNvSpPr>
          <p:nvPr/>
        </p:nvSpPr>
        <p:spPr>
          <a:xfrm>
            <a:off x="3932555" y="930275"/>
            <a:ext cx="2000250" cy="457200"/>
          </a:xfrm>
          <a:prstGeom prst="rect">
            <a:avLst/>
          </a:prstGeom>
          <a:solidFill>
            <a:srgbClr val="0B3A75"/>
          </a:solidFill>
          <a:ln w="9525">
            <a:solidFill>
              <a:srgbClr val="D9E6F7"/>
            </a:solidFill>
            <a:prstDash val="solid"/>
          </a:ln>
        </p:spPr>
      </p:sp>
      <p:sp>
        <p:nvSpPr>
          <p:cNvPr id="24" name="矩形 23"/>
          <p:cNvSpPr>
            <a:spLocks noGrp="1"/>
          </p:cNvSpPr>
          <p:nvPr/>
        </p:nvSpPr>
        <p:spPr>
          <a:xfrm>
            <a:off x="4008755" y="1006475"/>
            <a:ext cx="1847850" cy="361950"/>
          </a:xfrm>
          <a:prstGeom prst="rect">
            <a:avLst/>
          </a:prstGeom>
          <a:noFill/>
          <a:ln w="0">
            <a:noFill/>
            <a:prstDash val="solid"/>
          </a:ln>
        </p:spPr>
        <p:txBody>
          <a:bodyPr/>
          <a:lstStyle/>
          <a:p>
            <a:pPr algn="l">
              <a:defRPr sz="975" b="1">
                <a:solidFill>
                  <a:srgbClr val="FFFFFF"/>
                </a:solidFill>
              </a:defRPr>
            </a:pPr>
            <a:r>
              <a:rPr sz="975" b="1">
                <a:solidFill>
                  <a:srgbClr val="FFFFFF"/>
                </a:solidFill>
              </a:rPr>
              <a:t>部件范围</a:t>
            </a:r>
            <a:endParaRPr sz="975" b="1">
              <a:solidFill>
                <a:srgbClr val="FFFFFF"/>
              </a:solidFill>
            </a:endParaRPr>
          </a:p>
        </p:txBody>
      </p:sp>
      <p:sp>
        <p:nvSpPr>
          <p:cNvPr id="25" name="矩形 24"/>
          <p:cNvSpPr>
            <a:spLocks noGrp="1"/>
          </p:cNvSpPr>
          <p:nvPr/>
        </p:nvSpPr>
        <p:spPr>
          <a:xfrm>
            <a:off x="5932805" y="930275"/>
            <a:ext cx="666750" cy="457200"/>
          </a:xfrm>
          <a:prstGeom prst="rect">
            <a:avLst/>
          </a:prstGeom>
          <a:solidFill>
            <a:srgbClr val="0B3A75"/>
          </a:solidFill>
          <a:ln w="9525">
            <a:solidFill>
              <a:srgbClr val="D9E6F7"/>
            </a:solidFill>
            <a:prstDash val="solid"/>
          </a:ln>
        </p:spPr>
      </p:sp>
      <p:sp>
        <p:nvSpPr>
          <p:cNvPr id="26" name="矩形 25"/>
          <p:cNvSpPr>
            <a:spLocks noGrp="1"/>
          </p:cNvSpPr>
          <p:nvPr/>
        </p:nvSpPr>
        <p:spPr>
          <a:xfrm>
            <a:off x="6009005" y="1006475"/>
            <a:ext cx="514350" cy="361950"/>
          </a:xfrm>
          <a:prstGeom prst="rect">
            <a:avLst/>
          </a:prstGeom>
          <a:noFill/>
          <a:ln w="0">
            <a:noFill/>
            <a:prstDash val="solid"/>
          </a:ln>
        </p:spPr>
        <p:txBody>
          <a:bodyPr/>
          <a:lstStyle/>
          <a:p>
            <a:pPr algn="l">
              <a:defRPr sz="975" b="1">
                <a:solidFill>
                  <a:srgbClr val="FFFFFF"/>
                </a:solidFill>
              </a:defRPr>
            </a:pPr>
            <a:r>
              <a:rPr sz="975" b="1">
                <a:solidFill>
                  <a:srgbClr val="FFFFFF"/>
                </a:solidFill>
              </a:rPr>
              <a:t>数量</a:t>
            </a:r>
            <a:endParaRPr sz="975" b="1">
              <a:solidFill>
                <a:srgbClr val="FFFFFF"/>
              </a:solidFill>
            </a:endParaRPr>
          </a:p>
        </p:txBody>
      </p:sp>
      <p:sp>
        <p:nvSpPr>
          <p:cNvPr id="27" name="矩形 26"/>
          <p:cNvSpPr>
            <a:spLocks noGrp="1"/>
          </p:cNvSpPr>
          <p:nvPr/>
        </p:nvSpPr>
        <p:spPr>
          <a:xfrm>
            <a:off x="6599555" y="930275"/>
            <a:ext cx="5143500" cy="457200"/>
          </a:xfrm>
          <a:prstGeom prst="rect">
            <a:avLst/>
          </a:prstGeom>
          <a:solidFill>
            <a:srgbClr val="0B3A75"/>
          </a:solidFill>
          <a:ln w="9525">
            <a:solidFill>
              <a:srgbClr val="D9E6F7"/>
            </a:solidFill>
            <a:prstDash val="solid"/>
          </a:ln>
        </p:spPr>
      </p:sp>
      <p:sp>
        <p:nvSpPr>
          <p:cNvPr id="28" name="矩形 27"/>
          <p:cNvSpPr>
            <a:spLocks noGrp="1"/>
          </p:cNvSpPr>
          <p:nvPr/>
        </p:nvSpPr>
        <p:spPr>
          <a:xfrm>
            <a:off x="6675755" y="1006475"/>
            <a:ext cx="4991100" cy="361950"/>
          </a:xfrm>
          <a:prstGeom prst="rect">
            <a:avLst/>
          </a:prstGeom>
          <a:noFill/>
          <a:ln w="0">
            <a:noFill/>
            <a:prstDash val="solid"/>
          </a:ln>
        </p:spPr>
        <p:txBody>
          <a:bodyPr/>
          <a:lstStyle/>
          <a:p>
            <a:pPr algn="l">
              <a:defRPr sz="975" b="1">
                <a:solidFill>
                  <a:srgbClr val="FFFFFF"/>
                </a:solidFill>
              </a:defRPr>
            </a:pPr>
            <a:r>
              <a:rPr sz="975" b="1">
                <a:solidFill>
                  <a:srgbClr val="FFFFFF"/>
                </a:solidFill>
              </a:rPr>
              <a:t>主要测点类型</a:t>
            </a:r>
            <a:endParaRPr sz="975" b="1">
              <a:solidFill>
                <a:srgbClr val="FFFFFF"/>
              </a:solidFill>
            </a:endParaRPr>
          </a:p>
        </p:txBody>
      </p:sp>
      <p:sp>
        <p:nvSpPr>
          <p:cNvPr id="29" name="矩形 28"/>
          <p:cNvSpPr>
            <a:spLocks noGrp="1"/>
          </p:cNvSpPr>
          <p:nvPr/>
        </p:nvSpPr>
        <p:spPr>
          <a:xfrm>
            <a:off x="3932555" y="1387475"/>
            <a:ext cx="2000250" cy="457200"/>
          </a:xfrm>
          <a:prstGeom prst="rect">
            <a:avLst/>
          </a:prstGeom>
          <a:solidFill>
            <a:srgbClr val="F7FBFF"/>
          </a:solidFill>
          <a:ln w="9525">
            <a:solidFill>
              <a:srgbClr val="D9E6F7"/>
            </a:solidFill>
            <a:prstDash val="solid"/>
          </a:ln>
        </p:spPr>
      </p:sp>
      <p:sp>
        <p:nvSpPr>
          <p:cNvPr id="30" name="矩形 29"/>
          <p:cNvSpPr>
            <a:spLocks noGrp="1"/>
          </p:cNvSpPr>
          <p:nvPr/>
        </p:nvSpPr>
        <p:spPr>
          <a:xfrm>
            <a:off x="4008755" y="1463675"/>
            <a:ext cx="18478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前部运输机_垂直机头</a:t>
            </a:r>
            <a:endParaRPr sz="900" b="0">
              <a:solidFill>
                <a:srgbClr val="172033"/>
              </a:solidFill>
            </a:endParaRPr>
          </a:p>
        </p:txBody>
      </p:sp>
      <p:sp>
        <p:nvSpPr>
          <p:cNvPr id="31" name="矩形 30"/>
          <p:cNvSpPr>
            <a:spLocks noGrp="1"/>
          </p:cNvSpPr>
          <p:nvPr/>
        </p:nvSpPr>
        <p:spPr>
          <a:xfrm>
            <a:off x="5932805" y="1387475"/>
            <a:ext cx="666750" cy="457200"/>
          </a:xfrm>
          <a:prstGeom prst="rect">
            <a:avLst/>
          </a:prstGeom>
          <a:solidFill>
            <a:srgbClr val="F7FBFF"/>
          </a:solidFill>
          <a:ln w="9525">
            <a:solidFill>
              <a:srgbClr val="D9E6F7"/>
            </a:solidFill>
            <a:prstDash val="solid"/>
          </a:ln>
        </p:spPr>
      </p:sp>
      <p:sp>
        <p:nvSpPr>
          <p:cNvPr id="32" name="矩形 31"/>
          <p:cNvSpPr>
            <a:spLocks noGrp="1"/>
          </p:cNvSpPr>
          <p:nvPr/>
        </p:nvSpPr>
        <p:spPr>
          <a:xfrm>
            <a:off x="6009005" y="1463675"/>
            <a:ext cx="514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33" name="矩形 32"/>
          <p:cNvSpPr>
            <a:spLocks noGrp="1"/>
          </p:cNvSpPr>
          <p:nvPr/>
        </p:nvSpPr>
        <p:spPr>
          <a:xfrm>
            <a:off x="6599555" y="1387475"/>
            <a:ext cx="5143500" cy="457200"/>
          </a:xfrm>
          <a:prstGeom prst="rect">
            <a:avLst/>
          </a:prstGeom>
          <a:solidFill>
            <a:srgbClr val="F7FBFF"/>
          </a:solidFill>
          <a:ln w="9525">
            <a:solidFill>
              <a:srgbClr val="D9E6F7"/>
            </a:solidFill>
            <a:prstDash val="solid"/>
          </a:ln>
        </p:spPr>
      </p:sp>
      <p:sp>
        <p:nvSpPr>
          <p:cNvPr id="34" name="矩形 33"/>
          <p:cNvSpPr>
            <a:spLocks noGrp="1"/>
          </p:cNvSpPr>
          <p:nvPr/>
        </p:nvSpPr>
        <p:spPr>
          <a:xfrm>
            <a:off x="6675755" y="1463675"/>
            <a:ext cx="49911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变频器温度/湿度/运行状态，电机电流/转矩/转速，减速器冷却/温度/油箱</a:t>
            </a:r>
            <a:endParaRPr sz="900" b="0">
              <a:solidFill>
                <a:srgbClr val="172033"/>
              </a:solidFill>
            </a:endParaRPr>
          </a:p>
        </p:txBody>
      </p:sp>
      <p:sp>
        <p:nvSpPr>
          <p:cNvPr id="35" name="矩形 34"/>
          <p:cNvSpPr>
            <a:spLocks noGrp="1"/>
          </p:cNvSpPr>
          <p:nvPr/>
        </p:nvSpPr>
        <p:spPr>
          <a:xfrm>
            <a:off x="3932555" y="1844675"/>
            <a:ext cx="2000250" cy="457200"/>
          </a:xfrm>
          <a:prstGeom prst="rect">
            <a:avLst/>
          </a:prstGeom>
          <a:solidFill>
            <a:srgbClr val="FFFFFF"/>
          </a:solidFill>
          <a:ln w="9525">
            <a:solidFill>
              <a:srgbClr val="D9E6F7"/>
            </a:solidFill>
            <a:prstDash val="solid"/>
          </a:ln>
        </p:spPr>
      </p:sp>
      <p:sp>
        <p:nvSpPr>
          <p:cNvPr id="36" name="矩形 35"/>
          <p:cNvSpPr>
            <a:spLocks noGrp="1"/>
          </p:cNvSpPr>
          <p:nvPr/>
        </p:nvSpPr>
        <p:spPr>
          <a:xfrm>
            <a:off x="4008755" y="1920875"/>
            <a:ext cx="18478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前部运输机_平行机头</a:t>
            </a:r>
            <a:endParaRPr sz="900" b="0">
              <a:solidFill>
                <a:srgbClr val="172033"/>
              </a:solidFill>
            </a:endParaRPr>
          </a:p>
        </p:txBody>
      </p:sp>
      <p:sp>
        <p:nvSpPr>
          <p:cNvPr id="37" name="矩形 36"/>
          <p:cNvSpPr>
            <a:spLocks noGrp="1"/>
          </p:cNvSpPr>
          <p:nvPr/>
        </p:nvSpPr>
        <p:spPr>
          <a:xfrm>
            <a:off x="5932805" y="1844675"/>
            <a:ext cx="666750" cy="457200"/>
          </a:xfrm>
          <a:prstGeom prst="rect">
            <a:avLst/>
          </a:prstGeom>
          <a:solidFill>
            <a:srgbClr val="FFFFFF"/>
          </a:solidFill>
          <a:ln w="9525">
            <a:solidFill>
              <a:srgbClr val="D9E6F7"/>
            </a:solidFill>
            <a:prstDash val="solid"/>
          </a:ln>
        </p:spPr>
      </p:sp>
      <p:sp>
        <p:nvSpPr>
          <p:cNvPr id="38" name="矩形 37"/>
          <p:cNvSpPr>
            <a:spLocks noGrp="1"/>
          </p:cNvSpPr>
          <p:nvPr/>
        </p:nvSpPr>
        <p:spPr>
          <a:xfrm>
            <a:off x="6009005" y="1920875"/>
            <a:ext cx="514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39" name="矩形 38"/>
          <p:cNvSpPr>
            <a:spLocks noGrp="1"/>
          </p:cNvSpPr>
          <p:nvPr/>
        </p:nvSpPr>
        <p:spPr>
          <a:xfrm>
            <a:off x="6599555" y="1844675"/>
            <a:ext cx="5143500" cy="457200"/>
          </a:xfrm>
          <a:prstGeom prst="rect">
            <a:avLst/>
          </a:prstGeom>
          <a:solidFill>
            <a:srgbClr val="FFFFFF"/>
          </a:solidFill>
          <a:ln w="9525">
            <a:solidFill>
              <a:srgbClr val="D9E6F7"/>
            </a:solidFill>
            <a:prstDash val="solid"/>
          </a:ln>
        </p:spPr>
      </p:sp>
      <p:sp>
        <p:nvSpPr>
          <p:cNvPr id="40" name="矩形 39"/>
          <p:cNvSpPr>
            <a:spLocks noGrp="1"/>
          </p:cNvSpPr>
          <p:nvPr/>
        </p:nvSpPr>
        <p:spPr>
          <a:xfrm>
            <a:off x="6675755" y="1920875"/>
            <a:ext cx="49911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变频器母线电压/温度/运行状态，电机电流/转矩/转速，减速器冷却/温度/油箱</a:t>
            </a:r>
            <a:endParaRPr sz="900" b="0">
              <a:solidFill>
                <a:srgbClr val="172033"/>
              </a:solidFill>
            </a:endParaRPr>
          </a:p>
        </p:txBody>
      </p:sp>
      <p:sp>
        <p:nvSpPr>
          <p:cNvPr id="41" name="矩形 40"/>
          <p:cNvSpPr>
            <a:spLocks noGrp="1"/>
          </p:cNvSpPr>
          <p:nvPr/>
        </p:nvSpPr>
        <p:spPr>
          <a:xfrm>
            <a:off x="3932555" y="2301875"/>
            <a:ext cx="2000250" cy="457200"/>
          </a:xfrm>
          <a:prstGeom prst="rect">
            <a:avLst/>
          </a:prstGeom>
          <a:solidFill>
            <a:srgbClr val="F7FBFF"/>
          </a:solidFill>
          <a:ln w="9525">
            <a:solidFill>
              <a:srgbClr val="D9E6F7"/>
            </a:solidFill>
            <a:prstDash val="solid"/>
          </a:ln>
        </p:spPr>
      </p:sp>
      <p:sp>
        <p:nvSpPr>
          <p:cNvPr id="42" name="矩形 41"/>
          <p:cNvSpPr>
            <a:spLocks noGrp="1"/>
          </p:cNvSpPr>
          <p:nvPr/>
        </p:nvSpPr>
        <p:spPr>
          <a:xfrm>
            <a:off x="4008755" y="2378075"/>
            <a:ext cx="18478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前部运输机_机尾</a:t>
            </a:r>
            <a:endParaRPr sz="900" b="0">
              <a:solidFill>
                <a:srgbClr val="172033"/>
              </a:solidFill>
            </a:endParaRPr>
          </a:p>
        </p:txBody>
      </p:sp>
      <p:sp>
        <p:nvSpPr>
          <p:cNvPr id="43" name="矩形 42"/>
          <p:cNvSpPr>
            <a:spLocks noGrp="1"/>
          </p:cNvSpPr>
          <p:nvPr/>
        </p:nvSpPr>
        <p:spPr>
          <a:xfrm>
            <a:off x="5932805" y="2301875"/>
            <a:ext cx="666750" cy="457200"/>
          </a:xfrm>
          <a:prstGeom prst="rect">
            <a:avLst/>
          </a:prstGeom>
          <a:solidFill>
            <a:srgbClr val="F7FBFF"/>
          </a:solidFill>
          <a:ln w="9525">
            <a:solidFill>
              <a:srgbClr val="D9E6F7"/>
            </a:solidFill>
            <a:prstDash val="solid"/>
          </a:ln>
        </p:spPr>
      </p:sp>
      <p:sp>
        <p:nvSpPr>
          <p:cNvPr id="44" name="矩形 43"/>
          <p:cNvSpPr>
            <a:spLocks noGrp="1"/>
          </p:cNvSpPr>
          <p:nvPr/>
        </p:nvSpPr>
        <p:spPr>
          <a:xfrm>
            <a:off x="6009005" y="2378075"/>
            <a:ext cx="514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45" name="矩形 44"/>
          <p:cNvSpPr>
            <a:spLocks noGrp="1"/>
          </p:cNvSpPr>
          <p:nvPr/>
        </p:nvSpPr>
        <p:spPr>
          <a:xfrm>
            <a:off x="6599555" y="2301875"/>
            <a:ext cx="5143500" cy="457200"/>
          </a:xfrm>
          <a:prstGeom prst="rect">
            <a:avLst/>
          </a:prstGeom>
          <a:solidFill>
            <a:srgbClr val="F7FBFF"/>
          </a:solidFill>
          <a:ln w="9525">
            <a:solidFill>
              <a:srgbClr val="D9E6F7"/>
            </a:solidFill>
            <a:prstDash val="solid"/>
          </a:ln>
        </p:spPr>
      </p:sp>
      <p:sp>
        <p:nvSpPr>
          <p:cNvPr id="46" name="矩形 45"/>
          <p:cNvSpPr>
            <a:spLocks noGrp="1"/>
          </p:cNvSpPr>
          <p:nvPr/>
        </p:nvSpPr>
        <p:spPr>
          <a:xfrm>
            <a:off x="6675755" y="2378075"/>
            <a:ext cx="49911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变频器母线电压/温度/运行状态，电机电流/转矩/转速，减速器冷却/油缸/轴温</a:t>
            </a:r>
            <a:endParaRPr sz="900" b="0">
              <a:solidFill>
                <a:srgbClr val="172033"/>
              </a:solidFill>
            </a:endParaRPr>
          </a:p>
        </p:txBody>
      </p:sp>
      <p:sp>
        <p:nvSpPr>
          <p:cNvPr id="47" name="矩形 46"/>
          <p:cNvSpPr>
            <a:spLocks noGrp="1"/>
          </p:cNvSpPr>
          <p:nvPr/>
        </p:nvSpPr>
        <p:spPr>
          <a:xfrm>
            <a:off x="3932555" y="2759075"/>
            <a:ext cx="2000250" cy="457200"/>
          </a:xfrm>
          <a:prstGeom prst="rect">
            <a:avLst/>
          </a:prstGeom>
          <a:solidFill>
            <a:srgbClr val="FFFFFF"/>
          </a:solidFill>
          <a:ln w="9525">
            <a:solidFill>
              <a:srgbClr val="D9E6F7"/>
            </a:solidFill>
            <a:prstDash val="solid"/>
          </a:ln>
        </p:spPr>
      </p:sp>
      <p:sp>
        <p:nvSpPr>
          <p:cNvPr id="48" name="矩形 47"/>
          <p:cNvSpPr>
            <a:spLocks noGrp="1"/>
          </p:cNvSpPr>
          <p:nvPr/>
        </p:nvSpPr>
        <p:spPr>
          <a:xfrm>
            <a:off x="4008755" y="2835275"/>
            <a:ext cx="18478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前部运输机整机</a:t>
            </a:r>
            <a:endParaRPr sz="900" b="0">
              <a:solidFill>
                <a:srgbClr val="172033"/>
              </a:solidFill>
            </a:endParaRPr>
          </a:p>
        </p:txBody>
      </p:sp>
      <p:sp>
        <p:nvSpPr>
          <p:cNvPr id="49" name="矩形 48"/>
          <p:cNvSpPr>
            <a:spLocks noGrp="1"/>
          </p:cNvSpPr>
          <p:nvPr/>
        </p:nvSpPr>
        <p:spPr>
          <a:xfrm>
            <a:off x="5932805" y="2759075"/>
            <a:ext cx="666750" cy="457200"/>
          </a:xfrm>
          <a:prstGeom prst="rect">
            <a:avLst/>
          </a:prstGeom>
          <a:solidFill>
            <a:srgbClr val="FFFFFF"/>
          </a:solidFill>
          <a:ln w="9525">
            <a:solidFill>
              <a:srgbClr val="D9E6F7"/>
            </a:solidFill>
            <a:prstDash val="solid"/>
          </a:ln>
        </p:spPr>
      </p:sp>
      <p:sp>
        <p:nvSpPr>
          <p:cNvPr id="50" name="矩形 49"/>
          <p:cNvSpPr>
            <a:spLocks noGrp="1"/>
          </p:cNvSpPr>
          <p:nvPr/>
        </p:nvSpPr>
        <p:spPr>
          <a:xfrm>
            <a:off x="6009005" y="2835275"/>
            <a:ext cx="514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51" name="矩形 50"/>
          <p:cNvSpPr>
            <a:spLocks noGrp="1"/>
          </p:cNvSpPr>
          <p:nvPr/>
        </p:nvSpPr>
        <p:spPr>
          <a:xfrm>
            <a:off x="6599555" y="2759075"/>
            <a:ext cx="5143500" cy="457200"/>
          </a:xfrm>
          <a:prstGeom prst="rect">
            <a:avLst/>
          </a:prstGeom>
          <a:solidFill>
            <a:srgbClr val="FFFFFF"/>
          </a:solidFill>
          <a:ln w="9525">
            <a:solidFill>
              <a:srgbClr val="D9E6F7"/>
            </a:solidFill>
            <a:prstDash val="solid"/>
          </a:ln>
        </p:spPr>
      </p:sp>
      <p:sp>
        <p:nvSpPr>
          <p:cNvPr id="52" name="矩形 51"/>
          <p:cNvSpPr>
            <a:spLocks noGrp="1"/>
          </p:cNvSpPr>
          <p:nvPr/>
        </p:nvSpPr>
        <p:spPr>
          <a:xfrm>
            <a:off x="6675755" y="2835275"/>
            <a:ext cx="49911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设定速度、链条速度、整机运行状态</a:t>
            </a:r>
            <a:endParaRPr sz="900" b="0">
              <a:solidFill>
                <a:srgbClr val="172033"/>
              </a:solidFill>
            </a:endParaRPr>
          </a:p>
        </p:txBody>
      </p:sp>
      <p:sp>
        <p:nvSpPr>
          <p:cNvPr id="53" name="矩形 52"/>
          <p:cNvSpPr>
            <a:spLocks noGrp="1"/>
          </p:cNvSpPr>
          <p:nvPr/>
        </p:nvSpPr>
        <p:spPr>
          <a:xfrm>
            <a:off x="3932555" y="3216275"/>
            <a:ext cx="2000250" cy="457200"/>
          </a:xfrm>
          <a:prstGeom prst="rect">
            <a:avLst/>
          </a:prstGeom>
          <a:solidFill>
            <a:srgbClr val="F7FBFF"/>
          </a:solidFill>
          <a:ln w="9525">
            <a:solidFill>
              <a:srgbClr val="D9E6F7"/>
            </a:solidFill>
            <a:prstDash val="solid"/>
          </a:ln>
        </p:spPr>
      </p:sp>
      <p:sp>
        <p:nvSpPr>
          <p:cNvPr id="54" name="矩形 53"/>
          <p:cNvSpPr>
            <a:spLocks noGrp="1"/>
          </p:cNvSpPr>
          <p:nvPr/>
        </p:nvSpPr>
        <p:spPr>
          <a:xfrm>
            <a:off x="4008755" y="3292475"/>
            <a:ext cx="18478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其他辅助点</a:t>
            </a:r>
            <a:endParaRPr sz="900" b="0">
              <a:solidFill>
                <a:srgbClr val="172033"/>
              </a:solidFill>
            </a:endParaRPr>
          </a:p>
        </p:txBody>
      </p:sp>
      <p:sp>
        <p:nvSpPr>
          <p:cNvPr id="55" name="矩形 54"/>
          <p:cNvSpPr>
            <a:spLocks noGrp="1"/>
          </p:cNvSpPr>
          <p:nvPr/>
        </p:nvSpPr>
        <p:spPr>
          <a:xfrm>
            <a:off x="5932805" y="3216275"/>
            <a:ext cx="666750" cy="457200"/>
          </a:xfrm>
          <a:prstGeom prst="rect">
            <a:avLst/>
          </a:prstGeom>
          <a:solidFill>
            <a:srgbClr val="F7FBFF"/>
          </a:solidFill>
          <a:ln w="9525">
            <a:solidFill>
              <a:srgbClr val="D9E6F7"/>
            </a:solidFill>
            <a:prstDash val="solid"/>
          </a:ln>
        </p:spPr>
      </p:sp>
      <p:sp>
        <p:nvSpPr>
          <p:cNvPr id="56" name="矩形 55"/>
          <p:cNvSpPr>
            <a:spLocks noGrp="1"/>
          </p:cNvSpPr>
          <p:nvPr/>
        </p:nvSpPr>
        <p:spPr>
          <a:xfrm>
            <a:off x="6009005" y="3292475"/>
            <a:ext cx="514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57" name="矩形 56"/>
          <p:cNvSpPr>
            <a:spLocks noGrp="1"/>
          </p:cNvSpPr>
          <p:nvPr/>
        </p:nvSpPr>
        <p:spPr>
          <a:xfrm>
            <a:off x="6599555" y="3216275"/>
            <a:ext cx="5143500" cy="457200"/>
          </a:xfrm>
          <a:prstGeom prst="rect">
            <a:avLst/>
          </a:prstGeom>
          <a:solidFill>
            <a:srgbClr val="F7FBFF"/>
          </a:solidFill>
          <a:ln w="9525">
            <a:solidFill>
              <a:srgbClr val="D9E6F7"/>
            </a:solidFill>
            <a:prstDash val="solid"/>
          </a:ln>
        </p:spPr>
      </p:sp>
      <p:sp>
        <p:nvSpPr>
          <p:cNvPr id="58" name="矩形 57"/>
          <p:cNvSpPr>
            <a:spLocks noGrp="1"/>
          </p:cNvSpPr>
          <p:nvPr/>
        </p:nvSpPr>
        <p:spPr>
          <a:xfrm>
            <a:off x="6675755" y="3292475"/>
            <a:ext cx="49911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后部运输机腔体温度</a:t>
            </a:r>
            <a:r>
              <a:rPr lang="zh-CN" sz="900" b="0">
                <a:solidFill>
                  <a:srgbClr val="172033"/>
                </a:solidFill>
                <a:ea typeface="宋体" panose="02010600030101010101" pitchFamily="2" charset="-122"/>
              </a:rPr>
              <a:t>、</a:t>
            </a:r>
            <a:r>
              <a:rPr sz="900" b="0">
                <a:solidFill>
                  <a:srgbClr val="172033"/>
                </a:solidFill>
              </a:rPr>
              <a:t>设定速度、沿线语音控制模式</a:t>
            </a:r>
            <a:endParaRPr sz="900" b="0">
              <a:solidFill>
                <a:srgbClr val="172033"/>
              </a:solidFill>
            </a:endParaRPr>
          </a:p>
        </p:txBody>
      </p:sp>
      <p:sp>
        <p:nvSpPr>
          <p:cNvPr id="59" name="矩形 58"/>
          <p:cNvSpPr>
            <a:spLocks noGrp="1"/>
          </p:cNvSpPr>
          <p:nvPr/>
        </p:nvSpPr>
        <p:spPr>
          <a:xfrm>
            <a:off x="488315" y="2940685"/>
            <a:ext cx="57150" cy="247650"/>
          </a:xfrm>
          <a:prstGeom prst="rect">
            <a:avLst/>
          </a:prstGeom>
          <a:solidFill>
            <a:srgbClr val="155AA8"/>
          </a:solidFill>
          <a:ln w="0">
            <a:noFill/>
            <a:prstDash val="solid"/>
          </a:ln>
        </p:spPr>
      </p:sp>
      <p:sp>
        <p:nvSpPr>
          <p:cNvPr id="60" name="矩形 59"/>
          <p:cNvSpPr>
            <a:spLocks noGrp="1"/>
          </p:cNvSpPr>
          <p:nvPr/>
        </p:nvSpPr>
        <p:spPr>
          <a:xfrm>
            <a:off x="621665" y="2931160"/>
            <a:ext cx="2857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破碎机：12 种 point_name</a:t>
            </a:r>
            <a:endParaRPr sz="1425" b="1">
              <a:solidFill>
                <a:srgbClr val="0B3A75"/>
              </a:solidFill>
            </a:endParaRPr>
          </a:p>
        </p:txBody>
      </p:sp>
      <p:sp>
        <p:nvSpPr>
          <p:cNvPr id="61" name="矩形 60"/>
          <p:cNvSpPr>
            <a:spLocks noGrp="1"/>
          </p:cNvSpPr>
          <p:nvPr/>
        </p:nvSpPr>
        <p:spPr>
          <a:xfrm>
            <a:off x="488315" y="3378835"/>
            <a:ext cx="1143000" cy="457200"/>
          </a:xfrm>
          <a:prstGeom prst="rect">
            <a:avLst/>
          </a:prstGeom>
          <a:solidFill>
            <a:srgbClr val="0B3A75"/>
          </a:solidFill>
          <a:ln w="9525">
            <a:solidFill>
              <a:srgbClr val="D9E6F7"/>
            </a:solidFill>
            <a:prstDash val="solid"/>
          </a:ln>
        </p:spPr>
      </p:sp>
      <p:sp>
        <p:nvSpPr>
          <p:cNvPr id="62" name="矩形 61"/>
          <p:cNvSpPr>
            <a:spLocks noGrp="1"/>
          </p:cNvSpPr>
          <p:nvPr/>
        </p:nvSpPr>
        <p:spPr>
          <a:xfrm>
            <a:off x="564515" y="3455035"/>
            <a:ext cx="990600" cy="361950"/>
          </a:xfrm>
          <a:prstGeom prst="rect">
            <a:avLst/>
          </a:prstGeom>
          <a:noFill/>
          <a:ln w="0">
            <a:noFill/>
            <a:prstDash val="solid"/>
          </a:ln>
        </p:spPr>
        <p:txBody>
          <a:bodyPr/>
          <a:lstStyle/>
          <a:p>
            <a:pPr algn="l">
              <a:defRPr sz="975" b="1">
                <a:solidFill>
                  <a:srgbClr val="FFFFFF"/>
                </a:solidFill>
              </a:defRPr>
            </a:pPr>
            <a:r>
              <a:rPr sz="975" b="1">
                <a:solidFill>
                  <a:srgbClr val="FFFFFF"/>
                </a:solidFill>
              </a:rPr>
              <a:t>类别</a:t>
            </a:r>
            <a:endParaRPr sz="975" b="1">
              <a:solidFill>
                <a:srgbClr val="FFFFFF"/>
              </a:solidFill>
            </a:endParaRPr>
          </a:p>
        </p:txBody>
      </p:sp>
      <p:sp>
        <p:nvSpPr>
          <p:cNvPr id="63" name="矩形 62"/>
          <p:cNvSpPr>
            <a:spLocks noGrp="1"/>
          </p:cNvSpPr>
          <p:nvPr/>
        </p:nvSpPr>
        <p:spPr>
          <a:xfrm>
            <a:off x="1631315" y="3378835"/>
            <a:ext cx="2190750" cy="457200"/>
          </a:xfrm>
          <a:prstGeom prst="rect">
            <a:avLst/>
          </a:prstGeom>
          <a:solidFill>
            <a:srgbClr val="0B3A75"/>
          </a:solidFill>
          <a:ln w="9525">
            <a:solidFill>
              <a:srgbClr val="D9E6F7"/>
            </a:solidFill>
            <a:prstDash val="solid"/>
          </a:ln>
        </p:spPr>
      </p:sp>
      <p:sp>
        <p:nvSpPr>
          <p:cNvPr id="64" name="矩形 63"/>
          <p:cNvSpPr>
            <a:spLocks noGrp="1"/>
          </p:cNvSpPr>
          <p:nvPr/>
        </p:nvSpPr>
        <p:spPr>
          <a:xfrm>
            <a:off x="1707515" y="3455035"/>
            <a:ext cx="2038350" cy="361950"/>
          </a:xfrm>
          <a:prstGeom prst="rect">
            <a:avLst/>
          </a:prstGeom>
          <a:noFill/>
          <a:ln w="0">
            <a:noFill/>
            <a:prstDash val="solid"/>
          </a:ln>
        </p:spPr>
        <p:txBody>
          <a:bodyPr/>
          <a:lstStyle/>
          <a:p>
            <a:pPr algn="l">
              <a:defRPr sz="975" b="1">
                <a:solidFill>
                  <a:srgbClr val="FFFFFF"/>
                </a:solidFill>
              </a:defRPr>
            </a:pPr>
            <a:r>
              <a:rPr sz="975" b="1">
                <a:solidFill>
                  <a:srgbClr val="FFFFFF"/>
                </a:solidFill>
              </a:rPr>
              <a:t>point_name 末级名称</a:t>
            </a:r>
            <a:endParaRPr sz="975" b="1">
              <a:solidFill>
                <a:srgbClr val="FFFFFF"/>
              </a:solidFill>
            </a:endParaRPr>
          </a:p>
        </p:txBody>
      </p:sp>
      <p:sp>
        <p:nvSpPr>
          <p:cNvPr id="65" name="矩形 64"/>
          <p:cNvSpPr>
            <a:spLocks noGrp="1"/>
          </p:cNvSpPr>
          <p:nvPr/>
        </p:nvSpPr>
        <p:spPr>
          <a:xfrm>
            <a:off x="488315" y="3836035"/>
            <a:ext cx="1143000" cy="457200"/>
          </a:xfrm>
          <a:prstGeom prst="rect">
            <a:avLst/>
          </a:prstGeom>
          <a:solidFill>
            <a:srgbClr val="F7FBFF"/>
          </a:solidFill>
          <a:ln w="9525">
            <a:solidFill>
              <a:srgbClr val="D9E6F7"/>
            </a:solidFill>
            <a:prstDash val="solid"/>
          </a:ln>
        </p:spPr>
      </p:sp>
      <p:sp>
        <p:nvSpPr>
          <p:cNvPr id="66" name="矩形 65"/>
          <p:cNvSpPr>
            <a:spLocks noGrp="1"/>
          </p:cNvSpPr>
          <p:nvPr/>
        </p:nvSpPr>
        <p:spPr>
          <a:xfrm>
            <a:off x="564515" y="3912235"/>
            <a:ext cx="9906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冷却水</a:t>
            </a:r>
            <a:endParaRPr sz="900" b="0">
              <a:solidFill>
                <a:srgbClr val="172033"/>
              </a:solidFill>
            </a:endParaRPr>
          </a:p>
        </p:txBody>
      </p:sp>
      <p:sp>
        <p:nvSpPr>
          <p:cNvPr id="67" name="矩形 66"/>
          <p:cNvSpPr>
            <a:spLocks noGrp="1"/>
          </p:cNvSpPr>
          <p:nvPr/>
        </p:nvSpPr>
        <p:spPr>
          <a:xfrm>
            <a:off x="1631315" y="3836035"/>
            <a:ext cx="2190750" cy="457200"/>
          </a:xfrm>
          <a:prstGeom prst="rect">
            <a:avLst/>
          </a:prstGeom>
          <a:solidFill>
            <a:srgbClr val="F7FBFF"/>
          </a:solidFill>
          <a:ln w="9525">
            <a:solidFill>
              <a:srgbClr val="D9E6F7"/>
            </a:solidFill>
            <a:prstDash val="solid"/>
          </a:ln>
        </p:spPr>
      </p:sp>
      <p:sp>
        <p:nvSpPr>
          <p:cNvPr id="68" name="矩形 67"/>
          <p:cNvSpPr>
            <a:spLocks noGrp="1"/>
          </p:cNvSpPr>
          <p:nvPr/>
        </p:nvSpPr>
        <p:spPr>
          <a:xfrm>
            <a:off x="1707515" y="3912235"/>
            <a:ext cx="2038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压力、流量、温度</a:t>
            </a:r>
            <a:endParaRPr sz="900" b="0">
              <a:solidFill>
                <a:srgbClr val="172033"/>
              </a:solidFill>
            </a:endParaRPr>
          </a:p>
        </p:txBody>
      </p:sp>
      <p:sp>
        <p:nvSpPr>
          <p:cNvPr id="69" name="矩形 68"/>
          <p:cNvSpPr>
            <a:spLocks noGrp="1"/>
          </p:cNvSpPr>
          <p:nvPr/>
        </p:nvSpPr>
        <p:spPr>
          <a:xfrm>
            <a:off x="488315" y="4293235"/>
            <a:ext cx="1143000" cy="457200"/>
          </a:xfrm>
          <a:prstGeom prst="rect">
            <a:avLst/>
          </a:prstGeom>
          <a:solidFill>
            <a:srgbClr val="FFFFFF"/>
          </a:solidFill>
          <a:ln w="9525">
            <a:solidFill>
              <a:srgbClr val="D9E6F7"/>
            </a:solidFill>
            <a:prstDash val="solid"/>
          </a:ln>
        </p:spPr>
      </p:sp>
      <p:sp>
        <p:nvSpPr>
          <p:cNvPr id="70" name="矩形 69"/>
          <p:cNvSpPr>
            <a:spLocks noGrp="1"/>
          </p:cNvSpPr>
          <p:nvPr/>
        </p:nvSpPr>
        <p:spPr>
          <a:xfrm>
            <a:off x="564515" y="4369435"/>
            <a:ext cx="9906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油箱</a:t>
            </a:r>
            <a:endParaRPr sz="900" b="0">
              <a:solidFill>
                <a:srgbClr val="172033"/>
              </a:solidFill>
            </a:endParaRPr>
          </a:p>
        </p:txBody>
      </p:sp>
      <p:sp>
        <p:nvSpPr>
          <p:cNvPr id="71" name="矩形 70"/>
          <p:cNvSpPr>
            <a:spLocks noGrp="1"/>
          </p:cNvSpPr>
          <p:nvPr/>
        </p:nvSpPr>
        <p:spPr>
          <a:xfrm>
            <a:off x="1631315" y="4293235"/>
            <a:ext cx="2190750" cy="457200"/>
          </a:xfrm>
          <a:prstGeom prst="rect">
            <a:avLst/>
          </a:prstGeom>
          <a:solidFill>
            <a:srgbClr val="FFFFFF"/>
          </a:solidFill>
          <a:ln w="9525">
            <a:solidFill>
              <a:srgbClr val="D9E6F7"/>
            </a:solidFill>
            <a:prstDash val="solid"/>
          </a:ln>
        </p:spPr>
      </p:sp>
      <p:sp>
        <p:nvSpPr>
          <p:cNvPr id="72" name="矩形 71"/>
          <p:cNvSpPr>
            <a:spLocks noGrp="1"/>
          </p:cNvSpPr>
          <p:nvPr/>
        </p:nvSpPr>
        <p:spPr>
          <a:xfrm>
            <a:off x="1707515" y="4369435"/>
            <a:ext cx="2038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油位、油温</a:t>
            </a:r>
            <a:endParaRPr sz="900" b="0">
              <a:solidFill>
                <a:srgbClr val="172033"/>
              </a:solidFill>
            </a:endParaRPr>
          </a:p>
        </p:txBody>
      </p:sp>
      <p:sp>
        <p:nvSpPr>
          <p:cNvPr id="73" name="矩形 72"/>
          <p:cNvSpPr>
            <a:spLocks noGrp="1"/>
          </p:cNvSpPr>
          <p:nvPr/>
        </p:nvSpPr>
        <p:spPr>
          <a:xfrm>
            <a:off x="488315" y="4750435"/>
            <a:ext cx="1143000" cy="457200"/>
          </a:xfrm>
          <a:prstGeom prst="rect">
            <a:avLst/>
          </a:prstGeom>
          <a:solidFill>
            <a:srgbClr val="F7FBFF"/>
          </a:solidFill>
          <a:ln w="9525">
            <a:solidFill>
              <a:srgbClr val="D9E6F7"/>
            </a:solidFill>
            <a:prstDash val="solid"/>
          </a:ln>
        </p:spPr>
      </p:sp>
      <p:sp>
        <p:nvSpPr>
          <p:cNvPr id="74" name="矩形 73"/>
          <p:cNvSpPr>
            <a:spLocks noGrp="1"/>
          </p:cNvSpPr>
          <p:nvPr/>
        </p:nvSpPr>
        <p:spPr>
          <a:xfrm>
            <a:off x="564515" y="4826635"/>
            <a:ext cx="9906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温度</a:t>
            </a:r>
            <a:endParaRPr sz="900" b="0">
              <a:solidFill>
                <a:srgbClr val="172033"/>
              </a:solidFill>
            </a:endParaRPr>
          </a:p>
        </p:txBody>
      </p:sp>
      <p:sp>
        <p:nvSpPr>
          <p:cNvPr id="75" name="矩形 74"/>
          <p:cNvSpPr>
            <a:spLocks noGrp="1"/>
          </p:cNvSpPr>
          <p:nvPr/>
        </p:nvSpPr>
        <p:spPr>
          <a:xfrm>
            <a:off x="1631315" y="4750435"/>
            <a:ext cx="2190750" cy="457200"/>
          </a:xfrm>
          <a:prstGeom prst="rect">
            <a:avLst/>
          </a:prstGeom>
          <a:solidFill>
            <a:srgbClr val="F7FBFF"/>
          </a:solidFill>
          <a:ln w="9525">
            <a:solidFill>
              <a:srgbClr val="D9E6F7"/>
            </a:solidFill>
            <a:prstDash val="solid"/>
          </a:ln>
        </p:spPr>
      </p:sp>
      <p:sp>
        <p:nvSpPr>
          <p:cNvPr id="76" name="矩形 75"/>
          <p:cNvSpPr>
            <a:spLocks noGrp="1"/>
          </p:cNvSpPr>
          <p:nvPr/>
        </p:nvSpPr>
        <p:spPr>
          <a:xfrm>
            <a:off x="1707515" y="4826635"/>
            <a:ext cx="2038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绕组温度、轴承温度、输入轴温度</a:t>
            </a:r>
            <a:endParaRPr sz="900" b="0">
              <a:solidFill>
                <a:srgbClr val="172033"/>
              </a:solidFill>
            </a:endParaRPr>
          </a:p>
        </p:txBody>
      </p:sp>
      <p:sp>
        <p:nvSpPr>
          <p:cNvPr id="77" name="矩形 76"/>
          <p:cNvSpPr>
            <a:spLocks noGrp="1"/>
          </p:cNvSpPr>
          <p:nvPr/>
        </p:nvSpPr>
        <p:spPr>
          <a:xfrm>
            <a:off x="488315" y="5207635"/>
            <a:ext cx="1143000" cy="457200"/>
          </a:xfrm>
          <a:prstGeom prst="rect">
            <a:avLst/>
          </a:prstGeom>
          <a:solidFill>
            <a:srgbClr val="FFFFFF"/>
          </a:solidFill>
          <a:ln w="9525">
            <a:solidFill>
              <a:srgbClr val="D9E6F7"/>
            </a:solidFill>
            <a:prstDash val="solid"/>
          </a:ln>
        </p:spPr>
      </p:sp>
      <p:sp>
        <p:nvSpPr>
          <p:cNvPr id="78" name="矩形 77"/>
          <p:cNvSpPr>
            <a:spLocks noGrp="1"/>
          </p:cNvSpPr>
          <p:nvPr/>
        </p:nvSpPr>
        <p:spPr>
          <a:xfrm>
            <a:off x="564515" y="5283835"/>
            <a:ext cx="9906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振动</a:t>
            </a:r>
            <a:endParaRPr sz="900" b="0">
              <a:solidFill>
                <a:srgbClr val="172033"/>
              </a:solidFill>
            </a:endParaRPr>
          </a:p>
        </p:txBody>
      </p:sp>
      <p:sp>
        <p:nvSpPr>
          <p:cNvPr id="79" name="矩形 78"/>
          <p:cNvSpPr>
            <a:spLocks noGrp="1"/>
          </p:cNvSpPr>
          <p:nvPr/>
        </p:nvSpPr>
        <p:spPr>
          <a:xfrm>
            <a:off x="1631315" y="5207635"/>
            <a:ext cx="2190750" cy="457200"/>
          </a:xfrm>
          <a:prstGeom prst="rect">
            <a:avLst/>
          </a:prstGeom>
          <a:solidFill>
            <a:srgbClr val="FFFFFF"/>
          </a:solidFill>
          <a:ln w="9525">
            <a:solidFill>
              <a:srgbClr val="D9E6F7"/>
            </a:solidFill>
            <a:prstDash val="solid"/>
          </a:ln>
        </p:spPr>
      </p:sp>
      <p:sp>
        <p:nvSpPr>
          <p:cNvPr id="80" name="矩形 79"/>
          <p:cNvSpPr>
            <a:spLocks noGrp="1"/>
          </p:cNvSpPr>
          <p:nvPr/>
        </p:nvSpPr>
        <p:spPr>
          <a:xfrm>
            <a:off x="1707515" y="5283835"/>
            <a:ext cx="2038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减速器振动、电机振动</a:t>
            </a:r>
            <a:endParaRPr sz="900" b="0">
              <a:solidFill>
                <a:srgbClr val="172033"/>
              </a:solidFill>
            </a:endParaRPr>
          </a:p>
        </p:txBody>
      </p:sp>
      <p:sp>
        <p:nvSpPr>
          <p:cNvPr id="81" name="矩形 80"/>
          <p:cNvSpPr>
            <a:spLocks noGrp="1"/>
          </p:cNvSpPr>
          <p:nvPr/>
        </p:nvSpPr>
        <p:spPr>
          <a:xfrm>
            <a:off x="488315" y="5664835"/>
            <a:ext cx="1143000" cy="457200"/>
          </a:xfrm>
          <a:prstGeom prst="rect">
            <a:avLst/>
          </a:prstGeom>
          <a:solidFill>
            <a:srgbClr val="F7FBFF"/>
          </a:solidFill>
          <a:ln w="9525">
            <a:solidFill>
              <a:srgbClr val="D9E6F7"/>
            </a:solidFill>
            <a:prstDash val="solid"/>
          </a:ln>
        </p:spPr>
      </p:sp>
      <p:sp>
        <p:nvSpPr>
          <p:cNvPr id="82" name="矩形 81"/>
          <p:cNvSpPr>
            <a:spLocks noGrp="1"/>
          </p:cNvSpPr>
          <p:nvPr/>
        </p:nvSpPr>
        <p:spPr>
          <a:xfrm>
            <a:off x="564515" y="5741035"/>
            <a:ext cx="99060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状态/通信</a:t>
            </a:r>
            <a:endParaRPr sz="900" b="0">
              <a:solidFill>
                <a:srgbClr val="172033"/>
              </a:solidFill>
            </a:endParaRPr>
          </a:p>
        </p:txBody>
      </p:sp>
      <p:sp>
        <p:nvSpPr>
          <p:cNvPr id="83" name="矩形 82"/>
          <p:cNvSpPr>
            <a:spLocks noGrp="1"/>
          </p:cNvSpPr>
          <p:nvPr/>
        </p:nvSpPr>
        <p:spPr>
          <a:xfrm>
            <a:off x="1631315" y="5664835"/>
            <a:ext cx="2190750" cy="457200"/>
          </a:xfrm>
          <a:prstGeom prst="rect">
            <a:avLst/>
          </a:prstGeom>
          <a:solidFill>
            <a:srgbClr val="F7FBFF"/>
          </a:solidFill>
          <a:ln w="9525">
            <a:solidFill>
              <a:srgbClr val="D9E6F7"/>
            </a:solidFill>
            <a:prstDash val="solid"/>
          </a:ln>
        </p:spPr>
      </p:sp>
      <p:sp>
        <p:nvSpPr>
          <p:cNvPr id="84" name="矩形 83"/>
          <p:cNvSpPr>
            <a:spLocks noGrp="1"/>
          </p:cNvSpPr>
          <p:nvPr/>
        </p:nvSpPr>
        <p:spPr>
          <a:xfrm>
            <a:off x="1707515" y="5741035"/>
            <a:ext cx="2038350" cy="361950"/>
          </a:xfrm>
          <a:prstGeom prst="rect">
            <a:avLst/>
          </a:prstGeom>
          <a:noFill/>
          <a:ln w="0">
            <a:noFill/>
            <a:prstDash val="solid"/>
          </a:ln>
        </p:spPr>
        <p:txBody>
          <a:bodyPr/>
          <a:lstStyle/>
          <a:p>
            <a:pPr algn="l">
              <a:defRPr sz="900" b="0">
                <a:solidFill>
                  <a:srgbClr val="172033"/>
                </a:solidFill>
              </a:defRPr>
            </a:pPr>
            <a:r>
              <a:rPr sz="900" b="0">
                <a:solidFill>
                  <a:srgbClr val="172033"/>
                </a:solidFill>
              </a:rPr>
              <a:t>运行状态、读心跳</a:t>
            </a:r>
            <a:endParaRPr sz="900" b="0">
              <a:solidFill>
                <a:srgbClr val="172033"/>
              </a:solidFill>
            </a:endParaRPr>
          </a:p>
        </p:txBody>
      </p:sp>
      <p:sp>
        <p:nvSpPr>
          <p:cNvPr id="87" name="矩形 86"/>
          <p:cNvSpPr>
            <a:spLocks noGrp="1"/>
          </p:cNvSpPr>
          <p:nvPr/>
        </p:nvSpPr>
        <p:spPr>
          <a:xfrm>
            <a:off x="514350" y="6429375"/>
            <a:ext cx="11163300" cy="9525"/>
          </a:xfrm>
          <a:prstGeom prst="rect">
            <a:avLst/>
          </a:prstGeom>
          <a:solidFill>
            <a:srgbClr val="D9E6F7"/>
          </a:solidFill>
          <a:ln w="0">
            <a:noFill/>
            <a:prstDash val="solid"/>
          </a:ln>
        </p:spPr>
      </p:sp>
      <p:sp>
        <p:nvSpPr>
          <p:cNvPr id="89" name="矩形 88"/>
          <p:cNvSpPr>
            <a:spLocks noGrp="1"/>
          </p:cNvSpPr>
          <p:nvPr/>
        </p:nvSpPr>
        <p:spPr>
          <a:xfrm>
            <a:off x="2964815" y="5434965"/>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a:t>
            </a:r>
            <a:r>
              <a:rPr lang="en-US" sz="825" b="0">
                <a:solidFill>
                  <a:srgbClr val="5D6B82"/>
                </a:solidFill>
              </a:rPr>
              <a:t>4</a:t>
            </a:r>
            <a:endParaRPr lang="en-US" sz="825" b="0">
              <a:solidFill>
                <a:srgbClr val="5D6B82"/>
              </a:solidFill>
            </a:endParaRPr>
          </a:p>
        </p:txBody>
      </p:sp>
      <p:sp>
        <p:nvSpPr>
          <p:cNvPr id="91" name="矩形 90"/>
          <p:cNvSpPr>
            <a:spLocks noGrp="1"/>
          </p:cNvSpPr>
          <p:nvPr/>
        </p:nvSpPr>
        <p:spPr>
          <a:xfrm>
            <a:off x="4536440" y="4138295"/>
            <a:ext cx="4381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处理逻辑</a:t>
            </a:r>
            <a:endParaRPr sz="1425" b="1">
              <a:solidFill>
                <a:srgbClr val="0B3A75"/>
              </a:solidFill>
            </a:endParaRPr>
          </a:p>
        </p:txBody>
      </p:sp>
      <p:sp>
        <p:nvSpPr>
          <p:cNvPr id="97" name="矩形 96"/>
          <p:cNvSpPr>
            <a:spLocks noGrp="1"/>
          </p:cNvSpPr>
          <p:nvPr/>
        </p:nvSpPr>
        <p:spPr>
          <a:xfrm>
            <a:off x="4638040" y="4570730"/>
            <a:ext cx="5537200" cy="266065"/>
          </a:xfrm>
          <a:prstGeom prst="rect">
            <a:avLst/>
          </a:prstGeom>
          <a:noFill/>
          <a:ln w="0">
            <a:noFill/>
            <a:prstDash val="solid"/>
          </a:ln>
        </p:spPr>
        <p:txBody>
          <a:bodyPr/>
          <a:lstStyle/>
          <a:p>
            <a:pPr algn="l">
              <a:defRPr sz="1050" b="0">
                <a:solidFill>
                  <a:srgbClr val="172033"/>
                </a:solidFill>
              </a:defRPr>
            </a:pPr>
            <a:r>
              <a:rPr sz="1050" b="0">
                <a:solidFill>
                  <a:srgbClr val="172033"/>
                </a:solidFill>
              </a:rPr>
              <a:t>1</a:t>
            </a:r>
            <a:r>
              <a:rPr lang="zh-CN" sz="1050" b="0">
                <a:solidFill>
                  <a:srgbClr val="172033"/>
                </a:solidFill>
                <a:ea typeface="宋体" panose="02010600030101010101" pitchFamily="2" charset="-122"/>
              </a:rPr>
              <a:t>、</a:t>
            </a:r>
            <a:r>
              <a:rPr>
                <a:sym typeface="+mn-ea"/>
              </a:rPr>
              <a:t>按 time、point_name 汇总最后一次记录</a:t>
            </a:r>
            <a:endParaRPr b="0">
              <a:solidFill>
                <a:srgbClr val="172033"/>
              </a:solidFill>
            </a:endParaRPr>
          </a:p>
          <a:p>
            <a:pPr algn="l">
              <a:defRPr sz="1050" b="0">
                <a:solidFill>
                  <a:srgbClr val="172033"/>
                </a:solidFill>
              </a:defRPr>
            </a:pPr>
            <a:endParaRPr lang="zh-CN" sz="1050" b="0">
              <a:solidFill>
                <a:srgbClr val="172033"/>
              </a:solidFill>
              <a:ea typeface="宋体" panose="02010600030101010101" pitchFamily="2" charset="-122"/>
            </a:endParaRPr>
          </a:p>
        </p:txBody>
      </p:sp>
      <p:sp>
        <p:nvSpPr>
          <p:cNvPr id="99" name="矩形 98"/>
          <p:cNvSpPr>
            <a:spLocks noGrp="1"/>
          </p:cNvSpPr>
          <p:nvPr/>
        </p:nvSpPr>
        <p:spPr>
          <a:xfrm>
            <a:off x="5519420" y="4221480"/>
            <a:ext cx="4775200" cy="266065"/>
          </a:xfrm>
          <a:prstGeom prst="rect">
            <a:avLst/>
          </a:prstGeom>
          <a:noFill/>
          <a:ln w="0">
            <a:noFill/>
            <a:prstDash val="solid"/>
          </a:ln>
        </p:spPr>
        <p:txBody>
          <a:bodyPr/>
          <a:lstStyle/>
          <a:p>
            <a:pPr algn="l">
              <a:defRPr sz="1050" b="0">
                <a:solidFill>
                  <a:srgbClr val="172033"/>
                </a:solidFill>
              </a:defRPr>
            </a:pPr>
            <a:endParaRPr sz="1050" b="0">
              <a:solidFill>
                <a:srgbClr val="172033"/>
              </a:solidFill>
            </a:endParaRPr>
          </a:p>
        </p:txBody>
      </p:sp>
      <p:sp>
        <p:nvSpPr>
          <p:cNvPr id="101" name="矩形 100"/>
          <p:cNvSpPr>
            <a:spLocks noGrp="1"/>
          </p:cNvSpPr>
          <p:nvPr/>
        </p:nvSpPr>
        <p:spPr>
          <a:xfrm>
            <a:off x="4638040" y="5085080"/>
            <a:ext cx="5175885" cy="266065"/>
          </a:xfrm>
          <a:prstGeom prst="rect">
            <a:avLst/>
          </a:prstGeom>
          <a:noFill/>
          <a:ln w="0">
            <a:noFill/>
            <a:prstDash val="solid"/>
          </a:ln>
        </p:spPr>
        <p:txBody>
          <a:bodyPr/>
          <a:lstStyle/>
          <a:p>
            <a:pPr algn="l">
              <a:defRPr sz="1050" b="0">
                <a:solidFill>
                  <a:srgbClr val="172033"/>
                </a:solidFill>
              </a:defRPr>
            </a:pPr>
            <a:r>
              <a:rPr sz="1050" b="0">
                <a:solidFill>
                  <a:srgbClr val="172033"/>
                </a:solidFill>
              </a:rPr>
              <a:t>2</a:t>
            </a:r>
            <a:r>
              <a:rPr lang="zh-CN" sz="1050" b="0">
                <a:solidFill>
                  <a:srgbClr val="172033"/>
                </a:solidFill>
                <a:ea typeface="宋体" panose="02010600030101010101" pitchFamily="2" charset="-122"/>
              </a:rPr>
              <a:t>、</a:t>
            </a:r>
            <a:r>
              <a:rPr>
                <a:sym typeface="+mn-ea"/>
              </a:rPr>
              <a:t>pivot</a:t>
            </a:r>
            <a:r>
              <a:rPr lang="en-US">
                <a:sym typeface="+mn-ea"/>
              </a:rPr>
              <a:t>_table</a:t>
            </a:r>
            <a:r>
              <a:rPr>
                <a:sym typeface="+mn-ea"/>
              </a:rPr>
              <a:t> 成“时间 × 测点”的宽表</a:t>
            </a:r>
            <a:endParaRPr b="0">
              <a:solidFill>
                <a:srgbClr val="172033"/>
              </a:solidFill>
            </a:endParaRPr>
          </a:p>
          <a:p>
            <a:pPr algn="l">
              <a:defRPr sz="1050" b="0">
                <a:solidFill>
                  <a:srgbClr val="172033"/>
                </a:solidFill>
              </a:defRPr>
            </a:pPr>
            <a:endParaRPr lang="zh-CN" sz="1050" b="0">
              <a:solidFill>
                <a:srgbClr val="172033"/>
              </a:solidFill>
              <a:ea typeface="宋体" panose="02010600030101010101" pitchFamily="2" charset="-122"/>
            </a:endParaRPr>
          </a:p>
        </p:txBody>
      </p:sp>
      <p:sp>
        <p:nvSpPr>
          <p:cNvPr id="103" name="矩形 102"/>
          <p:cNvSpPr>
            <a:spLocks noGrp="1"/>
          </p:cNvSpPr>
          <p:nvPr/>
        </p:nvSpPr>
        <p:spPr>
          <a:xfrm>
            <a:off x="5519420" y="4735830"/>
            <a:ext cx="4775200" cy="266065"/>
          </a:xfrm>
          <a:prstGeom prst="rect">
            <a:avLst/>
          </a:prstGeom>
          <a:noFill/>
          <a:ln w="0">
            <a:noFill/>
            <a:prstDash val="solid"/>
          </a:ln>
        </p:spPr>
        <p:txBody>
          <a:bodyPr/>
          <a:lstStyle/>
          <a:p>
            <a:pPr algn="l">
              <a:defRPr sz="1050" b="0">
                <a:solidFill>
                  <a:srgbClr val="172033"/>
                </a:solidFill>
              </a:defRPr>
            </a:pPr>
            <a:endParaRPr sz="1050" b="0">
              <a:solidFill>
                <a:srgbClr val="172033"/>
              </a:solidFill>
            </a:endParaRPr>
          </a:p>
        </p:txBody>
      </p:sp>
      <p:sp>
        <p:nvSpPr>
          <p:cNvPr id="105" name="矩形 104"/>
          <p:cNvSpPr>
            <a:spLocks noGrp="1"/>
          </p:cNvSpPr>
          <p:nvPr/>
        </p:nvSpPr>
        <p:spPr>
          <a:xfrm>
            <a:off x="4638040" y="5599430"/>
            <a:ext cx="4499610" cy="266065"/>
          </a:xfrm>
          <a:prstGeom prst="rect">
            <a:avLst/>
          </a:prstGeom>
          <a:noFill/>
          <a:ln w="0">
            <a:noFill/>
            <a:prstDash val="solid"/>
          </a:ln>
        </p:spPr>
        <p:txBody>
          <a:bodyPr/>
          <a:lstStyle/>
          <a:p>
            <a:pPr algn="l">
              <a:defRPr sz="1050" b="0">
                <a:solidFill>
                  <a:srgbClr val="172033"/>
                </a:solidFill>
              </a:defRPr>
            </a:pPr>
            <a:r>
              <a:rPr sz="1050" b="0">
                <a:solidFill>
                  <a:srgbClr val="172033"/>
                </a:solidFill>
              </a:rPr>
              <a:t>3</a:t>
            </a:r>
            <a:r>
              <a:rPr lang="zh-CN" sz="1050" b="0">
                <a:solidFill>
                  <a:srgbClr val="172033"/>
                </a:solidFill>
                <a:ea typeface="宋体" panose="02010600030101010101" pitchFamily="2" charset="-122"/>
              </a:rPr>
              <a:t>、</a:t>
            </a:r>
            <a:r>
              <a:rPr>
                <a:sym typeface="+mn-ea"/>
              </a:rPr>
              <a:t>30s 重采样并前向保持 on-change 值</a:t>
            </a:r>
            <a:endParaRPr b="0">
              <a:solidFill>
                <a:srgbClr val="172033"/>
              </a:solidFill>
            </a:endParaRPr>
          </a:p>
          <a:p>
            <a:pPr algn="l">
              <a:defRPr sz="1050" b="0">
                <a:solidFill>
                  <a:srgbClr val="172033"/>
                </a:solidFill>
              </a:defRPr>
            </a:pPr>
            <a:endParaRPr lang="zh-CN" sz="1050" b="0">
              <a:solidFill>
                <a:srgbClr val="172033"/>
              </a:solidFill>
              <a:ea typeface="宋体" panose="02010600030101010101" pitchFamily="2" charset="-122"/>
            </a:endParaRPr>
          </a:p>
        </p:txBody>
      </p:sp>
      <p:sp>
        <p:nvSpPr>
          <p:cNvPr id="107" name="矩形 106"/>
          <p:cNvSpPr>
            <a:spLocks noGrp="1"/>
          </p:cNvSpPr>
          <p:nvPr/>
        </p:nvSpPr>
        <p:spPr>
          <a:xfrm>
            <a:off x="5519420" y="5250180"/>
            <a:ext cx="4775200" cy="266065"/>
          </a:xfrm>
          <a:prstGeom prst="rect">
            <a:avLst/>
          </a:prstGeom>
          <a:noFill/>
          <a:ln w="0">
            <a:noFill/>
            <a:prstDash val="solid"/>
          </a:ln>
        </p:spPr>
        <p:txBody>
          <a:bodyPr/>
          <a:lstStyle/>
          <a:p>
            <a:pPr algn="l">
              <a:defRPr sz="1050" b="0">
                <a:solidFill>
                  <a:srgbClr val="172033"/>
                </a:solidFill>
              </a:defRPr>
            </a:pPr>
            <a:endParaRPr sz="1050" b="0">
              <a:solidFill>
                <a:srgbClr val="172033"/>
              </a:solidFill>
            </a:endParaRPr>
          </a:p>
        </p:txBody>
      </p:sp>
      <p:sp>
        <p:nvSpPr>
          <p:cNvPr id="111" name="矩形 110"/>
          <p:cNvSpPr>
            <a:spLocks noGrp="1"/>
          </p:cNvSpPr>
          <p:nvPr/>
        </p:nvSpPr>
        <p:spPr>
          <a:xfrm>
            <a:off x="5519420" y="5764530"/>
            <a:ext cx="4775200" cy="266065"/>
          </a:xfrm>
          <a:prstGeom prst="rect">
            <a:avLst/>
          </a:prstGeom>
          <a:noFill/>
          <a:ln w="0">
            <a:noFill/>
            <a:prstDash val="solid"/>
          </a:ln>
        </p:spPr>
        <p:txBody>
          <a:bodyPr/>
          <a:lstStyle/>
          <a:p>
            <a:pPr algn="l">
              <a:defRPr sz="1050" b="0">
                <a:solidFill>
                  <a:srgbClr val="172033"/>
                </a:solidFill>
              </a:defRPr>
            </a:pPr>
            <a:endParaRPr sz="1050" b="0">
              <a:solidFill>
                <a:srgbClr val="172033"/>
              </a:solidFill>
            </a:endParaRPr>
          </a:p>
        </p:txBody>
      </p:sp>
      <p:sp>
        <p:nvSpPr>
          <p:cNvPr id="114" name="圆角矩形 113"/>
          <p:cNvSpPr>
            <a:spLocks noGrp="1"/>
          </p:cNvSpPr>
          <p:nvPr/>
        </p:nvSpPr>
        <p:spPr>
          <a:xfrm>
            <a:off x="7837805" y="3874135"/>
            <a:ext cx="2095500" cy="876300"/>
          </a:xfrm>
          <a:prstGeom prst="roundRect">
            <a:avLst>
              <a:gd name="adj" fmla="val 8696"/>
            </a:avLst>
          </a:prstGeom>
          <a:solidFill>
            <a:srgbClr val="FFFFFF"/>
          </a:solidFill>
          <a:ln w="9525">
            <a:solidFill>
              <a:srgbClr val="BCD2EC"/>
            </a:solidFill>
            <a:prstDash val="solid"/>
          </a:ln>
        </p:spPr>
      </p:sp>
      <p:sp>
        <p:nvSpPr>
          <p:cNvPr id="115" name="矩形 114"/>
          <p:cNvSpPr>
            <a:spLocks noGrp="1"/>
          </p:cNvSpPr>
          <p:nvPr/>
        </p:nvSpPr>
        <p:spPr>
          <a:xfrm>
            <a:off x="7837805" y="3874135"/>
            <a:ext cx="57150" cy="876300"/>
          </a:xfrm>
          <a:prstGeom prst="rect">
            <a:avLst/>
          </a:prstGeom>
          <a:solidFill>
            <a:srgbClr val="C66B1D"/>
          </a:solidFill>
          <a:ln w="0">
            <a:noFill/>
            <a:prstDash val="solid"/>
          </a:ln>
        </p:spPr>
      </p:sp>
      <p:sp>
        <p:nvSpPr>
          <p:cNvPr id="116" name="矩形 115"/>
          <p:cNvSpPr>
            <a:spLocks noGrp="1"/>
          </p:cNvSpPr>
          <p:nvPr/>
        </p:nvSpPr>
        <p:spPr>
          <a:xfrm>
            <a:off x="8009255" y="4026535"/>
            <a:ext cx="1828800" cy="333375"/>
          </a:xfrm>
          <a:prstGeom prst="rect">
            <a:avLst/>
          </a:prstGeom>
          <a:noFill/>
          <a:ln w="0">
            <a:noFill/>
            <a:prstDash val="solid"/>
          </a:ln>
        </p:spPr>
        <p:txBody>
          <a:bodyPr/>
          <a:lstStyle/>
          <a:p>
            <a:pPr algn="l">
              <a:defRPr sz="2025" b="1">
                <a:solidFill>
                  <a:srgbClr val="C66B1D"/>
                </a:solidFill>
              </a:defRPr>
            </a:pPr>
            <a:r>
              <a:rPr sz="2025" b="1">
                <a:solidFill>
                  <a:srgbClr val="C66B1D"/>
                </a:solidFill>
              </a:rPr>
              <a:t>0</a:t>
            </a:r>
            <a:endParaRPr sz="2025" b="1">
              <a:solidFill>
                <a:srgbClr val="C66B1D"/>
              </a:solidFill>
            </a:endParaRPr>
          </a:p>
        </p:txBody>
      </p:sp>
      <p:sp>
        <p:nvSpPr>
          <p:cNvPr id="117" name="矩形 116"/>
          <p:cNvSpPr>
            <a:spLocks noGrp="1"/>
          </p:cNvSpPr>
          <p:nvPr/>
        </p:nvSpPr>
        <p:spPr>
          <a:xfrm>
            <a:off x="8009255" y="4407535"/>
            <a:ext cx="1828800" cy="228600"/>
          </a:xfrm>
          <a:prstGeom prst="rect">
            <a:avLst/>
          </a:prstGeom>
          <a:noFill/>
          <a:ln w="0">
            <a:noFill/>
            <a:prstDash val="solid"/>
          </a:ln>
        </p:spPr>
        <p:txBody>
          <a:bodyPr/>
          <a:lstStyle/>
          <a:p>
            <a:pPr algn="l">
              <a:defRPr sz="1050" b="0">
                <a:solidFill>
                  <a:srgbClr val="5D6B82"/>
                </a:solidFill>
              </a:defRPr>
            </a:pPr>
            <a:r>
              <a:rPr sz="1050" b="0">
                <a:solidFill>
                  <a:srgbClr val="5D6B82"/>
                </a:solidFill>
              </a:rPr>
              <a:t>point_name 空值</a:t>
            </a:r>
            <a:endParaRPr sz="1050" b="0">
              <a:solidFill>
                <a:srgbClr val="5D6B82"/>
              </a:solidFill>
            </a:endParaRPr>
          </a:p>
        </p:txBody>
      </p:sp>
      <p:sp>
        <p:nvSpPr>
          <p:cNvPr id="118" name="圆角矩形 117"/>
          <p:cNvSpPr>
            <a:spLocks noGrp="1"/>
          </p:cNvSpPr>
          <p:nvPr/>
        </p:nvSpPr>
        <p:spPr>
          <a:xfrm>
            <a:off x="9257030" y="5085080"/>
            <a:ext cx="2095500" cy="876300"/>
          </a:xfrm>
          <a:prstGeom prst="roundRect">
            <a:avLst>
              <a:gd name="adj" fmla="val 8696"/>
            </a:avLst>
          </a:prstGeom>
          <a:solidFill>
            <a:srgbClr val="FFFFFF"/>
          </a:solidFill>
          <a:ln w="9525">
            <a:solidFill>
              <a:srgbClr val="BCD2EC"/>
            </a:solidFill>
            <a:prstDash val="solid"/>
          </a:ln>
        </p:spPr>
      </p:sp>
      <p:sp>
        <p:nvSpPr>
          <p:cNvPr id="119" name="矩形 118"/>
          <p:cNvSpPr>
            <a:spLocks noGrp="1"/>
          </p:cNvSpPr>
          <p:nvPr/>
        </p:nvSpPr>
        <p:spPr>
          <a:xfrm>
            <a:off x="9257030" y="5085080"/>
            <a:ext cx="57150" cy="876300"/>
          </a:xfrm>
          <a:prstGeom prst="rect">
            <a:avLst/>
          </a:prstGeom>
          <a:solidFill>
            <a:srgbClr val="155AA8"/>
          </a:solidFill>
          <a:ln w="0">
            <a:noFill/>
            <a:prstDash val="solid"/>
          </a:ln>
        </p:spPr>
      </p:sp>
      <p:sp>
        <p:nvSpPr>
          <p:cNvPr id="120" name="矩形 119"/>
          <p:cNvSpPr>
            <a:spLocks noGrp="1"/>
          </p:cNvSpPr>
          <p:nvPr/>
        </p:nvSpPr>
        <p:spPr>
          <a:xfrm>
            <a:off x="9428480" y="5237480"/>
            <a:ext cx="1828800" cy="333375"/>
          </a:xfrm>
          <a:prstGeom prst="rect">
            <a:avLst/>
          </a:prstGeom>
          <a:noFill/>
          <a:ln w="0">
            <a:noFill/>
            <a:prstDash val="solid"/>
          </a:ln>
        </p:spPr>
        <p:txBody>
          <a:bodyPr/>
          <a:lstStyle/>
          <a:p>
            <a:pPr algn="l">
              <a:defRPr sz="2025" b="1">
                <a:solidFill>
                  <a:srgbClr val="155AA8"/>
                </a:solidFill>
              </a:defRPr>
            </a:pPr>
            <a:r>
              <a:rPr sz="2025" b="1">
                <a:solidFill>
                  <a:srgbClr val="155AA8"/>
                </a:solidFill>
              </a:rPr>
              <a:t>30 秒</a:t>
            </a:r>
            <a:endParaRPr sz="2025" b="1">
              <a:solidFill>
                <a:srgbClr val="155AA8"/>
              </a:solidFill>
            </a:endParaRPr>
          </a:p>
        </p:txBody>
      </p:sp>
      <p:sp>
        <p:nvSpPr>
          <p:cNvPr id="121" name="矩形 120"/>
          <p:cNvSpPr>
            <a:spLocks noGrp="1"/>
          </p:cNvSpPr>
          <p:nvPr/>
        </p:nvSpPr>
        <p:spPr>
          <a:xfrm>
            <a:off x="9428480" y="5618480"/>
            <a:ext cx="1828800" cy="228600"/>
          </a:xfrm>
          <a:prstGeom prst="rect">
            <a:avLst/>
          </a:prstGeom>
          <a:noFill/>
          <a:ln w="0">
            <a:noFill/>
            <a:prstDash val="solid"/>
          </a:ln>
        </p:spPr>
        <p:txBody>
          <a:bodyPr/>
          <a:lstStyle/>
          <a:p>
            <a:pPr algn="l">
              <a:defRPr sz="1050" b="0">
                <a:solidFill>
                  <a:srgbClr val="5D6B82"/>
                </a:solidFill>
              </a:defRPr>
            </a:pPr>
            <a:r>
              <a:rPr sz="1050" b="0">
                <a:solidFill>
                  <a:srgbClr val="5D6B82"/>
                </a:solidFill>
              </a:rPr>
              <a:t>重采样间隔</a:t>
            </a:r>
            <a:endParaRPr sz="1050" b="0">
              <a:solidFill>
                <a:srgbClr val="5D6B82"/>
              </a:solidFill>
            </a:endParaRPr>
          </a:p>
        </p:txBody>
      </p:sp>
      <p:sp>
        <p:nvSpPr>
          <p:cNvPr id="122" name="矩形 121"/>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a:t>
            </a:r>
            <a:r>
              <a:rPr lang="en-US" sz="825" b="0">
                <a:solidFill>
                  <a:srgbClr val="5D6B82"/>
                </a:solidFill>
              </a:rPr>
              <a:t>4</a:t>
            </a:r>
            <a:endParaRPr lang="en-US" sz="825" b="0">
              <a:solidFill>
                <a:srgbClr val="5D6B8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点位覆盖核验</a:t>
            </a:r>
            <a:endParaRPr sz="1875" b="1">
              <a:solidFill>
                <a:srgbClr val="FFFFFF"/>
              </a:solidFill>
            </a:endParaRPr>
          </a:p>
        </p:txBody>
      </p:sp>
      <p:sp>
        <p:nvSpPr>
          <p:cNvPr id="5" name="矩形 4"/>
          <p:cNvSpPr>
            <a:spLocks noGrp="1"/>
          </p:cNvSpPr>
          <p:nvPr/>
        </p:nvSpPr>
        <p:spPr>
          <a:xfrm>
            <a:off x="514350" y="895350"/>
            <a:ext cx="1619250" cy="400050"/>
          </a:xfrm>
          <a:prstGeom prst="rect">
            <a:avLst/>
          </a:prstGeom>
          <a:solidFill>
            <a:srgbClr val="0B3A75"/>
          </a:solidFill>
          <a:ln w="9525">
            <a:solidFill>
              <a:srgbClr val="D9E6F7"/>
            </a:solidFill>
            <a:prstDash val="solid"/>
          </a:ln>
        </p:spPr>
      </p:sp>
      <p:sp>
        <p:nvSpPr>
          <p:cNvPr id="6" name="矩形 5"/>
          <p:cNvSpPr>
            <a:spLocks noGrp="1"/>
          </p:cNvSpPr>
          <p:nvPr/>
        </p:nvSpPr>
        <p:spPr>
          <a:xfrm>
            <a:off x="590550" y="971550"/>
            <a:ext cx="1466850" cy="304800"/>
          </a:xfrm>
          <a:prstGeom prst="rect">
            <a:avLst/>
          </a:prstGeom>
          <a:noFill/>
          <a:ln w="0">
            <a:noFill/>
            <a:prstDash val="solid"/>
          </a:ln>
        </p:spPr>
        <p:txBody>
          <a:bodyPr/>
          <a:lstStyle/>
          <a:p>
            <a:pPr algn="l">
              <a:defRPr sz="975" b="1">
                <a:solidFill>
                  <a:srgbClr val="FFFFFF"/>
                </a:solidFill>
              </a:defRPr>
            </a:pPr>
            <a:r>
              <a:rPr sz="975" b="1">
                <a:solidFill>
                  <a:srgbClr val="FFFFFF"/>
                </a:solidFill>
              </a:rPr>
              <a:t>设备/部件</a:t>
            </a:r>
            <a:endParaRPr sz="975" b="1">
              <a:solidFill>
                <a:srgbClr val="FFFFFF"/>
              </a:solidFill>
            </a:endParaRPr>
          </a:p>
        </p:txBody>
      </p:sp>
      <p:sp>
        <p:nvSpPr>
          <p:cNvPr id="7" name="矩形 6"/>
          <p:cNvSpPr>
            <a:spLocks noGrp="1"/>
          </p:cNvSpPr>
          <p:nvPr/>
        </p:nvSpPr>
        <p:spPr>
          <a:xfrm>
            <a:off x="2133600" y="895350"/>
            <a:ext cx="1047750" cy="400050"/>
          </a:xfrm>
          <a:prstGeom prst="rect">
            <a:avLst/>
          </a:prstGeom>
          <a:solidFill>
            <a:srgbClr val="0B3A75"/>
          </a:solidFill>
          <a:ln w="9525">
            <a:solidFill>
              <a:srgbClr val="D9E6F7"/>
            </a:solidFill>
            <a:prstDash val="solid"/>
          </a:ln>
        </p:spPr>
      </p:sp>
      <p:sp>
        <p:nvSpPr>
          <p:cNvPr id="8" name="矩形 7"/>
          <p:cNvSpPr>
            <a:spLocks noGrp="1"/>
          </p:cNvSpPr>
          <p:nvPr/>
        </p:nvSpPr>
        <p:spPr>
          <a:xfrm>
            <a:off x="2209800" y="971550"/>
            <a:ext cx="895350" cy="304800"/>
          </a:xfrm>
          <a:prstGeom prst="rect">
            <a:avLst/>
          </a:prstGeom>
          <a:noFill/>
          <a:ln w="0">
            <a:noFill/>
            <a:prstDash val="solid"/>
          </a:ln>
        </p:spPr>
        <p:txBody>
          <a:bodyPr/>
          <a:lstStyle/>
          <a:p>
            <a:pPr algn="l">
              <a:defRPr sz="975" b="1">
                <a:solidFill>
                  <a:srgbClr val="FFFFFF"/>
                </a:solidFill>
              </a:defRPr>
            </a:pPr>
            <a:r>
              <a:rPr sz="975" b="1">
                <a:solidFill>
                  <a:srgbClr val="FFFFFF"/>
                </a:solidFill>
              </a:rPr>
              <a:t>解释表点位</a:t>
            </a:r>
            <a:endParaRPr sz="975" b="1">
              <a:solidFill>
                <a:srgbClr val="FFFFFF"/>
              </a:solidFill>
            </a:endParaRPr>
          </a:p>
        </p:txBody>
      </p:sp>
      <p:sp>
        <p:nvSpPr>
          <p:cNvPr id="9" name="矩形 8"/>
          <p:cNvSpPr>
            <a:spLocks noGrp="1"/>
          </p:cNvSpPr>
          <p:nvPr/>
        </p:nvSpPr>
        <p:spPr>
          <a:xfrm>
            <a:off x="3181350" y="895350"/>
            <a:ext cx="1047750" cy="400050"/>
          </a:xfrm>
          <a:prstGeom prst="rect">
            <a:avLst/>
          </a:prstGeom>
          <a:solidFill>
            <a:srgbClr val="0B3A75"/>
          </a:solidFill>
          <a:ln w="9525">
            <a:solidFill>
              <a:srgbClr val="D9E6F7"/>
            </a:solidFill>
            <a:prstDash val="solid"/>
          </a:ln>
        </p:spPr>
      </p:sp>
      <p:sp>
        <p:nvSpPr>
          <p:cNvPr id="10" name="矩形 9"/>
          <p:cNvSpPr>
            <a:spLocks noGrp="1"/>
          </p:cNvSpPr>
          <p:nvPr/>
        </p:nvSpPr>
        <p:spPr>
          <a:xfrm>
            <a:off x="3257550" y="971550"/>
            <a:ext cx="895350" cy="304800"/>
          </a:xfrm>
          <a:prstGeom prst="rect">
            <a:avLst/>
          </a:prstGeom>
          <a:noFill/>
          <a:ln w="0">
            <a:noFill/>
            <a:prstDash val="solid"/>
          </a:ln>
        </p:spPr>
        <p:txBody>
          <a:bodyPr/>
          <a:lstStyle/>
          <a:p>
            <a:pPr algn="l">
              <a:defRPr sz="975" b="1">
                <a:solidFill>
                  <a:srgbClr val="FFFFFF"/>
                </a:solidFill>
              </a:defRPr>
            </a:pPr>
            <a:r>
              <a:rPr sz="975" b="1">
                <a:solidFill>
                  <a:srgbClr val="FFFFFF"/>
                </a:solidFill>
              </a:rPr>
              <a:t>CSV存在</a:t>
            </a:r>
            <a:endParaRPr sz="975" b="1">
              <a:solidFill>
                <a:srgbClr val="FFFFFF"/>
              </a:solidFill>
            </a:endParaRPr>
          </a:p>
        </p:txBody>
      </p:sp>
      <p:sp>
        <p:nvSpPr>
          <p:cNvPr id="11" name="矩形 10"/>
          <p:cNvSpPr>
            <a:spLocks noGrp="1"/>
          </p:cNvSpPr>
          <p:nvPr/>
        </p:nvSpPr>
        <p:spPr>
          <a:xfrm>
            <a:off x="4229100" y="895350"/>
            <a:ext cx="1047750" cy="400050"/>
          </a:xfrm>
          <a:prstGeom prst="rect">
            <a:avLst/>
          </a:prstGeom>
          <a:solidFill>
            <a:srgbClr val="0B3A75"/>
          </a:solidFill>
          <a:ln w="9525">
            <a:solidFill>
              <a:srgbClr val="D9E6F7"/>
            </a:solidFill>
            <a:prstDash val="solid"/>
          </a:ln>
        </p:spPr>
      </p:sp>
      <p:sp>
        <p:nvSpPr>
          <p:cNvPr id="12" name="矩形 11"/>
          <p:cNvSpPr>
            <a:spLocks noGrp="1"/>
          </p:cNvSpPr>
          <p:nvPr/>
        </p:nvSpPr>
        <p:spPr>
          <a:xfrm>
            <a:off x="4305300" y="971550"/>
            <a:ext cx="895350" cy="304800"/>
          </a:xfrm>
          <a:prstGeom prst="rect">
            <a:avLst/>
          </a:prstGeom>
          <a:noFill/>
          <a:ln w="0">
            <a:noFill/>
            <a:prstDash val="solid"/>
          </a:ln>
        </p:spPr>
        <p:txBody>
          <a:bodyPr/>
          <a:lstStyle/>
          <a:p>
            <a:pPr algn="l">
              <a:defRPr sz="975" b="1">
                <a:solidFill>
                  <a:srgbClr val="FFFFFF"/>
                </a:solidFill>
              </a:defRPr>
            </a:pPr>
            <a:r>
              <a:rPr sz="975" b="1">
                <a:solidFill>
                  <a:srgbClr val="FFFFFF"/>
                </a:solidFill>
              </a:rPr>
              <a:t>本周使用</a:t>
            </a:r>
            <a:endParaRPr sz="975" b="1">
              <a:solidFill>
                <a:srgbClr val="FFFFFF"/>
              </a:solidFill>
            </a:endParaRPr>
          </a:p>
        </p:txBody>
      </p:sp>
      <p:sp>
        <p:nvSpPr>
          <p:cNvPr id="13" name="矩形 12"/>
          <p:cNvSpPr>
            <a:spLocks noGrp="1"/>
          </p:cNvSpPr>
          <p:nvPr/>
        </p:nvSpPr>
        <p:spPr>
          <a:xfrm>
            <a:off x="5276850" y="895350"/>
            <a:ext cx="6515100" cy="400050"/>
          </a:xfrm>
          <a:prstGeom prst="rect">
            <a:avLst/>
          </a:prstGeom>
          <a:solidFill>
            <a:srgbClr val="0B3A75"/>
          </a:solidFill>
          <a:ln w="9525">
            <a:solidFill>
              <a:srgbClr val="D9E6F7"/>
            </a:solidFill>
            <a:prstDash val="solid"/>
          </a:ln>
        </p:spPr>
      </p:sp>
      <p:sp>
        <p:nvSpPr>
          <p:cNvPr id="14" name="矩形 13"/>
          <p:cNvSpPr>
            <a:spLocks noGrp="1"/>
          </p:cNvSpPr>
          <p:nvPr/>
        </p:nvSpPr>
        <p:spPr>
          <a:xfrm>
            <a:off x="5353050" y="971550"/>
            <a:ext cx="6362700" cy="304800"/>
          </a:xfrm>
          <a:prstGeom prst="rect">
            <a:avLst/>
          </a:prstGeom>
          <a:noFill/>
          <a:ln w="0">
            <a:noFill/>
            <a:prstDash val="solid"/>
          </a:ln>
        </p:spPr>
        <p:txBody>
          <a:bodyPr/>
          <a:lstStyle/>
          <a:p>
            <a:pPr algn="l">
              <a:defRPr sz="975" b="1">
                <a:solidFill>
                  <a:srgbClr val="FFFFFF"/>
                </a:solidFill>
              </a:defRPr>
            </a:pPr>
            <a:r>
              <a:rPr sz="975" b="1">
                <a:solidFill>
                  <a:srgbClr val="FFFFFF"/>
                </a:solidFill>
              </a:rPr>
              <a:t>缺失说明</a:t>
            </a:r>
            <a:endParaRPr sz="975" b="1">
              <a:solidFill>
                <a:srgbClr val="FFFFFF"/>
              </a:solidFill>
            </a:endParaRPr>
          </a:p>
        </p:txBody>
      </p:sp>
      <p:sp>
        <p:nvSpPr>
          <p:cNvPr id="15" name="矩形 14"/>
          <p:cNvSpPr>
            <a:spLocks noGrp="1"/>
          </p:cNvSpPr>
          <p:nvPr/>
        </p:nvSpPr>
        <p:spPr>
          <a:xfrm>
            <a:off x="514350" y="1295400"/>
            <a:ext cx="1619250" cy="400050"/>
          </a:xfrm>
          <a:prstGeom prst="rect">
            <a:avLst/>
          </a:prstGeom>
          <a:solidFill>
            <a:srgbClr val="F7FBFF"/>
          </a:solidFill>
          <a:ln w="9525">
            <a:solidFill>
              <a:srgbClr val="D9E6F7"/>
            </a:solidFill>
            <a:prstDash val="solid"/>
          </a:ln>
        </p:spPr>
      </p:sp>
      <p:sp>
        <p:nvSpPr>
          <p:cNvPr id="16" name="矩形 15"/>
          <p:cNvSpPr>
            <a:spLocks noGrp="1"/>
          </p:cNvSpPr>
          <p:nvPr/>
        </p:nvSpPr>
        <p:spPr>
          <a:xfrm>
            <a:off x="590550" y="137160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刮板机/垂直机头</a:t>
            </a:r>
            <a:endParaRPr sz="900" b="0">
              <a:solidFill>
                <a:srgbClr val="172033"/>
              </a:solidFill>
            </a:endParaRPr>
          </a:p>
        </p:txBody>
      </p:sp>
      <p:sp>
        <p:nvSpPr>
          <p:cNvPr id="17" name="矩形 16"/>
          <p:cNvSpPr>
            <a:spLocks noGrp="1"/>
          </p:cNvSpPr>
          <p:nvPr/>
        </p:nvSpPr>
        <p:spPr>
          <a:xfrm>
            <a:off x="2133600" y="1295400"/>
            <a:ext cx="1047750" cy="400050"/>
          </a:xfrm>
          <a:prstGeom prst="rect">
            <a:avLst/>
          </a:prstGeom>
          <a:solidFill>
            <a:srgbClr val="F7FBFF"/>
          </a:solidFill>
          <a:ln w="9525">
            <a:solidFill>
              <a:srgbClr val="D9E6F7"/>
            </a:solidFill>
            <a:prstDash val="solid"/>
          </a:ln>
        </p:spPr>
      </p:sp>
      <p:sp>
        <p:nvSpPr>
          <p:cNvPr id="18" name="矩形 17"/>
          <p:cNvSpPr>
            <a:spLocks noGrp="1"/>
          </p:cNvSpPr>
          <p:nvPr/>
        </p:nvSpPr>
        <p:spPr>
          <a:xfrm>
            <a:off x="2209800" y="13716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19" name="矩形 18"/>
          <p:cNvSpPr>
            <a:spLocks noGrp="1"/>
          </p:cNvSpPr>
          <p:nvPr/>
        </p:nvSpPr>
        <p:spPr>
          <a:xfrm>
            <a:off x="3181350" y="1295400"/>
            <a:ext cx="1047750" cy="400050"/>
          </a:xfrm>
          <a:prstGeom prst="rect">
            <a:avLst/>
          </a:prstGeom>
          <a:solidFill>
            <a:srgbClr val="F7FBFF"/>
          </a:solidFill>
          <a:ln w="9525">
            <a:solidFill>
              <a:srgbClr val="D9E6F7"/>
            </a:solidFill>
            <a:prstDash val="solid"/>
          </a:ln>
        </p:spPr>
      </p:sp>
      <p:sp>
        <p:nvSpPr>
          <p:cNvPr id="20" name="矩形 19"/>
          <p:cNvSpPr>
            <a:spLocks noGrp="1"/>
          </p:cNvSpPr>
          <p:nvPr/>
        </p:nvSpPr>
        <p:spPr>
          <a:xfrm>
            <a:off x="3257550" y="13716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21" name="矩形 20"/>
          <p:cNvSpPr>
            <a:spLocks noGrp="1"/>
          </p:cNvSpPr>
          <p:nvPr/>
        </p:nvSpPr>
        <p:spPr>
          <a:xfrm>
            <a:off x="4229100" y="1295400"/>
            <a:ext cx="1047750" cy="400050"/>
          </a:xfrm>
          <a:prstGeom prst="rect">
            <a:avLst/>
          </a:prstGeom>
          <a:solidFill>
            <a:srgbClr val="F7FBFF"/>
          </a:solidFill>
          <a:ln w="9525">
            <a:solidFill>
              <a:srgbClr val="D9E6F7"/>
            </a:solidFill>
            <a:prstDash val="solid"/>
          </a:ln>
        </p:spPr>
      </p:sp>
      <p:sp>
        <p:nvSpPr>
          <p:cNvPr id="22" name="矩形 21"/>
          <p:cNvSpPr>
            <a:spLocks noGrp="1"/>
          </p:cNvSpPr>
          <p:nvPr/>
        </p:nvSpPr>
        <p:spPr>
          <a:xfrm>
            <a:off x="4305300" y="13716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6</a:t>
            </a:r>
            <a:endParaRPr sz="900" b="0">
              <a:solidFill>
                <a:srgbClr val="172033"/>
              </a:solidFill>
            </a:endParaRPr>
          </a:p>
        </p:txBody>
      </p:sp>
      <p:sp>
        <p:nvSpPr>
          <p:cNvPr id="23" name="矩形 22"/>
          <p:cNvSpPr>
            <a:spLocks noGrp="1"/>
          </p:cNvSpPr>
          <p:nvPr/>
        </p:nvSpPr>
        <p:spPr>
          <a:xfrm>
            <a:off x="5276850" y="1295400"/>
            <a:ext cx="6515100" cy="400050"/>
          </a:xfrm>
          <a:prstGeom prst="rect">
            <a:avLst/>
          </a:prstGeom>
          <a:solidFill>
            <a:srgbClr val="F7FBFF"/>
          </a:solidFill>
          <a:ln w="9525">
            <a:solidFill>
              <a:srgbClr val="D9E6F7"/>
            </a:solidFill>
            <a:prstDash val="solid"/>
          </a:ln>
        </p:spPr>
      </p:sp>
      <p:sp>
        <p:nvSpPr>
          <p:cNvPr id="24" name="矩形 23"/>
          <p:cNvSpPr>
            <a:spLocks noGrp="1"/>
          </p:cNvSpPr>
          <p:nvPr/>
        </p:nvSpPr>
        <p:spPr>
          <a:xfrm>
            <a:off x="5353050" y="137160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25" name="矩形 24"/>
          <p:cNvSpPr>
            <a:spLocks noGrp="1"/>
          </p:cNvSpPr>
          <p:nvPr/>
        </p:nvSpPr>
        <p:spPr>
          <a:xfrm>
            <a:off x="514350" y="1695450"/>
            <a:ext cx="1619250" cy="400050"/>
          </a:xfrm>
          <a:prstGeom prst="rect">
            <a:avLst/>
          </a:prstGeom>
          <a:solidFill>
            <a:srgbClr val="FFFFFF"/>
          </a:solidFill>
          <a:ln w="9525">
            <a:solidFill>
              <a:srgbClr val="D9E6F7"/>
            </a:solidFill>
            <a:prstDash val="solid"/>
          </a:ln>
        </p:spPr>
      </p:sp>
      <p:sp>
        <p:nvSpPr>
          <p:cNvPr id="26" name="矩形 25"/>
          <p:cNvSpPr>
            <a:spLocks noGrp="1"/>
          </p:cNvSpPr>
          <p:nvPr/>
        </p:nvSpPr>
        <p:spPr>
          <a:xfrm>
            <a:off x="590550" y="177165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刮板机/平行机头</a:t>
            </a:r>
            <a:endParaRPr sz="900" b="0">
              <a:solidFill>
                <a:srgbClr val="172033"/>
              </a:solidFill>
            </a:endParaRPr>
          </a:p>
        </p:txBody>
      </p:sp>
      <p:sp>
        <p:nvSpPr>
          <p:cNvPr id="27" name="矩形 26"/>
          <p:cNvSpPr>
            <a:spLocks noGrp="1"/>
          </p:cNvSpPr>
          <p:nvPr/>
        </p:nvSpPr>
        <p:spPr>
          <a:xfrm>
            <a:off x="2133600" y="1695450"/>
            <a:ext cx="1047750" cy="400050"/>
          </a:xfrm>
          <a:prstGeom prst="rect">
            <a:avLst/>
          </a:prstGeom>
          <a:solidFill>
            <a:srgbClr val="FFFFFF"/>
          </a:solidFill>
          <a:ln w="9525">
            <a:solidFill>
              <a:srgbClr val="D9E6F7"/>
            </a:solidFill>
            <a:prstDash val="solid"/>
          </a:ln>
        </p:spPr>
      </p:sp>
      <p:sp>
        <p:nvSpPr>
          <p:cNvPr id="28" name="矩形 27"/>
          <p:cNvSpPr>
            <a:spLocks noGrp="1"/>
          </p:cNvSpPr>
          <p:nvPr/>
        </p:nvSpPr>
        <p:spPr>
          <a:xfrm>
            <a:off x="2209800" y="17716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29" name="矩形 28"/>
          <p:cNvSpPr>
            <a:spLocks noGrp="1"/>
          </p:cNvSpPr>
          <p:nvPr/>
        </p:nvSpPr>
        <p:spPr>
          <a:xfrm>
            <a:off x="3181350" y="1695450"/>
            <a:ext cx="1047750" cy="400050"/>
          </a:xfrm>
          <a:prstGeom prst="rect">
            <a:avLst/>
          </a:prstGeom>
          <a:solidFill>
            <a:srgbClr val="FFFFFF"/>
          </a:solidFill>
          <a:ln w="9525">
            <a:solidFill>
              <a:srgbClr val="D9E6F7"/>
            </a:solidFill>
            <a:prstDash val="solid"/>
          </a:ln>
        </p:spPr>
      </p:sp>
      <p:sp>
        <p:nvSpPr>
          <p:cNvPr id="30" name="矩形 29"/>
          <p:cNvSpPr>
            <a:spLocks noGrp="1"/>
          </p:cNvSpPr>
          <p:nvPr/>
        </p:nvSpPr>
        <p:spPr>
          <a:xfrm>
            <a:off x="3257550" y="17716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17</a:t>
            </a:r>
            <a:endParaRPr sz="900" b="0">
              <a:solidFill>
                <a:srgbClr val="172033"/>
              </a:solidFill>
            </a:endParaRPr>
          </a:p>
        </p:txBody>
      </p:sp>
      <p:sp>
        <p:nvSpPr>
          <p:cNvPr id="31" name="矩形 30"/>
          <p:cNvSpPr>
            <a:spLocks noGrp="1"/>
          </p:cNvSpPr>
          <p:nvPr/>
        </p:nvSpPr>
        <p:spPr>
          <a:xfrm>
            <a:off x="4229100" y="1695450"/>
            <a:ext cx="1047750" cy="400050"/>
          </a:xfrm>
          <a:prstGeom prst="rect">
            <a:avLst/>
          </a:prstGeom>
          <a:solidFill>
            <a:srgbClr val="FFFFFF"/>
          </a:solidFill>
          <a:ln w="9525">
            <a:solidFill>
              <a:srgbClr val="D9E6F7"/>
            </a:solidFill>
            <a:prstDash val="solid"/>
          </a:ln>
        </p:spPr>
      </p:sp>
      <p:sp>
        <p:nvSpPr>
          <p:cNvPr id="32" name="矩形 31"/>
          <p:cNvSpPr>
            <a:spLocks noGrp="1"/>
          </p:cNvSpPr>
          <p:nvPr/>
        </p:nvSpPr>
        <p:spPr>
          <a:xfrm>
            <a:off x="4305300" y="17716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6</a:t>
            </a:r>
            <a:endParaRPr sz="900" b="0">
              <a:solidFill>
                <a:srgbClr val="172033"/>
              </a:solidFill>
            </a:endParaRPr>
          </a:p>
        </p:txBody>
      </p:sp>
      <p:sp>
        <p:nvSpPr>
          <p:cNvPr id="33" name="矩形 32"/>
          <p:cNvSpPr>
            <a:spLocks noGrp="1"/>
          </p:cNvSpPr>
          <p:nvPr/>
        </p:nvSpPr>
        <p:spPr>
          <a:xfrm>
            <a:off x="5276850" y="1695450"/>
            <a:ext cx="6515100" cy="400050"/>
          </a:xfrm>
          <a:prstGeom prst="rect">
            <a:avLst/>
          </a:prstGeom>
          <a:solidFill>
            <a:srgbClr val="FFFFFF"/>
          </a:solidFill>
          <a:ln w="9525">
            <a:solidFill>
              <a:srgbClr val="D9E6F7"/>
            </a:solidFill>
            <a:prstDash val="solid"/>
          </a:ln>
        </p:spPr>
      </p:sp>
      <p:sp>
        <p:nvSpPr>
          <p:cNvPr id="34" name="矩形 33"/>
          <p:cNvSpPr>
            <a:spLocks noGrp="1"/>
          </p:cNvSpPr>
          <p:nvPr/>
        </p:nvSpPr>
        <p:spPr>
          <a:xfrm>
            <a:off x="5353050" y="177165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三机_前部运输机_平行机头_电机_电压；三机_前部运输机_平行机头_减速器_链轮温度</a:t>
            </a:r>
            <a:endParaRPr sz="900" b="0">
              <a:solidFill>
                <a:srgbClr val="172033"/>
              </a:solidFill>
            </a:endParaRPr>
          </a:p>
        </p:txBody>
      </p:sp>
      <p:sp>
        <p:nvSpPr>
          <p:cNvPr id="35" name="矩形 34"/>
          <p:cNvSpPr>
            <a:spLocks noGrp="1"/>
          </p:cNvSpPr>
          <p:nvPr/>
        </p:nvSpPr>
        <p:spPr>
          <a:xfrm>
            <a:off x="514350" y="2095500"/>
            <a:ext cx="1619250" cy="400050"/>
          </a:xfrm>
          <a:prstGeom prst="rect">
            <a:avLst/>
          </a:prstGeom>
          <a:solidFill>
            <a:srgbClr val="F7FBFF"/>
          </a:solidFill>
          <a:ln w="9525">
            <a:solidFill>
              <a:srgbClr val="D9E6F7"/>
            </a:solidFill>
            <a:prstDash val="solid"/>
          </a:ln>
        </p:spPr>
      </p:sp>
      <p:sp>
        <p:nvSpPr>
          <p:cNvPr id="36" name="矩形 35"/>
          <p:cNvSpPr>
            <a:spLocks noGrp="1"/>
          </p:cNvSpPr>
          <p:nvPr/>
        </p:nvSpPr>
        <p:spPr>
          <a:xfrm>
            <a:off x="590550" y="217170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刮板机/机尾</a:t>
            </a:r>
            <a:endParaRPr sz="900" b="0">
              <a:solidFill>
                <a:srgbClr val="172033"/>
              </a:solidFill>
            </a:endParaRPr>
          </a:p>
        </p:txBody>
      </p:sp>
      <p:sp>
        <p:nvSpPr>
          <p:cNvPr id="37" name="矩形 36"/>
          <p:cNvSpPr>
            <a:spLocks noGrp="1"/>
          </p:cNvSpPr>
          <p:nvPr/>
        </p:nvSpPr>
        <p:spPr>
          <a:xfrm>
            <a:off x="2133600" y="2095500"/>
            <a:ext cx="1047750" cy="400050"/>
          </a:xfrm>
          <a:prstGeom prst="rect">
            <a:avLst/>
          </a:prstGeom>
          <a:solidFill>
            <a:srgbClr val="F7FBFF"/>
          </a:solidFill>
          <a:ln w="9525">
            <a:solidFill>
              <a:srgbClr val="D9E6F7"/>
            </a:solidFill>
            <a:prstDash val="solid"/>
          </a:ln>
        </p:spPr>
      </p:sp>
      <p:sp>
        <p:nvSpPr>
          <p:cNvPr id="38" name="矩形 37"/>
          <p:cNvSpPr>
            <a:spLocks noGrp="1"/>
          </p:cNvSpPr>
          <p:nvPr/>
        </p:nvSpPr>
        <p:spPr>
          <a:xfrm>
            <a:off x="2209800" y="21717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19</a:t>
            </a:r>
            <a:endParaRPr sz="900" b="0">
              <a:solidFill>
                <a:srgbClr val="172033"/>
              </a:solidFill>
            </a:endParaRPr>
          </a:p>
        </p:txBody>
      </p:sp>
      <p:sp>
        <p:nvSpPr>
          <p:cNvPr id="39" name="矩形 38"/>
          <p:cNvSpPr>
            <a:spLocks noGrp="1"/>
          </p:cNvSpPr>
          <p:nvPr/>
        </p:nvSpPr>
        <p:spPr>
          <a:xfrm>
            <a:off x="3181350" y="2095500"/>
            <a:ext cx="1047750" cy="400050"/>
          </a:xfrm>
          <a:prstGeom prst="rect">
            <a:avLst/>
          </a:prstGeom>
          <a:solidFill>
            <a:srgbClr val="F7FBFF"/>
          </a:solidFill>
          <a:ln w="9525">
            <a:solidFill>
              <a:srgbClr val="D9E6F7"/>
            </a:solidFill>
            <a:prstDash val="solid"/>
          </a:ln>
        </p:spPr>
      </p:sp>
      <p:sp>
        <p:nvSpPr>
          <p:cNvPr id="40" name="矩形 39"/>
          <p:cNvSpPr>
            <a:spLocks noGrp="1"/>
          </p:cNvSpPr>
          <p:nvPr/>
        </p:nvSpPr>
        <p:spPr>
          <a:xfrm>
            <a:off x="3257550" y="21717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15</a:t>
            </a:r>
            <a:endParaRPr sz="900" b="0">
              <a:solidFill>
                <a:srgbClr val="172033"/>
              </a:solidFill>
            </a:endParaRPr>
          </a:p>
        </p:txBody>
      </p:sp>
      <p:sp>
        <p:nvSpPr>
          <p:cNvPr id="41" name="矩形 40"/>
          <p:cNvSpPr>
            <a:spLocks noGrp="1"/>
          </p:cNvSpPr>
          <p:nvPr/>
        </p:nvSpPr>
        <p:spPr>
          <a:xfrm>
            <a:off x="4229100" y="2095500"/>
            <a:ext cx="1047750" cy="400050"/>
          </a:xfrm>
          <a:prstGeom prst="rect">
            <a:avLst/>
          </a:prstGeom>
          <a:solidFill>
            <a:srgbClr val="F7FBFF"/>
          </a:solidFill>
          <a:ln w="9525">
            <a:solidFill>
              <a:srgbClr val="D9E6F7"/>
            </a:solidFill>
            <a:prstDash val="solid"/>
          </a:ln>
        </p:spPr>
      </p:sp>
      <p:sp>
        <p:nvSpPr>
          <p:cNvPr id="42" name="矩形 41"/>
          <p:cNvSpPr>
            <a:spLocks noGrp="1"/>
          </p:cNvSpPr>
          <p:nvPr/>
        </p:nvSpPr>
        <p:spPr>
          <a:xfrm>
            <a:off x="4305300" y="21717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6</a:t>
            </a:r>
            <a:endParaRPr sz="900" b="0">
              <a:solidFill>
                <a:srgbClr val="172033"/>
              </a:solidFill>
            </a:endParaRPr>
          </a:p>
        </p:txBody>
      </p:sp>
      <p:sp>
        <p:nvSpPr>
          <p:cNvPr id="43" name="矩形 42"/>
          <p:cNvSpPr>
            <a:spLocks noGrp="1"/>
          </p:cNvSpPr>
          <p:nvPr/>
        </p:nvSpPr>
        <p:spPr>
          <a:xfrm>
            <a:off x="5276850" y="2095500"/>
            <a:ext cx="6515100" cy="400050"/>
          </a:xfrm>
          <a:prstGeom prst="rect">
            <a:avLst/>
          </a:prstGeom>
          <a:solidFill>
            <a:srgbClr val="F7FBFF"/>
          </a:solidFill>
          <a:ln w="9525">
            <a:solidFill>
              <a:srgbClr val="D9E6F7"/>
            </a:solidFill>
            <a:prstDash val="solid"/>
          </a:ln>
        </p:spPr>
      </p:sp>
      <p:sp>
        <p:nvSpPr>
          <p:cNvPr id="44" name="矩形 43"/>
          <p:cNvSpPr>
            <a:spLocks noGrp="1"/>
          </p:cNvSpPr>
          <p:nvPr/>
        </p:nvSpPr>
        <p:spPr>
          <a:xfrm>
            <a:off x="5353050" y="2132965"/>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三机_前部运输机_机尾_电机_电压；三机_前部运输机_机尾_减速器_冷却水_压力；三机_前部运输机_机尾_减速器_油箱_油位；三机_前部运输机_机尾_减速器_油箱_油温</a:t>
            </a:r>
            <a:endParaRPr sz="900" b="0">
              <a:solidFill>
                <a:srgbClr val="172033"/>
              </a:solidFill>
            </a:endParaRPr>
          </a:p>
        </p:txBody>
      </p:sp>
      <p:sp>
        <p:nvSpPr>
          <p:cNvPr id="45" name="矩形 44"/>
          <p:cNvSpPr>
            <a:spLocks noGrp="1"/>
          </p:cNvSpPr>
          <p:nvPr/>
        </p:nvSpPr>
        <p:spPr>
          <a:xfrm>
            <a:off x="514350" y="2495550"/>
            <a:ext cx="1619250" cy="400050"/>
          </a:xfrm>
          <a:prstGeom prst="rect">
            <a:avLst/>
          </a:prstGeom>
          <a:solidFill>
            <a:srgbClr val="FFFFFF"/>
          </a:solidFill>
          <a:ln w="9525">
            <a:solidFill>
              <a:srgbClr val="D9E6F7"/>
            </a:solidFill>
            <a:prstDash val="solid"/>
          </a:ln>
        </p:spPr>
      </p:sp>
      <p:sp>
        <p:nvSpPr>
          <p:cNvPr id="46" name="矩形 45"/>
          <p:cNvSpPr>
            <a:spLocks noGrp="1"/>
          </p:cNvSpPr>
          <p:nvPr/>
        </p:nvSpPr>
        <p:spPr>
          <a:xfrm>
            <a:off x="590550" y="257175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破碎机/冷却水</a:t>
            </a:r>
            <a:endParaRPr sz="900" b="0">
              <a:solidFill>
                <a:srgbClr val="172033"/>
              </a:solidFill>
            </a:endParaRPr>
          </a:p>
        </p:txBody>
      </p:sp>
      <p:sp>
        <p:nvSpPr>
          <p:cNvPr id="47" name="矩形 46"/>
          <p:cNvSpPr>
            <a:spLocks noGrp="1"/>
          </p:cNvSpPr>
          <p:nvPr/>
        </p:nvSpPr>
        <p:spPr>
          <a:xfrm>
            <a:off x="2133600" y="2495550"/>
            <a:ext cx="1047750" cy="400050"/>
          </a:xfrm>
          <a:prstGeom prst="rect">
            <a:avLst/>
          </a:prstGeom>
          <a:solidFill>
            <a:srgbClr val="FFFFFF"/>
          </a:solidFill>
          <a:ln w="9525">
            <a:solidFill>
              <a:srgbClr val="D9E6F7"/>
            </a:solidFill>
            <a:prstDash val="solid"/>
          </a:ln>
        </p:spPr>
      </p:sp>
      <p:sp>
        <p:nvSpPr>
          <p:cNvPr id="48" name="矩形 47"/>
          <p:cNvSpPr>
            <a:spLocks noGrp="1"/>
          </p:cNvSpPr>
          <p:nvPr/>
        </p:nvSpPr>
        <p:spPr>
          <a:xfrm>
            <a:off x="2209800" y="25717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49" name="矩形 48"/>
          <p:cNvSpPr>
            <a:spLocks noGrp="1"/>
          </p:cNvSpPr>
          <p:nvPr/>
        </p:nvSpPr>
        <p:spPr>
          <a:xfrm>
            <a:off x="3181350" y="2495550"/>
            <a:ext cx="1047750" cy="400050"/>
          </a:xfrm>
          <a:prstGeom prst="rect">
            <a:avLst/>
          </a:prstGeom>
          <a:solidFill>
            <a:srgbClr val="FFFFFF"/>
          </a:solidFill>
          <a:ln w="9525">
            <a:solidFill>
              <a:srgbClr val="D9E6F7"/>
            </a:solidFill>
            <a:prstDash val="solid"/>
          </a:ln>
        </p:spPr>
      </p:sp>
      <p:sp>
        <p:nvSpPr>
          <p:cNvPr id="50" name="矩形 49"/>
          <p:cNvSpPr>
            <a:spLocks noGrp="1"/>
          </p:cNvSpPr>
          <p:nvPr/>
        </p:nvSpPr>
        <p:spPr>
          <a:xfrm>
            <a:off x="3257550" y="25717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51" name="矩形 50"/>
          <p:cNvSpPr>
            <a:spLocks noGrp="1"/>
          </p:cNvSpPr>
          <p:nvPr/>
        </p:nvSpPr>
        <p:spPr>
          <a:xfrm>
            <a:off x="4229100" y="2495550"/>
            <a:ext cx="1047750" cy="400050"/>
          </a:xfrm>
          <a:prstGeom prst="rect">
            <a:avLst/>
          </a:prstGeom>
          <a:solidFill>
            <a:srgbClr val="FFFFFF"/>
          </a:solidFill>
          <a:ln w="9525">
            <a:solidFill>
              <a:srgbClr val="D9E6F7"/>
            </a:solidFill>
            <a:prstDash val="solid"/>
          </a:ln>
        </p:spPr>
      </p:sp>
      <p:sp>
        <p:nvSpPr>
          <p:cNvPr id="52" name="矩形 51"/>
          <p:cNvSpPr>
            <a:spLocks noGrp="1"/>
          </p:cNvSpPr>
          <p:nvPr/>
        </p:nvSpPr>
        <p:spPr>
          <a:xfrm>
            <a:off x="4305300" y="25717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53" name="矩形 52"/>
          <p:cNvSpPr>
            <a:spLocks noGrp="1"/>
          </p:cNvSpPr>
          <p:nvPr/>
        </p:nvSpPr>
        <p:spPr>
          <a:xfrm>
            <a:off x="5276850" y="2495550"/>
            <a:ext cx="6515100" cy="400050"/>
          </a:xfrm>
          <a:prstGeom prst="rect">
            <a:avLst/>
          </a:prstGeom>
          <a:solidFill>
            <a:srgbClr val="FFFFFF"/>
          </a:solidFill>
          <a:ln w="9525">
            <a:solidFill>
              <a:srgbClr val="D9E6F7"/>
            </a:solidFill>
            <a:prstDash val="solid"/>
          </a:ln>
        </p:spPr>
      </p:sp>
      <p:sp>
        <p:nvSpPr>
          <p:cNvPr id="54" name="矩形 53"/>
          <p:cNvSpPr>
            <a:spLocks noGrp="1"/>
          </p:cNvSpPr>
          <p:nvPr/>
        </p:nvSpPr>
        <p:spPr>
          <a:xfrm>
            <a:off x="5353050" y="257175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55" name="矩形 54"/>
          <p:cNvSpPr>
            <a:spLocks noGrp="1"/>
          </p:cNvSpPr>
          <p:nvPr/>
        </p:nvSpPr>
        <p:spPr>
          <a:xfrm>
            <a:off x="514350" y="2895600"/>
            <a:ext cx="1619250" cy="400050"/>
          </a:xfrm>
          <a:prstGeom prst="rect">
            <a:avLst/>
          </a:prstGeom>
          <a:solidFill>
            <a:srgbClr val="F7FBFF"/>
          </a:solidFill>
          <a:ln w="9525">
            <a:solidFill>
              <a:srgbClr val="D9E6F7"/>
            </a:solidFill>
            <a:prstDash val="solid"/>
          </a:ln>
        </p:spPr>
      </p:sp>
      <p:sp>
        <p:nvSpPr>
          <p:cNvPr id="56" name="矩形 55"/>
          <p:cNvSpPr>
            <a:spLocks noGrp="1"/>
          </p:cNvSpPr>
          <p:nvPr/>
        </p:nvSpPr>
        <p:spPr>
          <a:xfrm>
            <a:off x="590550" y="297180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破碎机/油箱</a:t>
            </a:r>
            <a:endParaRPr sz="900" b="0">
              <a:solidFill>
                <a:srgbClr val="172033"/>
              </a:solidFill>
            </a:endParaRPr>
          </a:p>
        </p:txBody>
      </p:sp>
      <p:sp>
        <p:nvSpPr>
          <p:cNvPr id="57" name="矩形 56"/>
          <p:cNvSpPr>
            <a:spLocks noGrp="1"/>
          </p:cNvSpPr>
          <p:nvPr/>
        </p:nvSpPr>
        <p:spPr>
          <a:xfrm>
            <a:off x="2133600" y="2895600"/>
            <a:ext cx="1047750" cy="400050"/>
          </a:xfrm>
          <a:prstGeom prst="rect">
            <a:avLst/>
          </a:prstGeom>
          <a:solidFill>
            <a:srgbClr val="F7FBFF"/>
          </a:solidFill>
          <a:ln w="9525">
            <a:solidFill>
              <a:srgbClr val="D9E6F7"/>
            </a:solidFill>
            <a:prstDash val="solid"/>
          </a:ln>
        </p:spPr>
      </p:sp>
      <p:sp>
        <p:nvSpPr>
          <p:cNvPr id="58" name="矩形 57"/>
          <p:cNvSpPr>
            <a:spLocks noGrp="1"/>
          </p:cNvSpPr>
          <p:nvPr/>
        </p:nvSpPr>
        <p:spPr>
          <a:xfrm>
            <a:off x="2209800" y="29718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2</a:t>
            </a:r>
            <a:endParaRPr sz="900" b="0">
              <a:solidFill>
                <a:srgbClr val="172033"/>
              </a:solidFill>
            </a:endParaRPr>
          </a:p>
        </p:txBody>
      </p:sp>
      <p:sp>
        <p:nvSpPr>
          <p:cNvPr id="59" name="矩形 58"/>
          <p:cNvSpPr>
            <a:spLocks noGrp="1"/>
          </p:cNvSpPr>
          <p:nvPr/>
        </p:nvSpPr>
        <p:spPr>
          <a:xfrm>
            <a:off x="3181350" y="2895600"/>
            <a:ext cx="1047750" cy="400050"/>
          </a:xfrm>
          <a:prstGeom prst="rect">
            <a:avLst/>
          </a:prstGeom>
          <a:solidFill>
            <a:srgbClr val="F7FBFF"/>
          </a:solidFill>
          <a:ln w="9525">
            <a:solidFill>
              <a:srgbClr val="D9E6F7"/>
            </a:solidFill>
            <a:prstDash val="solid"/>
          </a:ln>
        </p:spPr>
      </p:sp>
      <p:sp>
        <p:nvSpPr>
          <p:cNvPr id="60" name="矩形 59"/>
          <p:cNvSpPr>
            <a:spLocks noGrp="1"/>
          </p:cNvSpPr>
          <p:nvPr/>
        </p:nvSpPr>
        <p:spPr>
          <a:xfrm>
            <a:off x="3257550" y="29718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2</a:t>
            </a:r>
            <a:endParaRPr sz="900" b="0">
              <a:solidFill>
                <a:srgbClr val="172033"/>
              </a:solidFill>
            </a:endParaRPr>
          </a:p>
        </p:txBody>
      </p:sp>
      <p:sp>
        <p:nvSpPr>
          <p:cNvPr id="61" name="矩形 60"/>
          <p:cNvSpPr>
            <a:spLocks noGrp="1"/>
          </p:cNvSpPr>
          <p:nvPr/>
        </p:nvSpPr>
        <p:spPr>
          <a:xfrm>
            <a:off x="4229100" y="2895600"/>
            <a:ext cx="1047750" cy="400050"/>
          </a:xfrm>
          <a:prstGeom prst="rect">
            <a:avLst/>
          </a:prstGeom>
          <a:solidFill>
            <a:srgbClr val="F7FBFF"/>
          </a:solidFill>
          <a:ln w="9525">
            <a:solidFill>
              <a:srgbClr val="D9E6F7"/>
            </a:solidFill>
            <a:prstDash val="solid"/>
          </a:ln>
        </p:spPr>
      </p:sp>
      <p:sp>
        <p:nvSpPr>
          <p:cNvPr id="62" name="矩形 61"/>
          <p:cNvSpPr>
            <a:spLocks noGrp="1"/>
          </p:cNvSpPr>
          <p:nvPr/>
        </p:nvSpPr>
        <p:spPr>
          <a:xfrm>
            <a:off x="4305300" y="29718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63" name="矩形 62"/>
          <p:cNvSpPr>
            <a:spLocks noGrp="1"/>
          </p:cNvSpPr>
          <p:nvPr/>
        </p:nvSpPr>
        <p:spPr>
          <a:xfrm>
            <a:off x="5276850" y="2895600"/>
            <a:ext cx="6515100" cy="400050"/>
          </a:xfrm>
          <a:prstGeom prst="rect">
            <a:avLst/>
          </a:prstGeom>
          <a:solidFill>
            <a:srgbClr val="F7FBFF"/>
          </a:solidFill>
          <a:ln w="9525">
            <a:solidFill>
              <a:srgbClr val="D9E6F7"/>
            </a:solidFill>
            <a:prstDash val="solid"/>
          </a:ln>
        </p:spPr>
      </p:sp>
      <p:sp>
        <p:nvSpPr>
          <p:cNvPr id="64" name="矩形 63"/>
          <p:cNvSpPr>
            <a:spLocks noGrp="1"/>
          </p:cNvSpPr>
          <p:nvPr/>
        </p:nvSpPr>
        <p:spPr>
          <a:xfrm>
            <a:off x="5353050" y="297180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65" name="矩形 64"/>
          <p:cNvSpPr>
            <a:spLocks noGrp="1"/>
          </p:cNvSpPr>
          <p:nvPr/>
        </p:nvSpPr>
        <p:spPr>
          <a:xfrm>
            <a:off x="514350" y="3295650"/>
            <a:ext cx="1619250" cy="400050"/>
          </a:xfrm>
          <a:prstGeom prst="rect">
            <a:avLst/>
          </a:prstGeom>
          <a:solidFill>
            <a:srgbClr val="FFFFFF"/>
          </a:solidFill>
          <a:ln w="9525">
            <a:solidFill>
              <a:srgbClr val="D9E6F7"/>
            </a:solidFill>
            <a:prstDash val="solid"/>
          </a:ln>
        </p:spPr>
      </p:sp>
      <p:sp>
        <p:nvSpPr>
          <p:cNvPr id="66" name="矩形 65"/>
          <p:cNvSpPr>
            <a:spLocks noGrp="1"/>
          </p:cNvSpPr>
          <p:nvPr/>
        </p:nvSpPr>
        <p:spPr>
          <a:xfrm>
            <a:off x="590550" y="337185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破碎机/温度</a:t>
            </a:r>
            <a:endParaRPr sz="900" b="0">
              <a:solidFill>
                <a:srgbClr val="172033"/>
              </a:solidFill>
            </a:endParaRPr>
          </a:p>
        </p:txBody>
      </p:sp>
      <p:sp>
        <p:nvSpPr>
          <p:cNvPr id="67" name="矩形 66"/>
          <p:cNvSpPr>
            <a:spLocks noGrp="1"/>
          </p:cNvSpPr>
          <p:nvPr/>
        </p:nvSpPr>
        <p:spPr>
          <a:xfrm>
            <a:off x="2133600" y="3295650"/>
            <a:ext cx="1047750" cy="400050"/>
          </a:xfrm>
          <a:prstGeom prst="rect">
            <a:avLst/>
          </a:prstGeom>
          <a:solidFill>
            <a:srgbClr val="FFFFFF"/>
          </a:solidFill>
          <a:ln w="9525">
            <a:solidFill>
              <a:srgbClr val="D9E6F7"/>
            </a:solidFill>
            <a:prstDash val="solid"/>
          </a:ln>
        </p:spPr>
      </p:sp>
      <p:sp>
        <p:nvSpPr>
          <p:cNvPr id="68" name="矩形 67"/>
          <p:cNvSpPr>
            <a:spLocks noGrp="1"/>
          </p:cNvSpPr>
          <p:nvPr/>
        </p:nvSpPr>
        <p:spPr>
          <a:xfrm>
            <a:off x="2209800" y="33718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69" name="矩形 68"/>
          <p:cNvSpPr>
            <a:spLocks noGrp="1"/>
          </p:cNvSpPr>
          <p:nvPr/>
        </p:nvSpPr>
        <p:spPr>
          <a:xfrm>
            <a:off x="3181350" y="3295650"/>
            <a:ext cx="1047750" cy="400050"/>
          </a:xfrm>
          <a:prstGeom prst="rect">
            <a:avLst/>
          </a:prstGeom>
          <a:solidFill>
            <a:srgbClr val="FFFFFF"/>
          </a:solidFill>
          <a:ln w="9525">
            <a:solidFill>
              <a:srgbClr val="D9E6F7"/>
            </a:solidFill>
            <a:prstDash val="solid"/>
          </a:ln>
        </p:spPr>
      </p:sp>
      <p:sp>
        <p:nvSpPr>
          <p:cNvPr id="70" name="矩形 69"/>
          <p:cNvSpPr>
            <a:spLocks noGrp="1"/>
          </p:cNvSpPr>
          <p:nvPr/>
        </p:nvSpPr>
        <p:spPr>
          <a:xfrm>
            <a:off x="3257550" y="33718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71" name="矩形 70"/>
          <p:cNvSpPr>
            <a:spLocks noGrp="1"/>
          </p:cNvSpPr>
          <p:nvPr/>
        </p:nvSpPr>
        <p:spPr>
          <a:xfrm>
            <a:off x="4229100" y="3295650"/>
            <a:ext cx="1047750" cy="400050"/>
          </a:xfrm>
          <a:prstGeom prst="rect">
            <a:avLst/>
          </a:prstGeom>
          <a:solidFill>
            <a:srgbClr val="FFFFFF"/>
          </a:solidFill>
          <a:ln w="9525">
            <a:solidFill>
              <a:srgbClr val="D9E6F7"/>
            </a:solidFill>
            <a:prstDash val="solid"/>
          </a:ln>
        </p:spPr>
      </p:sp>
      <p:sp>
        <p:nvSpPr>
          <p:cNvPr id="72" name="矩形 71"/>
          <p:cNvSpPr>
            <a:spLocks noGrp="1"/>
          </p:cNvSpPr>
          <p:nvPr/>
        </p:nvSpPr>
        <p:spPr>
          <a:xfrm>
            <a:off x="4305300" y="33718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3</a:t>
            </a:r>
            <a:endParaRPr sz="900" b="0">
              <a:solidFill>
                <a:srgbClr val="172033"/>
              </a:solidFill>
            </a:endParaRPr>
          </a:p>
        </p:txBody>
      </p:sp>
      <p:sp>
        <p:nvSpPr>
          <p:cNvPr id="73" name="矩形 72"/>
          <p:cNvSpPr>
            <a:spLocks noGrp="1"/>
          </p:cNvSpPr>
          <p:nvPr/>
        </p:nvSpPr>
        <p:spPr>
          <a:xfrm>
            <a:off x="5276850" y="3295650"/>
            <a:ext cx="6515100" cy="400050"/>
          </a:xfrm>
          <a:prstGeom prst="rect">
            <a:avLst/>
          </a:prstGeom>
          <a:solidFill>
            <a:srgbClr val="FFFFFF"/>
          </a:solidFill>
          <a:ln w="9525">
            <a:solidFill>
              <a:srgbClr val="D9E6F7"/>
            </a:solidFill>
            <a:prstDash val="solid"/>
          </a:ln>
        </p:spPr>
      </p:sp>
      <p:sp>
        <p:nvSpPr>
          <p:cNvPr id="74" name="矩形 73"/>
          <p:cNvSpPr>
            <a:spLocks noGrp="1"/>
          </p:cNvSpPr>
          <p:nvPr/>
        </p:nvSpPr>
        <p:spPr>
          <a:xfrm>
            <a:off x="5353050" y="337185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75" name="矩形 74"/>
          <p:cNvSpPr>
            <a:spLocks noGrp="1"/>
          </p:cNvSpPr>
          <p:nvPr/>
        </p:nvSpPr>
        <p:spPr>
          <a:xfrm>
            <a:off x="514350" y="3695700"/>
            <a:ext cx="1619250" cy="400050"/>
          </a:xfrm>
          <a:prstGeom prst="rect">
            <a:avLst/>
          </a:prstGeom>
          <a:solidFill>
            <a:srgbClr val="F7FBFF"/>
          </a:solidFill>
          <a:ln w="9525">
            <a:solidFill>
              <a:srgbClr val="D9E6F7"/>
            </a:solidFill>
            <a:prstDash val="solid"/>
          </a:ln>
        </p:spPr>
      </p:sp>
      <p:sp>
        <p:nvSpPr>
          <p:cNvPr id="76" name="矩形 75"/>
          <p:cNvSpPr>
            <a:spLocks noGrp="1"/>
          </p:cNvSpPr>
          <p:nvPr/>
        </p:nvSpPr>
        <p:spPr>
          <a:xfrm>
            <a:off x="590550" y="377190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破碎机/振动</a:t>
            </a:r>
            <a:endParaRPr sz="900" b="0">
              <a:solidFill>
                <a:srgbClr val="172033"/>
              </a:solidFill>
            </a:endParaRPr>
          </a:p>
        </p:txBody>
      </p:sp>
      <p:sp>
        <p:nvSpPr>
          <p:cNvPr id="77" name="矩形 76"/>
          <p:cNvSpPr>
            <a:spLocks noGrp="1"/>
          </p:cNvSpPr>
          <p:nvPr/>
        </p:nvSpPr>
        <p:spPr>
          <a:xfrm>
            <a:off x="2133600" y="3695700"/>
            <a:ext cx="1047750" cy="400050"/>
          </a:xfrm>
          <a:prstGeom prst="rect">
            <a:avLst/>
          </a:prstGeom>
          <a:solidFill>
            <a:srgbClr val="F7FBFF"/>
          </a:solidFill>
          <a:ln w="9525">
            <a:solidFill>
              <a:srgbClr val="D9E6F7"/>
            </a:solidFill>
            <a:prstDash val="solid"/>
          </a:ln>
        </p:spPr>
      </p:sp>
      <p:sp>
        <p:nvSpPr>
          <p:cNvPr id="78" name="矩形 77"/>
          <p:cNvSpPr>
            <a:spLocks noGrp="1"/>
          </p:cNvSpPr>
          <p:nvPr/>
        </p:nvSpPr>
        <p:spPr>
          <a:xfrm>
            <a:off x="2209800" y="37719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2</a:t>
            </a:r>
            <a:endParaRPr sz="900" b="0">
              <a:solidFill>
                <a:srgbClr val="172033"/>
              </a:solidFill>
            </a:endParaRPr>
          </a:p>
        </p:txBody>
      </p:sp>
      <p:sp>
        <p:nvSpPr>
          <p:cNvPr id="79" name="矩形 78"/>
          <p:cNvSpPr>
            <a:spLocks noGrp="1"/>
          </p:cNvSpPr>
          <p:nvPr/>
        </p:nvSpPr>
        <p:spPr>
          <a:xfrm>
            <a:off x="3181350" y="3695700"/>
            <a:ext cx="1047750" cy="400050"/>
          </a:xfrm>
          <a:prstGeom prst="rect">
            <a:avLst/>
          </a:prstGeom>
          <a:solidFill>
            <a:srgbClr val="F7FBFF"/>
          </a:solidFill>
          <a:ln w="9525">
            <a:solidFill>
              <a:srgbClr val="D9E6F7"/>
            </a:solidFill>
            <a:prstDash val="solid"/>
          </a:ln>
        </p:spPr>
      </p:sp>
      <p:sp>
        <p:nvSpPr>
          <p:cNvPr id="80" name="矩形 79"/>
          <p:cNvSpPr>
            <a:spLocks noGrp="1"/>
          </p:cNvSpPr>
          <p:nvPr/>
        </p:nvSpPr>
        <p:spPr>
          <a:xfrm>
            <a:off x="3257550" y="37719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2</a:t>
            </a:r>
            <a:endParaRPr sz="900" b="0">
              <a:solidFill>
                <a:srgbClr val="172033"/>
              </a:solidFill>
            </a:endParaRPr>
          </a:p>
        </p:txBody>
      </p:sp>
      <p:sp>
        <p:nvSpPr>
          <p:cNvPr id="81" name="矩形 80"/>
          <p:cNvSpPr>
            <a:spLocks noGrp="1"/>
          </p:cNvSpPr>
          <p:nvPr/>
        </p:nvSpPr>
        <p:spPr>
          <a:xfrm>
            <a:off x="4229100" y="3695700"/>
            <a:ext cx="1047750" cy="400050"/>
          </a:xfrm>
          <a:prstGeom prst="rect">
            <a:avLst/>
          </a:prstGeom>
          <a:solidFill>
            <a:srgbClr val="F7FBFF"/>
          </a:solidFill>
          <a:ln w="9525">
            <a:solidFill>
              <a:srgbClr val="D9E6F7"/>
            </a:solidFill>
            <a:prstDash val="solid"/>
          </a:ln>
        </p:spPr>
      </p:sp>
      <p:sp>
        <p:nvSpPr>
          <p:cNvPr id="82" name="矩形 81"/>
          <p:cNvSpPr>
            <a:spLocks noGrp="1"/>
          </p:cNvSpPr>
          <p:nvPr/>
        </p:nvSpPr>
        <p:spPr>
          <a:xfrm>
            <a:off x="4305300" y="37719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2</a:t>
            </a:r>
            <a:endParaRPr sz="900" b="0">
              <a:solidFill>
                <a:srgbClr val="172033"/>
              </a:solidFill>
            </a:endParaRPr>
          </a:p>
        </p:txBody>
      </p:sp>
      <p:sp>
        <p:nvSpPr>
          <p:cNvPr id="83" name="矩形 82"/>
          <p:cNvSpPr>
            <a:spLocks noGrp="1"/>
          </p:cNvSpPr>
          <p:nvPr/>
        </p:nvSpPr>
        <p:spPr>
          <a:xfrm>
            <a:off x="5276850" y="3695700"/>
            <a:ext cx="6515100" cy="400050"/>
          </a:xfrm>
          <a:prstGeom prst="rect">
            <a:avLst/>
          </a:prstGeom>
          <a:solidFill>
            <a:srgbClr val="F7FBFF"/>
          </a:solidFill>
          <a:ln w="9525">
            <a:solidFill>
              <a:srgbClr val="D9E6F7"/>
            </a:solidFill>
            <a:prstDash val="solid"/>
          </a:ln>
        </p:spPr>
      </p:sp>
      <p:sp>
        <p:nvSpPr>
          <p:cNvPr id="84" name="矩形 83"/>
          <p:cNvSpPr>
            <a:spLocks noGrp="1"/>
          </p:cNvSpPr>
          <p:nvPr/>
        </p:nvSpPr>
        <p:spPr>
          <a:xfrm>
            <a:off x="5353050" y="377190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85" name="矩形 84"/>
          <p:cNvSpPr>
            <a:spLocks noGrp="1"/>
          </p:cNvSpPr>
          <p:nvPr/>
        </p:nvSpPr>
        <p:spPr>
          <a:xfrm>
            <a:off x="514350" y="4095750"/>
            <a:ext cx="1619250" cy="400050"/>
          </a:xfrm>
          <a:prstGeom prst="rect">
            <a:avLst/>
          </a:prstGeom>
          <a:solidFill>
            <a:srgbClr val="FFFFFF"/>
          </a:solidFill>
          <a:ln w="9525">
            <a:solidFill>
              <a:srgbClr val="D9E6F7"/>
            </a:solidFill>
            <a:prstDash val="solid"/>
          </a:ln>
        </p:spPr>
      </p:sp>
      <p:sp>
        <p:nvSpPr>
          <p:cNvPr id="86" name="矩形 85"/>
          <p:cNvSpPr>
            <a:spLocks noGrp="1"/>
          </p:cNvSpPr>
          <p:nvPr/>
        </p:nvSpPr>
        <p:spPr>
          <a:xfrm>
            <a:off x="590550" y="417195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破碎机/通信</a:t>
            </a:r>
            <a:endParaRPr sz="900" b="0">
              <a:solidFill>
                <a:srgbClr val="172033"/>
              </a:solidFill>
            </a:endParaRPr>
          </a:p>
        </p:txBody>
      </p:sp>
      <p:sp>
        <p:nvSpPr>
          <p:cNvPr id="87" name="矩形 86"/>
          <p:cNvSpPr>
            <a:spLocks noGrp="1"/>
          </p:cNvSpPr>
          <p:nvPr/>
        </p:nvSpPr>
        <p:spPr>
          <a:xfrm>
            <a:off x="2133600" y="4095750"/>
            <a:ext cx="1047750" cy="400050"/>
          </a:xfrm>
          <a:prstGeom prst="rect">
            <a:avLst/>
          </a:prstGeom>
          <a:solidFill>
            <a:srgbClr val="FFFFFF"/>
          </a:solidFill>
          <a:ln w="9525">
            <a:solidFill>
              <a:srgbClr val="D9E6F7"/>
            </a:solidFill>
            <a:prstDash val="solid"/>
          </a:ln>
        </p:spPr>
      </p:sp>
      <p:sp>
        <p:nvSpPr>
          <p:cNvPr id="88" name="矩形 87"/>
          <p:cNvSpPr>
            <a:spLocks noGrp="1"/>
          </p:cNvSpPr>
          <p:nvPr/>
        </p:nvSpPr>
        <p:spPr>
          <a:xfrm>
            <a:off x="2209800" y="41719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89" name="矩形 88"/>
          <p:cNvSpPr>
            <a:spLocks noGrp="1"/>
          </p:cNvSpPr>
          <p:nvPr/>
        </p:nvSpPr>
        <p:spPr>
          <a:xfrm>
            <a:off x="3181350" y="4095750"/>
            <a:ext cx="1047750" cy="400050"/>
          </a:xfrm>
          <a:prstGeom prst="rect">
            <a:avLst/>
          </a:prstGeom>
          <a:solidFill>
            <a:srgbClr val="FFFFFF"/>
          </a:solidFill>
          <a:ln w="9525">
            <a:solidFill>
              <a:srgbClr val="D9E6F7"/>
            </a:solidFill>
            <a:prstDash val="solid"/>
          </a:ln>
        </p:spPr>
      </p:sp>
      <p:sp>
        <p:nvSpPr>
          <p:cNvPr id="90" name="矩形 89"/>
          <p:cNvSpPr>
            <a:spLocks noGrp="1"/>
          </p:cNvSpPr>
          <p:nvPr/>
        </p:nvSpPr>
        <p:spPr>
          <a:xfrm>
            <a:off x="3257550" y="41719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91" name="矩形 90"/>
          <p:cNvSpPr>
            <a:spLocks noGrp="1"/>
          </p:cNvSpPr>
          <p:nvPr/>
        </p:nvSpPr>
        <p:spPr>
          <a:xfrm>
            <a:off x="4229100" y="4095750"/>
            <a:ext cx="1047750" cy="400050"/>
          </a:xfrm>
          <a:prstGeom prst="rect">
            <a:avLst/>
          </a:prstGeom>
          <a:solidFill>
            <a:srgbClr val="FFFFFF"/>
          </a:solidFill>
          <a:ln w="9525">
            <a:solidFill>
              <a:srgbClr val="D9E6F7"/>
            </a:solidFill>
            <a:prstDash val="solid"/>
          </a:ln>
        </p:spPr>
      </p:sp>
      <p:sp>
        <p:nvSpPr>
          <p:cNvPr id="92" name="矩形 91"/>
          <p:cNvSpPr>
            <a:spLocks noGrp="1"/>
          </p:cNvSpPr>
          <p:nvPr/>
        </p:nvSpPr>
        <p:spPr>
          <a:xfrm>
            <a:off x="4305300" y="417195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0</a:t>
            </a:r>
            <a:endParaRPr sz="900" b="0">
              <a:solidFill>
                <a:srgbClr val="172033"/>
              </a:solidFill>
            </a:endParaRPr>
          </a:p>
        </p:txBody>
      </p:sp>
      <p:sp>
        <p:nvSpPr>
          <p:cNvPr id="93" name="矩形 92"/>
          <p:cNvSpPr>
            <a:spLocks noGrp="1"/>
          </p:cNvSpPr>
          <p:nvPr/>
        </p:nvSpPr>
        <p:spPr>
          <a:xfrm>
            <a:off x="5276850" y="4095750"/>
            <a:ext cx="6515100" cy="400050"/>
          </a:xfrm>
          <a:prstGeom prst="rect">
            <a:avLst/>
          </a:prstGeom>
          <a:solidFill>
            <a:srgbClr val="FFFFFF"/>
          </a:solidFill>
          <a:ln w="9525">
            <a:solidFill>
              <a:srgbClr val="D9E6F7"/>
            </a:solidFill>
            <a:prstDash val="solid"/>
          </a:ln>
        </p:spPr>
      </p:sp>
      <p:sp>
        <p:nvSpPr>
          <p:cNvPr id="94" name="矩形 93"/>
          <p:cNvSpPr>
            <a:spLocks noGrp="1"/>
          </p:cNvSpPr>
          <p:nvPr/>
        </p:nvSpPr>
        <p:spPr>
          <a:xfrm>
            <a:off x="5353050" y="417195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95" name="矩形 94"/>
          <p:cNvSpPr>
            <a:spLocks noGrp="1"/>
          </p:cNvSpPr>
          <p:nvPr/>
        </p:nvSpPr>
        <p:spPr>
          <a:xfrm>
            <a:off x="514350" y="4495800"/>
            <a:ext cx="1619250" cy="400050"/>
          </a:xfrm>
          <a:prstGeom prst="rect">
            <a:avLst/>
          </a:prstGeom>
          <a:solidFill>
            <a:srgbClr val="F7FBFF"/>
          </a:solidFill>
          <a:ln w="9525">
            <a:solidFill>
              <a:srgbClr val="D9E6F7"/>
            </a:solidFill>
            <a:prstDash val="solid"/>
          </a:ln>
        </p:spPr>
      </p:sp>
      <p:sp>
        <p:nvSpPr>
          <p:cNvPr id="96" name="矩形 95"/>
          <p:cNvSpPr>
            <a:spLocks noGrp="1"/>
          </p:cNvSpPr>
          <p:nvPr/>
        </p:nvSpPr>
        <p:spPr>
          <a:xfrm>
            <a:off x="590550" y="4572000"/>
            <a:ext cx="14668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破碎机/整机状态</a:t>
            </a:r>
            <a:endParaRPr sz="900" b="0">
              <a:solidFill>
                <a:srgbClr val="172033"/>
              </a:solidFill>
            </a:endParaRPr>
          </a:p>
        </p:txBody>
      </p:sp>
      <p:sp>
        <p:nvSpPr>
          <p:cNvPr id="97" name="矩形 96"/>
          <p:cNvSpPr>
            <a:spLocks noGrp="1"/>
          </p:cNvSpPr>
          <p:nvPr/>
        </p:nvSpPr>
        <p:spPr>
          <a:xfrm>
            <a:off x="2133600" y="4495800"/>
            <a:ext cx="1047750" cy="400050"/>
          </a:xfrm>
          <a:prstGeom prst="rect">
            <a:avLst/>
          </a:prstGeom>
          <a:solidFill>
            <a:srgbClr val="F7FBFF"/>
          </a:solidFill>
          <a:ln w="9525">
            <a:solidFill>
              <a:srgbClr val="D9E6F7"/>
            </a:solidFill>
            <a:prstDash val="solid"/>
          </a:ln>
        </p:spPr>
      </p:sp>
      <p:sp>
        <p:nvSpPr>
          <p:cNvPr id="98" name="矩形 97"/>
          <p:cNvSpPr>
            <a:spLocks noGrp="1"/>
          </p:cNvSpPr>
          <p:nvPr/>
        </p:nvSpPr>
        <p:spPr>
          <a:xfrm>
            <a:off x="2209800" y="45720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99" name="矩形 98"/>
          <p:cNvSpPr>
            <a:spLocks noGrp="1"/>
          </p:cNvSpPr>
          <p:nvPr/>
        </p:nvSpPr>
        <p:spPr>
          <a:xfrm>
            <a:off x="3181350" y="4495800"/>
            <a:ext cx="1047750" cy="400050"/>
          </a:xfrm>
          <a:prstGeom prst="rect">
            <a:avLst/>
          </a:prstGeom>
          <a:solidFill>
            <a:srgbClr val="F7FBFF"/>
          </a:solidFill>
          <a:ln w="9525">
            <a:solidFill>
              <a:srgbClr val="D9E6F7"/>
            </a:solidFill>
            <a:prstDash val="solid"/>
          </a:ln>
        </p:spPr>
      </p:sp>
      <p:sp>
        <p:nvSpPr>
          <p:cNvPr id="100" name="矩形 99"/>
          <p:cNvSpPr>
            <a:spLocks noGrp="1"/>
          </p:cNvSpPr>
          <p:nvPr/>
        </p:nvSpPr>
        <p:spPr>
          <a:xfrm>
            <a:off x="3257550" y="45720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101" name="矩形 100"/>
          <p:cNvSpPr>
            <a:spLocks noGrp="1"/>
          </p:cNvSpPr>
          <p:nvPr/>
        </p:nvSpPr>
        <p:spPr>
          <a:xfrm>
            <a:off x="4229100" y="4495800"/>
            <a:ext cx="1047750" cy="400050"/>
          </a:xfrm>
          <a:prstGeom prst="rect">
            <a:avLst/>
          </a:prstGeom>
          <a:solidFill>
            <a:srgbClr val="F7FBFF"/>
          </a:solidFill>
          <a:ln w="9525">
            <a:solidFill>
              <a:srgbClr val="D9E6F7"/>
            </a:solidFill>
            <a:prstDash val="solid"/>
          </a:ln>
        </p:spPr>
      </p:sp>
      <p:sp>
        <p:nvSpPr>
          <p:cNvPr id="102" name="矩形 101"/>
          <p:cNvSpPr>
            <a:spLocks noGrp="1"/>
          </p:cNvSpPr>
          <p:nvPr/>
        </p:nvSpPr>
        <p:spPr>
          <a:xfrm>
            <a:off x="4305300" y="4572000"/>
            <a:ext cx="89535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1</a:t>
            </a:r>
            <a:endParaRPr sz="900" b="0">
              <a:solidFill>
                <a:srgbClr val="172033"/>
              </a:solidFill>
            </a:endParaRPr>
          </a:p>
        </p:txBody>
      </p:sp>
      <p:sp>
        <p:nvSpPr>
          <p:cNvPr id="103" name="矩形 102"/>
          <p:cNvSpPr>
            <a:spLocks noGrp="1"/>
          </p:cNvSpPr>
          <p:nvPr/>
        </p:nvSpPr>
        <p:spPr>
          <a:xfrm>
            <a:off x="5276850" y="4495800"/>
            <a:ext cx="6515100" cy="400050"/>
          </a:xfrm>
          <a:prstGeom prst="rect">
            <a:avLst/>
          </a:prstGeom>
          <a:solidFill>
            <a:srgbClr val="F7FBFF"/>
          </a:solidFill>
          <a:ln w="9525">
            <a:solidFill>
              <a:srgbClr val="D9E6F7"/>
            </a:solidFill>
            <a:prstDash val="solid"/>
          </a:ln>
        </p:spPr>
      </p:sp>
      <p:sp>
        <p:nvSpPr>
          <p:cNvPr id="104" name="矩形 103"/>
          <p:cNvSpPr>
            <a:spLocks noGrp="1"/>
          </p:cNvSpPr>
          <p:nvPr/>
        </p:nvSpPr>
        <p:spPr>
          <a:xfrm>
            <a:off x="5353050" y="4572000"/>
            <a:ext cx="6362700" cy="304800"/>
          </a:xfrm>
          <a:prstGeom prst="rect">
            <a:avLst/>
          </a:prstGeom>
          <a:noFill/>
          <a:ln w="0">
            <a:noFill/>
            <a:prstDash val="solid"/>
          </a:ln>
        </p:spPr>
        <p:txBody>
          <a:bodyPr/>
          <a:lstStyle/>
          <a:p>
            <a:pPr algn="l">
              <a:defRPr sz="900" b="0">
                <a:solidFill>
                  <a:srgbClr val="172033"/>
                </a:solidFill>
              </a:defRPr>
            </a:pPr>
            <a:r>
              <a:rPr sz="900" b="0">
                <a:solidFill>
                  <a:srgbClr val="172033"/>
                </a:solidFill>
              </a:rPr>
              <a:t>无</a:t>
            </a:r>
            <a:endParaRPr sz="900" b="0">
              <a:solidFill>
                <a:srgbClr val="172033"/>
              </a:solidFill>
            </a:endParaRPr>
          </a:p>
        </p:txBody>
      </p:sp>
      <p:sp>
        <p:nvSpPr>
          <p:cNvPr id="105" name="圆角矩形 104"/>
          <p:cNvSpPr>
            <a:spLocks noGrp="1"/>
          </p:cNvSpPr>
          <p:nvPr/>
        </p:nvSpPr>
        <p:spPr>
          <a:xfrm>
            <a:off x="695325" y="5229225"/>
            <a:ext cx="10340340" cy="887095"/>
          </a:xfrm>
          <a:prstGeom prst="roundRect">
            <a:avLst>
              <a:gd name="adj" fmla="val 14815"/>
            </a:avLst>
          </a:prstGeom>
          <a:solidFill>
            <a:srgbClr val="EAF3FF"/>
          </a:solidFill>
          <a:ln w="9525">
            <a:solidFill>
              <a:srgbClr val="CFE0F5"/>
            </a:solidFill>
            <a:prstDash val="solid"/>
          </a:ln>
        </p:spPr>
      </p:sp>
      <p:sp>
        <p:nvSpPr>
          <p:cNvPr id="106" name="矩形 105"/>
          <p:cNvSpPr>
            <a:spLocks noGrp="1"/>
          </p:cNvSpPr>
          <p:nvPr/>
        </p:nvSpPr>
        <p:spPr>
          <a:xfrm>
            <a:off x="839470" y="5343525"/>
            <a:ext cx="9932670" cy="695960"/>
          </a:xfrm>
          <a:prstGeom prst="rect">
            <a:avLst/>
          </a:prstGeom>
          <a:noFill/>
          <a:ln w="0">
            <a:noFill/>
            <a:prstDash val="solid"/>
          </a:ln>
        </p:spPr>
        <p:txBody>
          <a:bodyPr/>
          <a:lstStyle/>
          <a:p>
            <a:pPr algn="l">
              <a:defRPr sz="1200" b="0">
                <a:solidFill>
                  <a:srgbClr val="172033"/>
                </a:solidFill>
              </a:defRPr>
            </a:pPr>
            <a:r>
              <a:rPr lang="zh-CN" altLang="en-US" sz="1600" b="0">
                <a:solidFill>
                  <a:srgbClr val="172033"/>
                </a:solidFill>
                <a:latin typeface="微软雅黑" panose="020B0503020204020204" charset="-122"/>
                <a:ea typeface="微软雅黑" panose="020B0503020204020204" charset="-122"/>
              </a:rPr>
              <a:t>刮板机优先选择三部位共同存在、物理含义明确的电流、转矩、转速、</a:t>
            </a:r>
            <a:r>
              <a:rPr lang="en-US" altLang="zh-CN" sz="1600" b="0">
                <a:solidFill>
                  <a:srgbClr val="172033"/>
                </a:solidFill>
                <a:latin typeface="微软雅黑" panose="020B0503020204020204" charset="-122"/>
                <a:ea typeface="微软雅黑" panose="020B0503020204020204" charset="-122"/>
              </a:rPr>
              <a:t>IGBT </a:t>
            </a:r>
            <a:r>
              <a:rPr lang="zh-CN" altLang="en-US" sz="1600" b="0">
                <a:solidFill>
                  <a:srgbClr val="172033"/>
                </a:solidFill>
                <a:latin typeface="微软雅黑" panose="020B0503020204020204" charset="-122"/>
                <a:ea typeface="微软雅黑" panose="020B0503020204020204" charset="-122"/>
              </a:rPr>
              <a:t>温度和冷却水流量。</a:t>
            </a:r>
            <a:endParaRPr lang="zh-CN" altLang="en-US" sz="1600" b="0">
              <a:solidFill>
                <a:srgbClr val="172033"/>
              </a:solidFill>
              <a:latin typeface="微软雅黑" panose="020B0503020204020204" charset="-122"/>
              <a:ea typeface="微软雅黑" panose="020B0503020204020204" charset="-122"/>
            </a:endParaRPr>
          </a:p>
          <a:p>
            <a:pPr algn="l">
              <a:defRPr sz="1200" b="0">
                <a:solidFill>
                  <a:srgbClr val="172033"/>
                </a:solidFill>
              </a:defRPr>
            </a:pPr>
            <a:r>
              <a:rPr lang="zh-CN" altLang="en-US" sz="1600" b="0">
                <a:solidFill>
                  <a:srgbClr val="172033"/>
                </a:solidFill>
                <a:latin typeface="微软雅黑" panose="020B0503020204020204" charset="-122"/>
                <a:ea typeface="微软雅黑" panose="020B0503020204020204" charset="-122"/>
              </a:rPr>
              <a:t>破碎机则以实际 </a:t>
            </a:r>
            <a:r>
              <a:rPr lang="en-US" altLang="zh-CN" sz="1600" b="0">
                <a:solidFill>
                  <a:srgbClr val="172033"/>
                </a:solidFill>
                <a:latin typeface="微软雅黑" panose="020B0503020204020204" charset="-122"/>
                <a:ea typeface="微软雅黑" panose="020B0503020204020204" charset="-122"/>
              </a:rPr>
              <a:t>CSV </a:t>
            </a:r>
            <a:r>
              <a:rPr lang="zh-CN" altLang="en-US" sz="1600" b="0">
                <a:solidFill>
                  <a:srgbClr val="172033"/>
                </a:solidFill>
                <a:latin typeface="微软雅黑" panose="020B0503020204020204" charset="-122"/>
                <a:ea typeface="微软雅黑" panose="020B0503020204020204" charset="-122"/>
              </a:rPr>
              <a:t>点位为准，重点保留振动、温度和冷却水相关参数。</a:t>
            </a:r>
            <a:endParaRPr sz="1600" b="0">
              <a:solidFill>
                <a:srgbClr val="172033"/>
              </a:solidFill>
              <a:latin typeface="微软雅黑" panose="020B0503020204020204" charset="-122"/>
              <a:ea typeface="微软雅黑" panose="020B0503020204020204" charset="-122"/>
            </a:endParaRPr>
          </a:p>
        </p:txBody>
      </p:sp>
      <p:sp>
        <p:nvSpPr>
          <p:cNvPr id="107" name="矩形 106"/>
          <p:cNvSpPr>
            <a:spLocks noGrp="1"/>
          </p:cNvSpPr>
          <p:nvPr/>
        </p:nvSpPr>
        <p:spPr>
          <a:xfrm>
            <a:off x="514350" y="6429375"/>
            <a:ext cx="11163300" cy="9525"/>
          </a:xfrm>
          <a:prstGeom prst="rect">
            <a:avLst/>
          </a:prstGeom>
          <a:solidFill>
            <a:srgbClr val="D9E6F7"/>
          </a:solidFill>
          <a:ln w="0">
            <a:noFill/>
            <a:prstDash val="solid"/>
          </a:ln>
        </p:spPr>
      </p:sp>
      <p:sp>
        <p:nvSpPr>
          <p:cNvPr id="109" name="矩形 10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a:t>
            </a:r>
            <a:r>
              <a:rPr lang="en-US" sz="825" b="0">
                <a:solidFill>
                  <a:srgbClr val="5D6B82"/>
                </a:solidFill>
              </a:rPr>
              <a:t>5</a:t>
            </a:r>
            <a:endParaRPr lang="en-US" sz="825" b="0">
              <a:solidFill>
                <a:srgbClr val="5D6B8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IQR 离群审计</a:t>
            </a:r>
            <a:endParaRPr sz="1875" b="1">
              <a:solidFill>
                <a:srgbClr val="FFFFFF"/>
              </a:solidFill>
            </a:endParaRPr>
          </a:p>
        </p:txBody>
      </p:sp>
      <p:pic>
        <p:nvPicPr>
          <p:cNvPr id="14" name="图片 13"/>
          <p:cNvPicPr>
            <a:picLocks noChangeAspect="1"/>
          </p:cNvPicPr>
          <p:nvPr/>
        </p:nvPicPr>
        <p:blipFill>
          <a:blip r:embed="rId1"/>
          <a:stretch>
            <a:fillRect/>
          </a:stretch>
        </p:blipFill>
        <p:spPr>
          <a:xfrm>
            <a:off x="552450" y="1707663"/>
            <a:ext cx="5143500" cy="2509223"/>
          </a:xfrm>
          <a:prstGeom prst="roundRect">
            <a:avLst>
              <a:gd name="adj" fmla="val 1951"/>
            </a:avLst>
          </a:prstGeom>
        </p:spPr>
      </p:pic>
      <p:pic>
        <p:nvPicPr>
          <p:cNvPr id="15" name="图片 14"/>
          <p:cNvPicPr>
            <a:picLocks noChangeAspect="1"/>
          </p:cNvPicPr>
          <p:nvPr/>
        </p:nvPicPr>
        <p:blipFill>
          <a:blip r:embed="rId2"/>
          <a:stretch>
            <a:fillRect/>
          </a:stretch>
        </p:blipFill>
        <p:spPr>
          <a:xfrm>
            <a:off x="6496050" y="1825920"/>
            <a:ext cx="5143500" cy="2272709"/>
          </a:xfrm>
          <a:prstGeom prst="roundRect">
            <a:avLst>
              <a:gd name="adj" fmla="val 1951"/>
            </a:avLst>
          </a:prstGeom>
        </p:spPr>
      </p:pic>
      <p:sp>
        <p:nvSpPr>
          <p:cNvPr id="6" name="圆角矩形 5"/>
          <p:cNvSpPr>
            <a:spLocks noGrp="1"/>
          </p:cNvSpPr>
          <p:nvPr/>
        </p:nvSpPr>
        <p:spPr>
          <a:xfrm>
            <a:off x="1427480" y="5300980"/>
            <a:ext cx="9297035" cy="590550"/>
          </a:xfrm>
          <a:prstGeom prst="roundRect">
            <a:avLst>
              <a:gd name="adj" fmla="val 12903"/>
            </a:avLst>
          </a:prstGeom>
          <a:solidFill>
            <a:srgbClr val="EAF3FF"/>
          </a:solidFill>
          <a:ln w="9525">
            <a:solidFill>
              <a:srgbClr val="CFE0F5"/>
            </a:solidFill>
            <a:prstDash val="solid"/>
          </a:ln>
        </p:spPr>
      </p:sp>
      <p:sp>
        <p:nvSpPr>
          <p:cNvPr id="7" name="矩形 6"/>
          <p:cNvSpPr>
            <a:spLocks noGrp="1"/>
          </p:cNvSpPr>
          <p:nvPr/>
        </p:nvSpPr>
        <p:spPr>
          <a:xfrm>
            <a:off x="1695450" y="5467350"/>
            <a:ext cx="8952230" cy="361950"/>
          </a:xfrm>
          <a:prstGeom prst="rect">
            <a:avLst/>
          </a:prstGeom>
          <a:noFill/>
          <a:ln w="0">
            <a:noFill/>
            <a:prstDash val="solid"/>
          </a:ln>
        </p:spPr>
        <p:txBody>
          <a:bodyPr/>
          <a:lstStyle/>
          <a:p>
            <a:pPr algn="l">
              <a:defRPr sz="1200" b="0">
                <a:solidFill>
                  <a:srgbClr val="172033"/>
                </a:solidFill>
              </a:defRPr>
            </a:pPr>
            <a:r>
              <a:rPr sz="1200" b="0">
                <a:solidFill>
                  <a:srgbClr val="172033"/>
                </a:solidFill>
              </a:rPr>
              <a:t>IQR 指四分位距。这里把低于 Q1-1.5IQR 或高于 Q3+1.5IQR 的值标记为离群，用于判断哪些测点波动较大；正式统计仍保留原始口径。</a:t>
            </a:r>
            <a:endParaRPr sz="1200" b="0">
              <a:solidFill>
                <a:srgbClr val="172033"/>
              </a:solidFill>
            </a:endParaRPr>
          </a:p>
        </p:txBody>
      </p:sp>
      <p:sp>
        <p:nvSpPr>
          <p:cNvPr id="8" name="矩形 7"/>
          <p:cNvSpPr>
            <a:spLocks noGrp="1"/>
          </p:cNvSpPr>
          <p:nvPr/>
        </p:nvSpPr>
        <p:spPr>
          <a:xfrm>
            <a:off x="514350" y="6429375"/>
            <a:ext cx="11163300" cy="9525"/>
          </a:xfrm>
          <a:prstGeom prst="rect">
            <a:avLst/>
          </a:prstGeom>
          <a:solidFill>
            <a:srgbClr val="D9E6F7"/>
          </a:solidFill>
          <a:ln w="0">
            <a:noFill/>
            <a:prstDash val="solid"/>
          </a:ln>
        </p:spPr>
      </p:sp>
      <p:sp>
        <p:nvSpPr>
          <p:cNvPr id="10" name="矩形 9"/>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a:t>
            </a:r>
            <a:r>
              <a:rPr lang="en-US" sz="825" b="0">
                <a:solidFill>
                  <a:srgbClr val="5D6B82"/>
                </a:solidFill>
              </a:rPr>
              <a:t>6</a:t>
            </a:r>
            <a:endParaRPr lang="en-US" sz="825" b="0">
              <a:solidFill>
                <a:srgbClr val="5D6B8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运行状态点核验</a:t>
            </a:r>
            <a:endParaRPr sz="1875" b="1">
              <a:solidFill>
                <a:srgbClr val="FFFFFF"/>
              </a:solidFill>
            </a:endParaRPr>
          </a:p>
        </p:txBody>
      </p:sp>
      <p:sp>
        <p:nvSpPr>
          <p:cNvPr id="5" name="矩形 4"/>
          <p:cNvSpPr>
            <a:spLocks noGrp="1"/>
          </p:cNvSpPr>
          <p:nvPr/>
        </p:nvSpPr>
        <p:spPr>
          <a:xfrm>
            <a:off x="666750" y="914400"/>
            <a:ext cx="1238250" cy="476250"/>
          </a:xfrm>
          <a:prstGeom prst="rect">
            <a:avLst/>
          </a:prstGeom>
          <a:solidFill>
            <a:srgbClr val="0B3A75"/>
          </a:solidFill>
          <a:ln w="9525">
            <a:solidFill>
              <a:srgbClr val="D9E6F7"/>
            </a:solidFill>
            <a:prstDash val="solid"/>
          </a:ln>
        </p:spPr>
      </p:sp>
      <p:sp>
        <p:nvSpPr>
          <p:cNvPr id="6" name="矩形 5"/>
          <p:cNvSpPr>
            <a:spLocks noGrp="1"/>
          </p:cNvSpPr>
          <p:nvPr/>
        </p:nvSpPr>
        <p:spPr>
          <a:xfrm>
            <a:off x="742950" y="990600"/>
            <a:ext cx="1085850" cy="381000"/>
          </a:xfrm>
          <a:prstGeom prst="rect">
            <a:avLst/>
          </a:prstGeom>
          <a:noFill/>
          <a:ln w="0">
            <a:noFill/>
            <a:prstDash val="solid"/>
          </a:ln>
        </p:spPr>
        <p:txBody>
          <a:bodyPr/>
          <a:lstStyle/>
          <a:p>
            <a:pPr algn="l">
              <a:defRPr sz="1050" b="1">
                <a:solidFill>
                  <a:srgbClr val="FFFFFF"/>
                </a:solidFill>
              </a:defRPr>
            </a:pPr>
            <a:r>
              <a:rPr sz="1050" b="1">
                <a:solidFill>
                  <a:srgbClr val="FFFFFF"/>
                </a:solidFill>
              </a:rPr>
              <a:t>设备</a:t>
            </a:r>
            <a:endParaRPr sz="1050" b="1">
              <a:solidFill>
                <a:srgbClr val="FFFFFF"/>
              </a:solidFill>
            </a:endParaRPr>
          </a:p>
        </p:txBody>
      </p:sp>
      <p:sp>
        <p:nvSpPr>
          <p:cNvPr id="7" name="矩形 6"/>
          <p:cNvSpPr>
            <a:spLocks noGrp="1"/>
          </p:cNvSpPr>
          <p:nvPr/>
        </p:nvSpPr>
        <p:spPr>
          <a:xfrm>
            <a:off x="1905000" y="914400"/>
            <a:ext cx="7239000" cy="476250"/>
          </a:xfrm>
          <a:prstGeom prst="rect">
            <a:avLst/>
          </a:prstGeom>
          <a:solidFill>
            <a:srgbClr val="0B3A75"/>
          </a:solidFill>
          <a:ln w="9525">
            <a:solidFill>
              <a:srgbClr val="D9E6F7"/>
            </a:solidFill>
            <a:prstDash val="solid"/>
          </a:ln>
        </p:spPr>
      </p:sp>
      <p:sp>
        <p:nvSpPr>
          <p:cNvPr id="8" name="矩形 7"/>
          <p:cNvSpPr>
            <a:spLocks noGrp="1"/>
          </p:cNvSpPr>
          <p:nvPr/>
        </p:nvSpPr>
        <p:spPr>
          <a:xfrm>
            <a:off x="1981200" y="990600"/>
            <a:ext cx="7086600" cy="381000"/>
          </a:xfrm>
          <a:prstGeom prst="rect">
            <a:avLst/>
          </a:prstGeom>
          <a:noFill/>
          <a:ln w="0">
            <a:noFill/>
            <a:prstDash val="solid"/>
          </a:ln>
        </p:spPr>
        <p:txBody>
          <a:bodyPr/>
          <a:lstStyle/>
          <a:p>
            <a:pPr algn="l">
              <a:defRPr sz="1050" b="1">
                <a:solidFill>
                  <a:srgbClr val="FFFFFF"/>
                </a:solidFill>
              </a:defRPr>
            </a:pPr>
            <a:r>
              <a:rPr sz="1050" b="1">
                <a:solidFill>
                  <a:srgbClr val="FFFFFF"/>
                </a:solidFill>
              </a:rPr>
              <a:t>运行状态候选点</a:t>
            </a:r>
            <a:endParaRPr sz="1050" b="1">
              <a:solidFill>
                <a:srgbClr val="FFFFFF"/>
              </a:solidFill>
            </a:endParaRPr>
          </a:p>
        </p:txBody>
      </p:sp>
      <p:sp>
        <p:nvSpPr>
          <p:cNvPr id="11" name="矩形 10"/>
          <p:cNvSpPr>
            <a:spLocks noGrp="1"/>
          </p:cNvSpPr>
          <p:nvPr/>
        </p:nvSpPr>
        <p:spPr>
          <a:xfrm>
            <a:off x="666750" y="1390650"/>
            <a:ext cx="1238250" cy="476250"/>
          </a:xfrm>
          <a:prstGeom prst="rect">
            <a:avLst/>
          </a:prstGeom>
          <a:solidFill>
            <a:srgbClr val="F7FBFF"/>
          </a:solidFill>
          <a:ln w="9525">
            <a:solidFill>
              <a:srgbClr val="D9E6F7"/>
            </a:solidFill>
            <a:prstDash val="solid"/>
          </a:ln>
        </p:spPr>
      </p:sp>
      <p:sp>
        <p:nvSpPr>
          <p:cNvPr id="12" name="矩形 11"/>
          <p:cNvSpPr>
            <a:spLocks noGrp="1"/>
          </p:cNvSpPr>
          <p:nvPr/>
        </p:nvSpPr>
        <p:spPr>
          <a:xfrm>
            <a:off x="742950" y="1466850"/>
            <a:ext cx="108585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刮板机</a:t>
            </a:r>
            <a:endParaRPr sz="1125" b="0">
              <a:solidFill>
                <a:srgbClr val="172033"/>
              </a:solidFill>
            </a:endParaRPr>
          </a:p>
        </p:txBody>
      </p:sp>
      <p:sp>
        <p:nvSpPr>
          <p:cNvPr id="13" name="矩形 12"/>
          <p:cNvSpPr>
            <a:spLocks noGrp="1"/>
          </p:cNvSpPr>
          <p:nvPr/>
        </p:nvSpPr>
        <p:spPr>
          <a:xfrm>
            <a:off x="1905000" y="1390650"/>
            <a:ext cx="7239000" cy="476250"/>
          </a:xfrm>
          <a:prstGeom prst="rect">
            <a:avLst/>
          </a:prstGeom>
          <a:solidFill>
            <a:srgbClr val="F7FBFF"/>
          </a:solidFill>
          <a:ln w="9525">
            <a:solidFill>
              <a:srgbClr val="D9E6F7"/>
            </a:solidFill>
            <a:prstDash val="solid"/>
          </a:ln>
        </p:spPr>
      </p:sp>
      <p:sp>
        <p:nvSpPr>
          <p:cNvPr id="14" name="矩形 13"/>
          <p:cNvSpPr>
            <a:spLocks noGrp="1"/>
          </p:cNvSpPr>
          <p:nvPr/>
        </p:nvSpPr>
        <p:spPr>
          <a:xfrm>
            <a:off x="1981200" y="1466850"/>
            <a:ext cx="708660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三机_前部运输机_垂直机头_变频器_运行状态</a:t>
            </a:r>
            <a:endParaRPr sz="1125" b="0">
              <a:solidFill>
                <a:srgbClr val="172033"/>
              </a:solidFill>
            </a:endParaRPr>
          </a:p>
        </p:txBody>
      </p:sp>
      <p:sp>
        <p:nvSpPr>
          <p:cNvPr id="17" name="矩形 16"/>
          <p:cNvSpPr>
            <a:spLocks noGrp="1"/>
          </p:cNvSpPr>
          <p:nvPr/>
        </p:nvSpPr>
        <p:spPr>
          <a:xfrm>
            <a:off x="666750" y="1866900"/>
            <a:ext cx="1238250" cy="476250"/>
          </a:xfrm>
          <a:prstGeom prst="rect">
            <a:avLst/>
          </a:prstGeom>
          <a:solidFill>
            <a:srgbClr val="FFFFFF"/>
          </a:solidFill>
          <a:ln w="9525">
            <a:solidFill>
              <a:srgbClr val="D9E6F7"/>
            </a:solidFill>
            <a:prstDash val="solid"/>
          </a:ln>
        </p:spPr>
      </p:sp>
      <p:sp>
        <p:nvSpPr>
          <p:cNvPr id="18" name="矩形 17"/>
          <p:cNvSpPr>
            <a:spLocks noGrp="1"/>
          </p:cNvSpPr>
          <p:nvPr/>
        </p:nvSpPr>
        <p:spPr>
          <a:xfrm>
            <a:off x="742950" y="1943100"/>
            <a:ext cx="108585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刮板机</a:t>
            </a:r>
            <a:endParaRPr sz="1125" b="0">
              <a:solidFill>
                <a:srgbClr val="172033"/>
              </a:solidFill>
            </a:endParaRPr>
          </a:p>
        </p:txBody>
      </p:sp>
      <p:sp>
        <p:nvSpPr>
          <p:cNvPr id="19" name="矩形 18"/>
          <p:cNvSpPr>
            <a:spLocks noGrp="1"/>
          </p:cNvSpPr>
          <p:nvPr/>
        </p:nvSpPr>
        <p:spPr>
          <a:xfrm>
            <a:off x="1905000" y="1866900"/>
            <a:ext cx="7239000" cy="476250"/>
          </a:xfrm>
          <a:prstGeom prst="rect">
            <a:avLst/>
          </a:prstGeom>
          <a:solidFill>
            <a:srgbClr val="FFFFFF"/>
          </a:solidFill>
          <a:ln w="9525">
            <a:solidFill>
              <a:srgbClr val="D9E6F7"/>
            </a:solidFill>
            <a:prstDash val="solid"/>
          </a:ln>
        </p:spPr>
      </p:sp>
      <p:sp>
        <p:nvSpPr>
          <p:cNvPr id="20" name="矩形 19"/>
          <p:cNvSpPr>
            <a:spLocks noGrp="1"/>
          </p:cNvSpPr>
          <p:nvPr/>
        </p:nvSpPr>
        <p:spPr>
          <a:xfrm>
            <a:off x="1981200" y="1943100"/>
            <a:ext cx="708660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三机_前部运输机_平行机头_变频器_运行状态</a:t>
            </a:r>
            <a:endParaRPr sz="1125" b="0">
              <a:solidFill>
                <a:srgbClr val="172033"/>
              </a:solidFill>
            </a:endParaRPr>
          </a:p>
        </p:txBody>
      </p:sp>
      <p:sp>
        <p:nvSpPr>
          <p:cNvPr id="23" name="矩形 22"/>
          <p:cNvSpPr>
            <a:spLocks noGrp="1"/>
          </p:cNvSpPr>
          <p:nvPr/>
        </p:nvSpPr>
        <p:spPr>
          <a:xfrm>
            <a:off x="666750" y="2343150"/>
            <a:ext cx="1238250" cy="476250"/>
          </a:xfrm>
          <a:prstGeom prst="rect">
            <a:avLst/>
          </a:prstGeom>
          <a:solidFill>
            <a:srgbClr val="F7FBFF"/>
          </a:solidFill>
          <a:ln w="9525">
            <a:solidFill>
              <a:srgbClr val="D9E6F7"/>
            </a:solidFill>
            <a:prstDash val="solid"/>
          </a:ln>
        </p:spPr>
      </p:sp>
      <p:sp>
        <p:nvSpPr>
          <p:cNvPr id="24" name="矩形 23"/>
          <p:cNvSpPr>
            <a:spLocks noGrp="1"/>
          </p:cNvSpPr>
          <p:nvPr/>
        </p:nvSpPr>
        <p:spPr>
          <a:xfrm>
            <a:off x="742950" y="2419350"/>
            <a:ext cx="108585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刮板机</a:t>
            </a:r>
            <a:endParaRPr sz="1125" b="0">
              <a:solidFill>
                <a:srgbClr val="172033"/>
              </a:solidFill>
            </a:endParaRPr>
          </a:p>
        </p:txBody>
      </p:sp>
      <p:sp>
        <p:nvSpPr>
          <p:cNvPr id="25" name="矩形 24"/>
          <p:cNvSpPr>
            <a:spLocks noGrp="1"/>
          </p:cNvSpPr>
          <p:nvPr/>
        </p:nvSpPr>
        <p:spPr>
          <a:xfrm>
            <a:off x="1905000" y="2343150"/>
            <a:ext cx="7239000" cy="476250"/>
          </a:xfrm>
          <a:prstGeom prst="rect">
            <a:avLst/>
          </a:prstGeom>
          <a:solidFill>
            <a:srgbClr val="F7FBFF"/>
          </a:solidFill>
          <a:ln w="9525">
            <a:solidFill>
              <a:srgbClr val="D9E6F7"/>
            </a:solidFill>
            <a:prstDash val="solid"/>
          </a:ln>
        </p:spPr>
      </p:sp>
      <p:sp>
        <p:nvSpPr>
          <p:cNvPr id="26" name="矩形 25"/>
          <p:cNvSpPr>
            <a:spLocks noGrp="1"/>
          </p:cNvSpPr>
          <p:nvPr/>
        </p:nvSpPr>
        <p:spPr>
          <a:xfrm>
            <a:off x="1981200" y="2419350"/>
            <a:ext cx="708660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三机_前部运输机_机尾_变频器_运行状态</a:t>
            </a:r>
            <a:endParaRPr sz="1125" b="0">
              <a:solidFill>
                <a:srgbClr val="172033"/>
              </a:solidFill>
            </a:endParaRPr>
          </a:p>
        </p:txBody>
      </p:sp>
      <p:sp>
        <p:nvSpPr>
          <p:cNvPr id="29" name="矩形 28"/>
          <p:cNvSpPr>
            <a:spLocks noGrp="1"/>
          </p:cNvSpPr>
          <p:nvPr/>
        </p:nvSpPr>
        <p:spPr>
          <a:xfrm>
            <a:off x="666750" y="2819400"/>
            <a:ext cx="1238250" cy="476250"/>
          </a:xfrm>
          <a:prstGeom prst="rect">
            <a:avLst/>
          </a:prstGeom>
          <a:solidFill>
            <a:srgbClr val="FFFFFF"/>
          </a:solidFill>
          <a:ln w="9525">
            <a:solidFill>
              <a:srgbClr val="D9E6F7"/>
            </a:solidFill>
            <a:prstDash val="solid"/>
          </a:ln>
        </p:spPr>
      </p:sp>
      <p:sp>
        <p:nvSpPr>
          <p:cNvPr id="30" name="矩形 29"/>
          <p:cNvSpPr>
            <a:spLocks noGrp="1"/>
          </p:cNvSpPr>
          <p:nvPr/>
        </p:nvSpPr>
        <p:spPr>
          <a:xfrm>
            <a:off x="742950" y="2895600"/>
            <a:ext cx="108585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刮板机</a:t>
            </a:r>
            <a:endParaRPr sz="1125" b="0">
              <a:solidFill>
                <a:srgbClr val="172033"/>
              </a:solidFill>
            </a:endParaRPr>
          </a:p>
        </p:txBody>
      </p:sp>
      <p:sp>
        <p:nvSpPr>
          <p:cNvPr id="31" name="矩形 30"/>
          <p:cNvSpPr>
            <a:spLocks noGrp="1"/>
          </p:cNvSpPr>
          <p:nvPr/>
        </p:nvSpPr>
        <p:spPr>
          <a:xfrm>
            <a:off x="1905000" y="2819400"/>
            <a:ext cx="7239000" cy="476250"/>
          </a:xfrm>
          <a:prstGeom prst="rect">
            <a:avLst/>
          </a:prstGeom>
          <a:solidFill>
            <a:srgbClr val="FFFFFF"/>
          </a:solidFill>
          <a:ln w="9525">
            <a:solidFill>
              <a:srgbClr val="D9E6F7"/>
            </a:solidFill>
            <a:prstDash val="solid"/>
          </a:ln>
        </p:spPr>
      </p:sp>
      <p:sp>
        <p:nvSpPr>
          <p:cNvPr id="32" name="矩形 31"/>
          <p:cNvSpPr>
            <a:spLocks noGrp="1"/>
          </p:cNvSpPr>
          <p:nvPr/>
        </p:nvSpPr>
        <p:spPr>
          <a:xfrm>
            <a:off x="1981200" y="2895600"/>
            <a:ext cx="708660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三机_前部运输机_运行状态</a:t>
            </a:r>
            <a:endParaRPr sz="1125" b="0">
              <a:solidFill>
                <a:srgbClr val="172033"/>
              </a:solidFill>
            </a:endParaRPr>
          </a:p>
        </p:txBody>
      </p:sp>
      <p:sp>
        <p:nvSpPr>
          <p:cNvPr id="35" name="矩形 34"/>
          <p:cNvSpPr>
            <a:spLocks noGrp="1"/>
          </p:cNvSpPr>
          <p:nvPr/>
        </p:nvSpPr>
        <p:spPr>
          <a:xfrm>
            <a:off x="666750" y="3295650"/>
            <a:ext cx="1238250" cy="476250"/>
          </a:xfrm>
          <a:prstGeom prst="rect">
            <a:avLst/>
          </a:prstGeom>
          <a:solidFill>
            <a:srgbClr val="F7FBFF"/>
          </a:solidFill>
          <a:ln w="9525">
            <a:solidFill>
              <a:srgbClr val="D9E6F7"/>
            </a:solidFill>
            <a:prstDash val="solid"/>
          </a:ln>
        </p:spPr>
      </p:sp>
      <p:sp>
        <p:nvSpPr>
          <p:cNvPr id="36" name="矩形 35"/>
          <p:cNvSpPr>
            <a:spLocks noGrp="1"/>
          </p:cNvSpPr>
          <p:nvPr/>
        </p:nvSpPr>
        <p:spPr>
          <a:xfrm>
            <a:off x="742950" y="3371850"/>
            <a:ext cx="108585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破碎机</a:t>
            </a:r>
            <a:endParaRPr sz="1125" b="0">
              <a:solidFill>
                <a:srgbClr val="172033"/>
              </a:solidFill>
            </a:endParaRPr>
          </a:p>
        </p:txBody>
      </p:sp>
      <p:sp>
        <p:nvSpPr>
          <p:cNvPr id="37" name="矩形 36"/>
          <p:cNvSpPr>
            <a:spLocks noGrp="1"/>
          </p:cNvSpPr>
          <p:nvPr/>
        </p:nvSpPr>
        <p:spPr>
          <a:xfrm>
            <a:off x="1905000" y="3295650"/>
            <a:ext cx="7239000" cy="476250"/>
          </a:xfrm>
          <a:prstGeom prst="rect">
            <a:avLst/>
          </a:prstGeom>
          <a:solidFill>
            <a:srgbClr val="F7FBFF"/>
          </a:solidFill>
          <a:ln w="9525">
            <a:solidFill>
              <a:srgbClr val="D9E6F7"/>
            </a:solidFill>
            <a:prstDash val="solid"/>
          </a:ln>
        </p:spPr>
      </p:sp>
      <p:sp>
        <p:nvSpPr>
          <p:cNvPr id="38" name="矩形 37"/>
          <p:cNvSpPr>
            <a:spLocks noGrp="1"/>
          </p:cNvSpPr>
          <p:nvPr/>
        </p:nvSpPr>
        <p:spPr>
          <a:xfrm>
            <a:off x="1981200" y="3371850"/>
            <a:ext cx="7086600" cy="381000"/>
          </a:xfrm>
          <a:prstGeom prst="rect">
            <a:avLst/>
          </a:prstGeom>
          <a:noFill/>
          <a:ln w="0">
            <a:noFill/>
            <a:prstDash val="solid"/>
          </a:ln>
        </p:spPr>
        <p:txBody>
          <a:bodyPr/>
          <a:lstStyle/>
          <a:p>
            <a:pPr algn="l">
              <a:defRPr sz="1125" b="0">
                <a:solidFill>
                  <a:srgbClr val="172033"/>
                </a:solidFill>
              </a:defRPr>
            </a:pPr>
            <a:r>
              <a:rPr sz="1125" b="0">
                <a:solidFill>
                  <a:srgbClr val="172033"/>
                </a:solidFill>
              </a:rPr>
              <a:t>三机_破碎机_运行状态</a:t>
            </a:r>
            <a:endParaRPr sz="1125" b="0">
              <a:solidFill>
                <a:srgbClr val="172033"/>
              </a:solidFill>
            </a:endParaRPr>
          </a:p>
        </p:txBody>
      </p:sp>
      <p:sp>
        <p:nvSpPr>
          <p:cNvPr id="41" name="圆角矩形 40"/>
          <p:cNvSpPr>
            <a:spLocks noGrp="1"/>
          </p:cNvSpPr>
          <p:nvPr/>
        </p:nvSpPr>
        <p:spPr>
          <a:xfrm>
            <a:off x="666750" y="4114800"/>
            <a:ext cx="4787900" cy="1278255"/>
          </a:xfrm>
          <a:prstGeom prst="roundRect">
            <a:avLst>
              <a:gd name="adj" fmla="val 7692"/>
            </a:avLst>
          </a:prstGeom>
          <a:solidFill>
            <a:srgbClr val="EAF3FF"/>
          </a:solidFill>
          <a:ln w="9525">
            <a:solidFill>
              <a:srgbClr val="CFE0F5"/>
            </a:solidFill>
            <a:prstDash val="solid"/>
          </a:ln>
        </p:spPr>
      </p:sp>
      <p:sp>
        <p:nvSpPr>
          <p:cNvPr id="42" name="矩形 41"/>
          <p:cNvSpPr>
            <a:spLocks noGrp="1"/>
          </p:cNvSpPr>
          <p:nvPr/>
        </p:nvSpPr>
        <p:spPr>
          <a:xfrm>
            <a:off x="675005" y="4248150"/>
            <a:ext cx="4715510" cy="762000"/>
          </a:xfrm>
          <a:prstGeom prst="rect">
            <a:avLst/>
          </a:prstGeom>
          <a:noFill/>
          <a:ln w="0">
            <a:noFill/>
            <a:prstDash val="solid"/>
          </a:ln>
        </p:spPr>
        <p:txBody>
          <a:bodyPr/>
          <a:lstStyle/>
          <a:p>
            <a:pPr algn="l" eaLnBrk="1" fontAlgn="auto" latinLnBrk="0" hangingPunct="1">
              <a:lnSpc>
                <a:spcPct val="150000"/>
              </a:lnSpc>
              <a:defRPr sz="1200" b="0">
                <a:solidFill>
                  <a:srgbClr val="172033"/>
                </a:solidFill>
              </a:defRPr>
            </a:pPr>
            <a:r>
              <a:rPr sz="1400" b="0">
                <a:solidFill>
                  <a:srgbClr val="172033"/>
                </a:solidFill>
                <a:latin typeface="微软雅黑" panose="020B0503020204020204" charset="-122"/>
                <a:ea typeface="微软雅黑" panose="020B0503020204020204" charset="-122"/>
                <a:cs typeface="微软雅黑" panose="020B0503020204020204" charset="-122"/>
              </a:rPr>
              <a:t>刮板机采用整机状态和三个驱动部状态共同构造运行状态；</a:t>
            </a:r>
            <a:endParaRPr sz="1400" b="0">
              <a:solidFill>
                <a:srgbClr val="172033"/>
              </a:solidFill>
              <a:latin typeface="微软雅黑" panose="020B0503020204020204" charset="-122"/>
              <a:ea typeface="微软雅黑" panose="020B0503020204020204" charset="-122"/>
              <a:cs typeface="微软雅黑" panose="020B0503020204020204" charset="-122"/>
            </a:endParaRPr>
          </a:p>
          <a:p>
            <a:pPr algn="l" eaLnBrk="1" fontAlgn="auto" latinLnBrk="0" hangingPunct="1">
              <a:lnSpc>
                <a:spcPct val="150000"/>
              </a:lnSpc>
              <a:defRPr sz="1200" b="0">
                <a:solidFill>
                  <a:srgbClr val="172033"/>
                </a:solidFill>
              </a:defRPr>
            </a:pPr>
            <a:r>
              <a:rPr sz="1400" b="0">
                <a:solidFill>
                  <a:srgbClr val="172033"/>
                </a:solidFill>
                <a:latin typeface="微软雅黑" panose="020B0503020204020204" charset="-122"/>
                <a:ea typeface="微软雅黑" panose="020B0503020204020204" charset="-122"/>
                <a:cs typeface="微软雅黑" panose="020B0503020204020204" charset="-122"/>
              </a:rPr>
              <a:t>破碎机 CSV 中存在“运行状态”点，因此按运行/停机状态分析。</a:t>
            </a:r>
            <a:endParaRPr sz="1400" b="0">
              <a:solidFill>
                <a:srgbClr val="172033"/>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5905500" y="4114800"/>
            <a:ext cx="876300" cy="523875"/>
          </a:xfrm>
          <a:prstGeom prst="rect">
            <a:avLst/>
          </a:prstGeom>
          <a:solidFill>
            <a:srgbClr val="0B3A75"/>
          </a:solidFill>
          <a:ln w="9525">
            <a:solidFill>
              <a:srgbClr val="D9E6F7"/>
            </a:solidFill>
            <a:prstDash val="solid"/>
          </a:ln>
        </p:spPr>
      </p:sp>
      <p:sp>
        <p:nvSpPr>
          <p:cNvPr id="44" name="矩形 43"/>
          <p:cNvSpPr>
            <a:spLocks noGrp="1"/>
          </p:cNvSpPr>
          <p:nvPr/>
        </p:nvSpPr>
        <p:spPr>
          <a:xfrm>
            <a:off x="5981700" y="4191000"/>
            <a:ext cx="723900" cy="428625"/>
          </a:xfrm>
          <a:prstGeom prst="rect">
            <a:avLst/>
          </a:prstGeom>
          <a:noFill/>
          <a:ln w="0">
            <a:noFill/>
            <a:prstDash val="solid"/>
          </a:ln>
        </p:spPr>
        <p:txBody>
          <a:bodyPr/>
          <a:lstStyle/>
          <a:p>
            <a:pPr algn="l">
              <a:defRPr sz="1050" b="1">
                <a:solidFill>
                  <a:srgbClr val="FFFFFF"/>
                </a:solidFill>
              </a:defRPr>
            </a:pPr>
            <a:r>
              <a:rPr sz="1050" b="1">
                <a:solidFill>
                  <a:srgbClr val="FFFFFF"/>
                </a:solidFill>
              </a:rPr>
              <a:t>设备</a:t>
            </a:r>
            <a:endParaRPr sz="1050" b="1">
              <a:solidFill>
                <a:srgbClr val="FFFFFF"/>
              </a:solidFill>
            </a:endParaRPr>
          </a:p>
        </p:txBody>
      </p:sp>
      <p:sp>
        <p:nvSpPr>
          <p:cNvPr id="45" name="矩形 44"/>
          <p:cNvSpPr>
            <a:spLocks noGrp="1"/>
          </p:cNvSpPr>
          <p:nvPr/>
        </p:nvSpPr>
        <p:spPr>
          <a:xfrm>
            <a:off x="6781800" y="4114800"/>
            <a:ext cx="3028950" cy="523875"/>
          </a:xfrm>
          <a:prstGeom prst="rect">
            <a:avLst/>
          </a:prstGeom>
          <a:solidFill>
            <a:srgbClr val="0B3A75"/>
          </a:solidFill>
          <a:ln w="9525">
            <a:solidFill>
              <a:srgbClr val="D9E6F7"/>
            </a:solidFill>
            <a:prstDash val="solid"/>
          </a:ln>
        </p:spPr>
      </p:sp>
      <p:sp>
        <p:nvSpPr>
          <p:cNvPr id="46" name="矩形 45"/>
          <p:cNvSpPr>
            <a:spLocks noGrp="1"/>
          </p:cNvSpPr>
          <p:nvPr/>
        </p:nvSpPr>
        <p:spPr>
          <a:xfrm>
            <a:off x="6858000" y="4191000"/>
            <a:ext cx="2876550" cy="428625"/>
          </a:xfrm>
          <a:prstGeom prst="rect">
            <a:avLst/>
          </a:prstGeom>
          <a:noFill/>
          <a:ln w="0">
            <a:noFill/>
            <a:prstDash val="solid"/>
          </a:ln>
        </p:spPr>
        <p:txBody>
          <a:bodyPr/>
          <a:lstStyle/>
          <a:p>
            <a:pPr algn="l">
              <a:defRPr sz="1050" b="1">
                <a:solidFill>
                  <a:srgbClr val="FFFFFF"/>
                </a:solidFill>
              </a:defRPr>
            </a:pPr>
            <a:r>
              <a:rPr sz="1050" b="1">
                <a:solidFill>
                  <a:srgbClr val="FFFFFF"/>
                </a:solidFill>
              </a:rPr>
              <a:t>状态合成规则</a:t>
            </a:r>
            <a:endParaRPr sz="1050" b="1">
              <a:solidFill>
                <a:srgbClr val="FFFFFF"/>
              </a:solidFill>
            </a:endParaRPr>
          </a:p>
        </p:txBody>
      </p:sp>
      <p:sp>
        <p:nvSpPr>
          <p:cNvPr id="47" name="矩形 46"/>
          <p:cNvSpPr>
            <a:spLocks noGrp="1"/>
          </p:cNvSpPr>
          <p:nvPr/>
        </p:nvSpPr>
        <p:spPr>
          <a:xfrm>
            <a:off x="9810750" y="4114800"/>
            <a:ext cx="2038350" cy="523875"/>
          </a:xfrm>
          <a:prstGeom prst="rect">
            <a:avLst/>
          </a:prstGeom>
          <a:solidFill>
            <a:srgbClr val="0B3A75"/>
          </a:solidFill>
          <a:ln w="9525">
            <a:solidFill>
              <a:srgbClr val="D9E6F7"/>
            </a:solidFill>
            <a:prstDash val="solid"/>
          </a:ln>
        </p:spPr>
      </p:sp>
      <p:sp>
        <p:nvSpPr>
          <p:cNvPr id="48" name="矩形 47"/>
          <p:cNvSpPr>
            <a:spLocks noGrp="1"/>
          </p:cNvSpPr>
          <p:nvPr/>
        </p:nvSpPr>
        <p:spPr>
          <a:xfrm>
            <a:off x="9886950" y="4191000"/>
            <a:ext cx="1885950" cy="428625"/>
          </a:xfrm>
          <a:prstGeom prst="rect">
            <a:avLst/>
          </a:prstGeom>
          <a:noFill/>
          <a:ln w="0">
            <a:noFill/>
            <a:prstDash val="solid"/>
          </a:ln>
        </p:spPr>
        <p:txBody>
          <a:bodyPr/>
          <a:lstStyle/>
          <a:p>
            <a:pPr algn="l">
              <a:defRPr sz="1050" b="1">
                <a:solidFill>
                  <a:srgbClr val="FFFFFF"/>
                </a:solidFill>
              </a:defRPr>
            </a:pPr>
            <a:r>
              <a:rPr sz="1050" b="1">
                <a:solidFill>
                  <a:srgbClr val="FFFFFF"/>
                </a:solidFill>
              </a:rPr>
              <a:t>一致性说明</a:t>
            </a:r>
            <a:endParaRPr sz="1050" b="1">
              <a:solidFill>
                <a:srgbClr val="FFFFFF"/>
              </a:solidFill>
            </a:endParaRPr>
          </a:p>
        </p:txBody>
      </p:sp>
      <p:sp>
        <p:nvSpPr>
          <p:cNvPr id="49" name="矩形 48"/>
          <p:cNvSpPr>
            <a:spLocks noGrp="1"/>
          </p:cNvSpPr>
          <p:nvPr/>
        </p:nvSpPr>
        <p:spPr>
          <a:xfrm>
            <a:off x="5905500" y="4638675"/>
            <a:ext cx="876300" cy="523875"/>
          </a:xfrm>
          <a:prstGeom prst="rect">
            <a:avLst/>
          </a:prstGeom>
          <a:solidFill>
            <a:srgbClr val="F7FBFF"/>
          </a:solidFill>
          <a:ln w="9525">
            <a:solidFill>
              <a:srgbClr val="D9E6F7"/>
            </a:solidFill>
            <a:prstDash val="solid"/>
          </a:ln>
        </p:spPr>
      </p:sp>
      <p:sp>
        <p:nvSpPr>
          <p:cNvPr id="50" name="矩形 49"/>
          <p:cNvSpPr>
            <a:spLocks noGrp="1"/>
          </p:cNvSpPr>
          <p:nvPr/>
        </p:nvSpPr>
        <p:spPr>
          <a:xfrm>
            <a:off x="5981700" y="4714875"/>
            <a:ext cx="72390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刮板机</a:t>
            </a:r>
            <a:endParaRPr sz="975" b="0">
              <a:solidFill>
                <a:srgbClr val="172033"/>
              </a:solidFill>
            </a:endParaRPr>
          </a:p>
        </p:txBody>
      </p:sp>
      <p:sp>
        <p:nvSpPr>
          <p:cNvPr id="51" name="矩形 50"/>
          <p:cNvSpPr>
            <a:spLocks noGrp="1"/>
          </p:cNvSpPr>
          <p:nvPr/>
        </p:nvSpPr>
        <p:spPr>
          <a:xfrm>
            <a:off x="6781800" y="4638675"/>
            <a:ext cx="3028950" cy="523875"/>
          </a:xfrm>
          <a:prstGeom prst="rect">
            <a:avLst/>
          </a:prstGeom>
          <a:solidFill>
            <a:srgbClr val="F7FBFF"/>
          </a:solidFill>
          <a:ln w="9525">
            <a:solidFill>
              <a:srgbClr val="D9E6F7"/>
            </a:solidFill>
            <a:prstDash val="solid"/>
          </a:ln>
        </p:spPr>
      </p:sp>
      <p:sp>
        <p:nvSpPr>
          <p:cNvPr id="52" name="矩形 51"/>
          <p:cNvSpPr>
            <a:spLocks noGrp="1"/>
          </p:cNvSpPr>
          <p:nvPr/>
        </p:nvSpPr>
        <p:spPr>
          <a:xfrm>
            <a:off x="6858000" y="4714875"/>
            <a:ext cx="287655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多状态点按最大值合成整机运行状态</a:t>
            </a:r>
            <a:endParaRPr sz="975" b="0">
              <a:solidFill>
                <a:srgbClr val="172033"/>
              </a:solidFill>
            </a:endParaRPr>
          </a:p>
        </p:txBody>
      </p:sp>
      <p:sp>
        <p:nvSpPr>
          <p:cNvPr id="53" name="矩形 52"/>
          <p:cNvSpPr>
            <a:spLocks noGrp="1"/>
          </p:cNvSpPr>
          <p:nvPr/>
        </p:nvSpPr>
        <p:spPr>
          <a:xfrm>
            <a:off x="9810750" y="4638675"/>
            <a:ext cx="2038350" cy="523875"/>
          </a:xfrm>
          <a:prstGeom prst="rect">
            <a:avLst/>
          </a:prstGeom>
          <a:solidFill>
            <a:srgbClr val="F7FBFF"/>
          </a:solidFill>
          <a:ln w="9525">
            <a:solidFill>
              <a:srgbClr val="D9E6F7"/>
            </a:solidFill>
            <a:prstDash val="solid"/>
          </a:ln>
        </p:spPr>
      </p:sp>
      <p:sp>
        <p:nvSpPr>
          <p:cNvPr id="54" name="矩形 53"/>
          <p:cNvSpPr>
            <a:spLocks noGrp="1"/>
          </p:cNvSpPr>
          <p:nvPr/>
        </p:nvSpPr>
        <p:spPr>
          <a:xfrm>
            <a:off x="9886950" y="4714875"/>
            <a:ext cx="188595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同步率 98.4%，不同步行 1,259</a:t>
            </a:r>
            <a:endParaRPr sz="975" b="0">
              <a:solidFill>
                <a:srgbClr val="172033"/>
              </a:solidFill>
            </a:endParaRPr>
          </a:p>
        </p:txBody>
      </p:sp>
      <p:sp>
        <p:nvSpPr>
          <p:cNvPr id="55" name="矩形 54"/>
          <p:cNvSpPr>
            <a:spLocks noGrp="1"/>
          </p:cNvSpPr>
          <p:nvPr/>
        </p:nvSpPr>
        <p:spPr>
          <a:xfrm>
            <a:off x="5905500" y="5162550"/>
            <a:ext cx="876300" cy="523875"/>
          </a:xfrm>
          <a:prstGeom prst="rect">
            <a:avLst/>
          </a:prstGeom>
          <a:solidFill>
            <a:srgbClr val="FFFFFF"/>
          </a:solidFill>
          <a:ln w="9525">
            <a:solidFill>
              <a:srgbClr val="D9E6F7"/>
            </a:solidFill>
            <a:prstDash val="solid"/>
          </a:ln>
        </p:spPr>
      </p:sp>
      <p:sp>
        <p:nvSpPr>
          <p:cNvPr id="56" name="矩形 55"/>
          <p:cNvSpPr>
            <a:spLocks noGrp="1"/>
          </p:cNvSpPr>
          <p:nvPr/>
        </p:nvSpPr>
        <p:spPr>
          <a:xfrm>
            <a:off x="5981700" y="5238750"/>
            <a:ext cx="72390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破碎机</a:t>
            </a:r>
            <a:endParaRPr sz="975" b="0">
              <a:solidFill>
                <a:srgbClr val="172033"/>
              </a:solidFill>
            </a:endParaRPr>
          </a:p>
        </p:txBody>
      </p:sp>
      <p:sp>
        <p:nvSpPr>
          <p:cNvPr id="57" name="矩形 56"/>
          <p:cNvSpPr>
            <a:spLocks noGrp="1"/>
          </p:cNvSpPr>
          <p:nvPr/>
        </p:nvSpPr>
        <p:spPr>
          <a:xfrm>
            <a:off x="6781800" y="5162550"/>
            <a:ext cx="3028950" cy="523875"/>
          </a:xfrm>
          <a:prstGeom prst="rect">
            <a:avLst/>
          </a:prstGeom>
          <a:solidFill>
            <a:srgbClr val="FFFFFF"/>
          </a:solidFill>
          <a:ln w="9525">
            <a:solidFill>
              <a:srgbClr val="D9E6F7"/>
            </a:solidFill>
            <a:prstDash val="solid"/>
          </a:ln>
        </p:spPr>
      </p:sp>
      <p:sp>
        <p:nvSpPr>
          <p:cNvPr id="58" name="矩形 57"/>
          <p:cNvSpPr>
            <a:spLocks noGrp="1"/>
          </p:cNvSpPr>
          <p:nvPr/>
        </p:nvSpPr>
        <p:spPr>
          <a:xfrm>
            <a:off x="6858000" y="5238750"/>
            <a:ext cx="287655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单状态点直接构造运行状态</a:t>
            </a:r>
            <a:endParaRPr sz="975" b="0">
              <a:solidFill>
                <a:srgbClr val="172033"/>
              </a:solidFill>
            </a:endParaRPr>
          </a:p>
        </p:txBody>
      </p:sp>
      <p:sp>
        <p:nvSpPr>
          <p:cNvPr id="59" name="矩形 58"/>
          <p:cNvSpPr>
            <a:spLocks noGrp="1"/>
          </p:cNvSpPr>
          <p:nvPr/>
        </p:nvSpPr>
        <p:spPr>
          <a:xfrm>
            <a:off x="9810750" y="5162550"/>
            <a:ext cx="2038350" cy="523875"/>
          </a:xfrm>
          <a:prstGeom prst="rect">
            <a:avLst/>
          </a:prstGeom>
          <a:solidFill>
            <a:srgbClr val="FFFFFF"/>
          </a:solidFill>
          <a:ln w="9525">
            <a:solidFill>
              <a:srgbClr val="D9E6F7"/>
            </a:solidFill>
            <a:prstDash val="solid"/>
          </a:ln>
        </p:spPr>
      </p:sp>
      <p:sp>
        <p:nvSpPr>
          <p:cNvPr id="60" name="矩形 59"/>
          <p:cNvSpPr>
            <a:spLocks noGrp="1"/>
          </p:cNvSpPr>
          <p:nvPr/>
        </p:nvSpPr>
        <p:spPr>
          <a:xfrm>
            <a:off x="9886950" y="5238750"/>
            <a:ext cx="1885950" cy="428625"/>
          </a:xfrm>
          <a:prstGeom prst="rect">
            <a:avLst/>
          </a:prstGeom>
          <a:noFill/>
          <a:ln w="0">
            <a:noFill/>
            <a:prstDash val="solid"/>
          </a:ln>
        </p:spPr>
        <p:txBody>
          <a:bodyPr/>
          <a:lstStyle/>
          <a:p>
            <a:pPr algn="l">
              <a:defRPr sz="975" b="0">
                <a:solidFill>
                  <a:srgbClr val="172033"/>
                </a:solidFill>
              </a:defRPr>
            </a:pPr>
            <a:r>
              <a:rPr sz="975" b="0">
                <a:solidFill>
                  <a:srgbClr val="172033"/>
                </a:solidFill>
              </a:rPr>
              <a:t>单状态点，仅记录状态可用性</a:t>
            </a:r>
            <a:endParaRPr sz="975" b="0">
              <a:solidFill>
                <a:srgbClr val="172033"/>
              </a:solidFill>
            </a:endParaRPr>
          </a:p>
        </p:txBody>
      </p:sp>
      <p:sp>
        <p:nvSpPr>
          <p:cNvPr id="61" name="矩形 60"/>
          <p:cNvSpPr>
            <a:spLocks noGrp="1"/>
          </p:cNvSpPr>
          <p:nvPr/>
        </p:nvSpPr>
        <p:spPr>
          <a:xfrm>
            <a:off x="514350" y="6429375"/>
            <a:ext cx="11163300" cy="9525"/>
          </a:xfrm>
          <a:prstGeom prst="rect">
            <a:avLst/>
          </a:prstGeom>
          <a:solidFill>
            <a:srgbClr val="D9E6F7"/>
          </a:solidFill>
          <a:ln w="0">
            <a:noFill/>
            <a:prstDash val="solid"/>
          </a:ln>
        </p:spPr>
      </p:sp>
      <p:sp>
        <p:nvSpPr>
          <p:cNvPr id="63" name="矩形 62"/>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0</a:t>
            </a:r>
            <a:r>
              <a:rPr lang="en-US" sz="825" b="0">
                <a:solidFill>
                  <a:srgbClr val="5D6B82"/>
                </a:solidFill>
              </a:rPr>
              <a:t>7</a:t>
            </a:r>
            <a:endParaRPr lang="en-US" sz="825" b="0">
              <a:solidFill>
                <a:srgbClr val="5D6B8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状态时序图</a:t>
            </a:r>
            <a:endParaRPr sz="1875" b="1">
              <a:solidFill>
                <a:srgbClr val="FFFFFF"/>
              </a:solidFill>
            </a:endParaRPr>
          </a:p>
        </p:txBody>
      </p:sp>
      <p:pic>
        <p:nvPicPr>
          <p:cNvPr id="36" name="图片 35"/>
          <p:cNvPicPr>
            <a:picLocks noChangeAspect="1"/>
          </p:cNvPicPr>
          <p:nvPr/>
        </p:nvPicPr>
        <p:blipFill>
          <a:blip r:embed="rId1"/>
          <a:stretch>
            <a:fillRect/>
          </a:stretch>
        </p:blipFill>
        <p:spPr>
          <a:xfrm>
            <a:off x="533400" y="1848583"/>
            <a:ext cx="5334000" cy="1312985"/>
          </a:xfrm>
          <a:prstGeom prst="roundRect">
            <a:avLst>
              <a:gd name="adj" fmla="val 2516"/>
            </a:avLst>
          </a:prstGeom>
        </p:spPr>
      </p:pic>
      <p:pic>
        <p:nvPicPr>
          <p:cNvPr id="37" name="图片 36"/>
          <p:cNvPicPr>
            <a:picLocks noChangeAspect="1"/>
          </p:cNvPicPr>
          <p:nvPr/>
        </p:nvPicPr>
        <p:blipFill>
          <a:blip r:embed="rId2"/>
          <a:stretch>
            <a:fillRect/>
          </a:stretch>
        </p:blipFill>
        <p:spPr>
          <a:xfrm>
            <a:off x="6324600" y="1848583"/>
            <a:ext cx="5334000" cy="1312985"/>
          </a:xfrm>
          <a:prstGeom prst="roundRect">
            <a:avLst>
              <a:gd name="adj" fmla="val 2516"/>
            </a:avLst>
          </a:prstGeom>
        </p:spPr>
      </p:pic>
      <p:sp>
        <p:nvSpPr>
          <p:cNvPr id="6" name="矩形 5"/>
          <p:cNvSpPr>
            <a:spLocks noGrp="1"/>
          </p:cNvSpPr>
          <p:nvPr/>
        </p:nvSpPr>
        <p:spPr>
          <a:xfrm>
            <a:off x="1428750" y="4457700"/>
            <a:ext cx="1524000" cy="457200"/>
          </a:xfrm>
          <a:prstGeom prst="rect">
            <a:avLst/>
          </a:prstGeom>
          <a:solidFill>
            <a:srgbClr val="0B3A75"/>
          </a:solidFill>
          <a:ln w="9525">
            <a:solidFill>
              <a:srgbClr val="D9E6F7"/>
            </a:solidFill>
            <a:prstDash val="solid"/>
          </a:ln>
        </p:spPr>
      </p:sp>
      <p:sp>
        <p:nvSpPr>
          <p:cNvPr id="7" name="矩形 6"/>
          <p:cNvSpPr>
            <a:spLocks noGrp="1"/>
          </p:cNvSpPr>
          <p:nvPr/>
        </p:nvSpPr>
        <p:spPr>
          <a:xfrm>
            <a:off x="1504950" y="4533900"/>
            <a:ext cx="1371600" cy="361950"/>
          </a:xfrm>
          <a:prstGeom prst="rect">
            <a:avLst/>
          </a:prstGeom>
          <a:noFill/>
          <a:ln w="0">
            <a:noFill/>
            <a:prstDash val="solid"/>
          </a:ln>
        </p:spPr>
        <p:txBody>
          <a:bodyPr/>
          <a:lstStyle/>
          <a:p>
            <a:pPr algn="l">
              <a:defRPr sz="1050" b="1">
                <a:solidFill>
                  <a:srgbClr val="FFFFFF"/>
                </a:solidFill>
              </a:defRPr>
            </a:pPr>
            <a:r>
              <a:rPr sz="1050" b="1">
                <a:solidFill>
                  <a:srgbClr val="FFFFFF"/>
                </a:solidFill>
              </a:rPr>
              <a:t>设备</a:t>
            </a:r>
            <a:endParaRPr sz="1050" b="1">
              <a:solidFill>
                <a:srgbClr val="FFFFFF"/>
              </a:solidFill>
            </a:endParaRPr>
          </a:p>
        </p:txBody>
      </p:sp>
      <p:sp>
        <p:nvSpPr>
          <p:cNvPr id="8" name="矩形 7"/>
          <p:cNvSpPr>
            <a:spLocks noGrp="1"/>
          </p:cNvSpPr>
          <p:nvPr/>
        </p:nvSpPr>
        <p:spPr>
          <a:xfrm>
            <a:off x="2952750" y="4457700"/>
            <a:ext cx="2000250" cy="457200"/>
          </a:xfrm>
          <a:prstGeom prst="rect">
            <a:avLst/>
          </a:prstGeom>
          <a:solidFill>
            <a:srgbClr val="0B3A75"/>
          </a:solidFill>
          <a:ln w="9525">
            <a:solidFill>
              <a:srgbClr val="D9E6F7"/>
            </a:solidFill>
            <a:prstDash val="solid"/>
          </a:ln>
        </p:spPr>
      </p:sp>
      <p:sp>
        <p:nvSpPr>
          <p:cNvPr id="9" name="矩形 8"/>
          <p:cNvSpPr>
            <a:spLocks noGrp="1"/>
          </p:cNvSpPr>
          <p:nvPr/>
        </p:nvSpPr>
        <p:spPr>
          <a:xfrm>
            <a:off x="3028950" y="4533900"/>
            <a:ext cx="1847850" cy="361950"/>
          </a:xfrm>
          <a:prstGeom prst="rect">
            <a:avLst/>
          </a:prstGeom>
          <a:noFill/>
          <a:ln w="0">
            <a:noFill/>
            <a:prstDash val="solid"/>
          </a:ln>
        </p:spPr>
        <p:txBody>
          <a:bodyPr/>
          <a:lstStyle/>
          <a:p>
            <a:pPr algn="l">
              <a:defRPr sz="1050" b="1">
                <a:solidFill>
                  <a:srgbClr val="FFFFFF"/>
                </a:solidFill>
              </a:defRPr>
            </a:pPr>
            <a:r>
              <a:rPr sz="1050" b="1">
                <a:solidFill>
                  <a:srgbClr val="FFFFFF"/>
                </a:solidFill>
              </a:rPr>
              <a:t>分析样本行</a:t>
            </a:r>
            <a:endParaRPr sz="1050" b="1">
              <a:solidFill>
                <a:srgbClr val="FFFFFF"/>
              </a:solidFill>
            </a:endParaRPr>
          </a:p>
        </p:txBody>
      </p:sp>
      <p:sp>
        <p:nvSpPr>
          <p:cNvPr id="10" name="矩形 9"/>
          <p:cNvSpPr>
            <a:spLocks noGrp="1"/>
          </p:cNvSpPr>
          <p:nvPr/>
        </p:nvSpPr>
        <p:spPr>
          <a:xfrm>
            <a:off x="4953000" y="4457700"/>
            <a:ext cx="2000250" cy="457200"/>
          </a:xfrm>
          <a:prstGeom prst="rect">
            <a:avLst/>
          </a:prstGeom>
          <a:solidFill>
            <a:srgbClr val="0B3A75"/>
          </a:solidFill>
          <a:ln w="9525">
            <a:solidFill>
              <a:srgbClr val="D9E6F7"/>
            </a:solidFill>
            <a:prstDash val="solid"/>
          </a:ln>
        </p:spPr>
      </p:sp>
      <p:sp>
        <p:nvSpPr>
          <p:cNvPr id="11" name="矩形 10"/>
          <p:cNvSpPr>
            <a:spLocks noGrp="1"/>
          </p:cNvSpPr>
          <p:nvPr/>
        </p:nvSpPr>
        <p:spPr>
          <a:xfrm>
            <a:off x="5029200" y="4533900"/>
            <a:ext cx="1847850" cy="361950"/>
          </a:xfrm>
          <a:prstGeom prst="rect">
            <a:avLst/>
          </a:prstGeom>
          <a:noFill/>
          <a:ln w="0">
            <a:noFill/>
            <a:prstDash val="solid"/>
          </a:ln>
        </p:spPr>
        <p:txBody>
          <a:bodyPr/>
          <a:lstStyle/>
          <a:p>
            <a:pPr algn="l">
              <a:defRPr sz="1050" b="1">
                <a:solidFill>
                  <a:srgbClr val="FFFFFF"/>
                </a:solidFill>
              </a:defRPr>
            </a:pPr>
            <a:r>
              <a:rPr sz="1050" b="1">
                <a:solidFill>
                  <a:srgbClr val="FFFFFF"/>
                </a:solidFill>
              </a:rPr>
              <a:t>运行比例</a:t>
            </a:r>
            <a:endParaRPr sz="1050" b="1">
              <a:solidFill>
                <a:srgbClr val="FFFFFF"/>
              </a:solidFill>
            </a:endParaRPr>
          </a:p>
        </p:txBody>
      </p:sp>
      <p:sp>
        <p:nvSpPr>
          <p:cNvPr id="12" name="矩形 11"/>
          <p:cNvSpPr>
            <a:spLocks noGrp="1"/>
          </p:cNvSpPr>
          <p:nvPr/>
        </p:nvSpPr>
        <p:spPr>
          <a:xfrm>
            <a:off x="6953250" y="4457700"/>
            <a:ext cx="3714750" cy="457200"/>
          </a:xfrm>
          <a:prstGeom prst="rect">
            <a:avLst/>
          </a:prstGeom>
          <a:solidFill>
            <a:srgbClr val="0B3A75"/>
          </a:solidFill>
          <a:ln w="9525">
            <a:solidFill>
              <a:srgbClr val="D9E6F7"/>
            </a:solidFill>
            <a:prstDash val="solid"/>
          </a:ln>
        </p:spPr>
      </p:sp>
      <p:sp>
        <p:nvSpPr>
          <p:cNvPr id="13" name="矩形 12"/>
          <p:cNvSpPr>
            <a:spLocks noGrp="1"/>
          </p:cNvSpPr>
          <p:nvPr/>
        </p:nvSpPr>
        <p:spPr>
          <a:xfrm>
            <a:off x="7029450" y="4533900"/>
            <a:ext cx="3562350" cy="361950"/>
          </a:xfrm>
          <a:prstGeom prst="rect">
            <a:avLst/>
          </a:prstGeom>
          <a:noFill/>
          <a:ln w="0">
            <a:noFill/>
            <a:prstDash val="solid"/>
          </a:ln>
        </p:spPr>
        <p:txBody>
          <a:bodyPr/>
          <a:lstStyle/>
          <a:p>
            <a:pPr algn="l">
              <a:defRPr sz="1050" b="1">
                <a:solidFill>
                  <a:srgbClr val="FFFFFF"/>
                </a:solidFill>
              </a:defRPr>
            </a:pPr>
            <a:r>
              <a:rPr sz="1050" b="1">
                <a:solidFill>
                  <a:srgbClr val="FFFFFF"/>
                </a:solidFill>
              </a:rPr>
              <a:t>时间范围</a:t>
            </a:r>
            <a:endParaRPr sz="1050" b="1">
              <a:solidFill>
                <a:srgbClr val="FFFFFF"/>
              </a:solidFill>
            </a:endParaRPr>
          </a:p>
        </p:txBody>
      </p:sp>
      <p:sp>
        <p:nvSpPr>
          <p:cNvPr id="14" name="矩形 13"/>
          <p:cNvSpPr>
            <a:spLocks noGrp="1"/>
          </p:cNvSpPr>
          <p:nvPr/>
        </p:nvSpPr>
        <p:spPr>
          <a:xfrm>
            <a:off x="1428750" y="4914900"/>
            <a:ext cx="1524000" cy="457200"/>
          </a:xfrm>
          <a:prstGeom prst="rect">
            <a:avLst/>
          </a:prstGeom>
          <a:solidFill>
            <a:srgbClr val="F7FBFF"/>
          </a:solidFill>
          <a:ln w="9525">
            <a:solidFill>
              <a:srgbClr val="D9E6F7"/>
            </a:solidFill>
            <a:prstDash val="solid"/>
          </a:ln>
        </p:spPr>
      </p:sp>
      <p:sp>
        <p:nvSpPr>
          <p:cNvPr id="15" name="矩形 14"/>
          <p:cNvSpPr>
            <a:spLocks noGrp="1"/>
          </p:cNvSpPr>
          <p:nvPr/>
        </p:nvSpPr>
        <p:spPr>
          <a:xfrm>
            <a:off x="1504950" y="4991100"/>
            <a:ext cx="137160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刮板机</a:t>
            </a:r>
            <a:endParaRPr sz="1125" b="0">
              <a:solidFill>
                <a:srgbClr val="172033"/>
              </a:solidFill>
            </a:endParaRPr>
          </a:p>
        </p:txBody>
      </p:sp>
      <p:sp>
        <p:nvSpPr>
          <p:cNvPr id="16" name="矩形 15"/>
          <p:cNvSpPr>
            <a:spLocks noGrp="1"/>
          </p:cNvSpPr>
          <p:nvPr/>
        </p:nvSpPr>
        <p:spPr>
          <a:xfrm>
            <a:off x="2952750" y="4914900"/>
            <a:ext cx="2000250" cy="457200"/>
          </a:xfrm>
          <a:prstGeom prst="rect">
            <a:avLst/>
          </a:prstGeom>
          <a:solidFill>
            <a:srgbClr val="F7FBFF"/>
          </a:solidFill>
          <a:ln w="9525">
            <a:solidFill>
              <a:srgbClr val="D9E6F7"/>
            </a:solidFill>
            <a:prstDash val="solid"/>
          </a:ln>
        </p:spPr>
      </p:sp>
      <p:sp>
        <p:nvSpPr>
          <p:cNvPr id="17" name="矩形 16"/>
          <p:cNvSpPr>
            <a:spLocks noGrp="1"/>
          </p:cNvSpPr>
          <p:nvPr/>
        </p:nvSpPr>
        <p:spPr>
          <a:xfrm>
            <a:off x="3028950" y="4991100"/>
            <a:ext cx="18478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80,651</a:t>
            </a:r>
            <a:endParaRPr sz="1125" b="0">
              <a:solidFill>
                <a:srgbClr val="172033"/>
              </a:solidFill>
            </a:endParaRPr>
          </a:p>
        </p:txBody>
      </p:sp>
      <p:sp>
        <p:nvSpPr>
          <p:cNvPr id="18" name="矩形 17"/>
          <p:cNvSpPr>
            <a:spLocks noGrp="1"/>
          </p:cNvSpPr>
          <p:nvPr/>
        </p:nvSpPr>
        <p:spPr>
          <a:xfrm>
            <a:off x="4953000" y="4914900"/>
            <a:ext cx="2000250" cy="457200"/>
          </a:xfrm>
          <a:prstGeom prst="rect">
            <a:avLst/>
          </a:prstGeom>
          <a:solidFill>
            <a:srgbClr val="F7FBFF"/>
          </a:solidFill>
          <a:ln w="9525">
            <a:solidFill>
              <a:srgbClr val="D9E6F7"/>
            </a:solidFill>
            <a:prstDash val="solid"/>
          </a:ln>
        </p:spPr>
      </p:sp>
      <p:sp>
        <p:nvSpPr>
          <p:cNvPr id="19" name="矩形 18"/>
          <p:cNvSpPr>
            <a:spLocks noGrp="1"/>
          </p:cNvSpPr>
          <p:nvPr/>
        </p:nvSpPr>
        <p:spPr>
          <a:xfrm>
            <a:off x="5029200" y="4991100"/>
            <a:ext cx="18478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61.8%</a:t>
            </a:r>
            <a:endParaRPr sz="1125" b="0">
              <a:solidFill>
                <a:srgbClr val="172033"/>
              </a:solidFill>
            </a:endParaRPr>
          </a:p>
        </p:txBody>
      </p:sp>
      <p:sp>
        <p:nvSpPr>
          <p:cNvPr id="20" name="矩形 19"/>
          <p:cNvSpPr>
            <a:spLocks noGrp="1"/>
          </p:cNvSpPr>
          <p:nvPr/>
        </p:nvSpPr>
        <p:spPr>
          <a:xfrm>
            <a:off x="6953250" y="4914900"/>
            <a:ext cx="3714750" cy="457200"/>
          </a:xfrm>
          <a:prstGeom prst="rect">
            <a:avLst/>
          </a:prstGeom>
          <a:solidFill>
            <a:srgbClr val="F7FBFF"/>
          </a:solidFill>
          <a:ln w="9525">
            <a:solidFill>
              <a:srgbClr val="D9E6F7"/>
            </a:solidFill>
            <a:prstDash val="solid"/>
          </a:ln>
        </p:spPr>
      </p:sp>
      <p:sp>
        <p:nvSpPr>
          <p:cNvPr id="21" name="矩形 20"/>
          <p:cNvSpPr>
            <a:spLocks noGrp="1"/>
          </p:cNvSpPr>
          <p:nvPr/>
        </p:nvSpPr>
        <p:spPr>
          <a:xfrm>
            <a:off x="7029450" y="4991100"/>
            <a:ext cx="35623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2024-04-01 至 2024-04-29</a:t>
            </a:r>
            <a:endParaRPr sz="1125" b="0">
              <a:solidFill>
                <a:srgbClr val="172033"/>
              </a:solidFill>
            </a:endParaRPr>
          </a:p>
        </p:txBody>
      </p:sp>
      <p:sp>
        <p:nvSpPr>
          <p:cNvPr id="22" name="矩形 21"/>
          <p:cNvSpPr>
            <a:spLocks noGrp="1"/>
          </p:cNvSpPr>
          <p:nvPr/>
        </p:nvSpPr>
        <p:spPr>
          <a:xfrm>
            <a:off x="1428750" y="5372100"/>
            <a:ext cx="1524000" cy="457200"/>
          </a:xfrm>
          <a:prstGeom prst="rect">
            <a:avLst/>
          </a:prstGeom>
          <a:solidFill>
            <a:srgbClr val="FFFFFF"/>
          </a:solidFill>
          <a:ln w="9525">
            <a:solidFill>
              <a:srgbClr val="D9E6F7"/>
            </a:solidFill>
            <a:prstDash val="solid"/>
          </a:ln>
        </p:spPr>
      </p:sp>
      <p:sp>
        <p:nvSpPr>
          <p:cNvPr id="23" name="矩形 22"/>
          <p:cNvSpPr>
            <a:spLocks noGrp="1"/>
          </p:cNvSpPr>
          <p:nvPr/>
        </p:nvSpPr>
        <p:spPr>
          <a:xfrm>
            <a:off x="1504950" y="5448300"/>
            <a:ext cx="137160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破碎机</a:t>
            </a:r>
            <a:endParaRPr sz="1125" b="0">
              <a:solidFill>
                <a:srgbClr val="172033"/>
              </a:solidFill>
            </a:endParaRPr>
          </a:p>
        </p:txBody>
      </p:sp>
      <p:sp>
        <p:nvSpPr>
          <p:cNvPr id="24" name="矩形 23"/>
          <p:cNvSpPr>
            <a:spLocks noGrp="1"/>
          </p:cNvSpPr>
          <p:nvPr/>
        </p:nvSpPr>
        <p:spPr>
          <a:xfrm>
            <a:off x="2952750" y="5372100"/>
            <a:ext cx="2000250" cy="457200"/>
          </a:xfrm>
          <a:prstGeom prst="rect">
            <a:avLst/>
          </a:prstGeom>
          <a:solidFill>
            <a:srgbClr val="FFFFFF"/>
          </a:solidFill>
          <a:ln w="9525">
            <a:solidFill>
              <a:srgbClr val="D9E6F7"/>
            </a:solidFill>
            <a:prstDash val="solid"/>
          </a:ln>
        </p:spPr>
      </p:sp>
      <p:sp>
        <p:nvSpPr>
          <p:cNvPr id="25" name="矩形 24"/>
          <p:cNvSpPr>
            <a:spLocks noGrp="1"/>
          </p:cNvSpPr>
          <p:nvPr/>
        </p:nvSpPr>
        <p:spPr>
          <a:xfrm>
            <a:off x="3028950" y="5448300"/>
            <a:ext cx="18478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174,664</a:t>
            </a:r>
            <a:endParaRPr sz="1125" b="0">
              <a:solidFill>
                <a:srgbClr val="172033"/>
              </a:solidFill>
            </a:endParaRPr>
          </a:p>
        </p:txBody>
      </p:sp>
      <p:sp>
        <p:nvSpPr>
          <p:cNvPr id="26" name="矩形 25"/>
          <p:cNvSpPr>
            <a:spLocks noGrp="1"/>
          </p:cNvSpPr>
          <p:nvPr/>
        </p:nvSpPr>
        <p:spPr>
          <a:xfrm>
            <a:off x="4953000" y="5372100"/>
            <a:ext cx="2000250" cy="457200"/>
          </a:xfrm>
          <a:prstGeom prst="rect">
            <a:avLst/>
          </a:prstGeom>
          <a:solidFill>
            <a:srgbClr val="FFFFFF"/>
          </a:solidFill>
          <a:ln w="9525">
            <a:solidFill>
              <a:srgbClr val="D9E6F7"/>
            </a:solidFill>
            <a:prstDash val="solid"/>
          </a:ln>
        </p:spPr>
      </p:sp>
      <p:sp>
        <p:nvSpPr>
          <p:cNvPr id="27" name="矩形 26"/>
          <p:cNvSpPr>
            <a:spLocks noGrp="1"/>
          </p:cNvSpPr>
          <p:nvPr/>
        </p:nvSpPr>
        <p:spPr>
          <a:xfrm>
            <a:off x="5029200" y="5448300"/>
            <a:ext cx="18478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59.2%</a:t>
            </a:r>
            <a:endParaRPr sz="1125" b="0">
              <a:solidFill>
                <a:srgbClr val="172033"/>
              </a:solidFill>
            </a:endParaRPr>
          </a:p>
        </p:txBody>
      </p:sp>
      <p:sp>
        <p:nvSpPr>
          <p:cNvPr id="28" name="矩形 27"/>
          <p:cNvSpPr>
            <a:spLocks noGrp="1"/>
          </p:cNvSpPr>
          <p:nvPr/>
        </p:nvSpPr>
        <p:spPr>
          <a:xfrm>
            <a:off x="6953250" y="5372100"/>
            <a:ext cx="3714750" cy="457200"/>
          </a:xfrm>
          <a:prstGeom prst="rect">
            <a:avLst/>
          </a:prstGeom>
          <a:solidFill>
            <a:srgbClr val="FFFFFF"/>
          </a:solidFill>
          <a:ln w="9525">
            <a:solidFill>
              <a:srgbClr val="D9E6F7"/>
            </a:solidFill>
            <a:prstDash val="solid"/>
          </a:ln>
        </p:spPr>
      </p:sp>
      <p:sp>
        <p:nvSpPr>
          <p:cNvPr id="29" name="矩形 28"/>
          <p:cNvSpPr>
            <a:spLocks noGrp="1"/>
          </p:cNvSpPr>
          <p:nvPr/>
        </p:nvSpPr>
        <p:spPr>
          <a:xfrm>
            <a:off x="7029450" y="5448300"/>
            <a:ext cx="3562350" cy="361950"/>
          </a:xfrm>
          <a:prstGeom prst="rect">
            <a:avLst/>
          </a:prstGeom>
          <a:noFill/>
          <a:ln w="0">
            <a:noFill/>
            <a:prstDash val="solid"/>
          </a:ln>
        </p:spPr>
        <p:txBody>
          <a:bodyPr/>
          <a:lstStyle/>
          <a:p>
            <a:pPr algn="l">
              <a:defRPr sz="1125" b="0">
                <a:solidFill>
                  <a:srgbClr val="172033"/>
                </a:solidFill>
              </a:defRPr>
            </a:pPr>
            <a:r>
              <a:rPr sz="1125" b="0">
                <a:solidFill>
                  <a:srgbClr val="172033"/>
                </a:solidFill>
              </a:rPr>
              <a:t>2024-04-01 至 2024-05-31</a:t>
            </a:r>
            <a:endParaRPr sz="1125" b="0">
              <a:solidFill>
                <a:srgbClr val="172033"/>
              </a:solidFill>
            </a:endParaRPr>
          </a:p>
        </p:txBody>
      </p:sp>
      <p:sp>
        <p:nvSpPr>
          <p:cNvPr id="30" name="矩形 29"/>
          <p:cNvSpPr>
            <a:spLocks noGrp="1"/>
          </p:cNvSpPr>
          <p:nvPr/>
        </p:nvSpPr>
        <p:spPr>
          <a:xfrm>
            <a:off x="514350" y="6429375"/>
            <a:ext cx="11163300" cy="9525"/>
          </a:xfrm>
          <a:prstGeom prst="rect">
            <a:avLst/>
          </a:prstGeom>
          <a:solidFill>
            <a:srgbClr val="D9E6F7"/>
          </a:solidFill>
          <a:ln w="0">
            <a:noFill/>
            <a:prstDash val="solid"/>
          </a:ln>
        </p:spPr>
      </p:sp>
      <p:sp>
        <p:nvSpPr>
          <p:cNvPr id="32" name="矩形 31"/>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lang="en-US" sz="825" b="0">
                <a:solidFill>
                  <a:srgbClr val="5D6B82"/>
                </a:solidFill>
              </a:rPr>
              <a:t>08</a:t>
            </a:r>
            <a:endParaRPr lang="en-US" sz="825" b="0">
              <a:solidFill>
                <a:srgbClr val="5D6B8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状态占比</a:t>
            </a:r>
            <a:endParaRPr sz="1875" b="1">
              <a:solidFill>
                <a:srgbClr val="FFFFFF"/>
              </a:solidFill>
            </a:endParaRPr>
          </a:p>
        </p:txBody>
      </p:sp>
      <p:pic>
        <p:nvPicPr>
          <p:cNvPr id="73" name="图片 72"/>
          <p:cNvPicPr>
            <a:picLocks noChangeAspect="1"/>
          </p:cNvPicPr>
          <p:nvPr/>
        </p:nvPicPr>
        <p:blipFill>
          <a:blip r:embed="rId1"/>
          <a:stretch>
            <a:fillRect/>
          </a:stretch>
        </p:blipFill>
        <p:spPr>
          <a:xfrm>
            <a:off x="983673" y="952500"/>
            <a:ext cx="3766705" cy="2857500"/>
          </a:xfrm>
          <a:prstGeom prst="roundRect">
            <a:avLst>
              <a:gd name="adj" fmla="val 2667"/>
            </a:avLst>
          </a:prstGeom>
        </p:spPr>
      </p:pic>
      <p:pic>
        <p:nvPicPr>
          <p:cNvPr id="74" name="图片 73"/>
          <p:cNvPicPr>
            <a:picLocks noChangeAspect="1"/>
          </p:cNvPicPr>
          <p:nvPr/>
        </p:nvPicPr>
        <p:blipFill>
          <a:blip r:embed="rId2"/>
          <a:stretch>
            <a:fillRect/>
          </a:stretch>
        </p:blipFill>
        <p:spPr>
          <a:xfrm>
            <a:off x="7441623" y="952500"/>
            <a:ext cx="3766705" cy="2857500"/>
          </a:xfrm>
          <a:prstGeom prst="roundRect">
            <a:avLst>
              <a:gd name="adj" fmla="val 2667"/>
            </a:avLst>
          </a:prstGeom>
        </p:spPr>
      </p:pic>
      <p:sp>
        <p:nvSpPr>
          <p:cNvPr id="6" name="矩形 5"/>
          <p:cNvSpPr>
            <a:spLocks noGrp="1"/>
          </p:cNvSpPr>
          <p:nvPr/>
        </p:nvSpPr>
        <p:spPr>
          <a:xfrm>
            <a:off x="863600" y="4004945"/>
            <a:ext cx="1238250" cy="371475"/>
          </a:xfrm>
          <a:prstGeom prst="rect">
            <a:avLst/>
          </a:prstGeom>
          <a:solidFill>
            <a:srgbClr val="0B3A75"/>
          </a:solidFill>
          <a:ln w="9525">
            <a:solidFill>
              <a:srgbClr val="D9E6F7"/>
            </a:solidFill>
            <a:prstDash val="solid"/>
          </a:ln>
        </p:spPr>
      </p:sp>
      <p:sp>
        <p:nvSpPr>
          <p:cNvPr id="7" name="矩形 6"/>
          <p:cNvSpPr>
            <a:spLocks noGrp="1"/>
          </p:cNvSpPr>
          <p:nvPr/>
        </p:nvSpPr>
        <p:spPr>
          <a:xfrm>
            <a:off x="939800" y="4081145"/>
            <a:ext cx="1085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设备</a:t>
            </a:r>
            <a:endParaRPr sz="1050" b="1">
              <a:solidFill>
                <a:srgbClr val="FFFFFF"/>
              </a:solidFill>
            </a:endParaRPr>
          </a:p>
        </p:txBody>
      </p:sp>
      <p:sp>
        <p:nvSpPr>
          <p:cNvPr id="8" name="矩形 7"/>
          <p:cNvSpPr>
            <a:spLocks noGrp="1"/>
          </p:cNvSpPr>
          <p:nvPr/>
        </p:nvSpPr>
        <p:spPr>
          <a:xfrm>
            <a:off x="2101850" y="4004945"/>
            <a:ext cx="1238250" cy="371475"/>
          </a:xfrm>
          <a:prstGeom prst="rect">
            <a:avLst/>
          </a:prstGeom>
          <a:solidFill>
            <a:srgbClr val="0B3A75"/>
          </a:solidFill>
          <a:ln w="9525">
            <a:solidFill>
              <a:srgbClr val="D9E6F7"/>
            </a:solidFill>
            <a:prstDash val="solid"/>
          </a:ln>
        </p:spPr>
      </p:sp>
      <p:sp>
        <p:nvSpPr>
          <p:cNvPr id="9" name="矩形 8"/>
          <p:cNvSpPr>
            <a:spLocks noGrp="1"/>
          </p:cNvSpPr>
          <p:nvPr/>
        </p:nvSpPr>
        <p:spPr>
          <a:xfrm>
            <a:off x="2178050" y="4081145"/>
            <a:ext cx="1085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状态</a:t>
            </a:r>
            <a:endParaRPr sz="1050" b="1">
              <a:solidFill>
                <a:srgbClr val="FFFFFF"/>
              </a:solidFill>
            </a:endParaRPr>
          </a:p>
        </p:txBody>
      </p:sp>
      <p:sp>
        <p:nvSpPr>
          <p:cNvPr id="10" name="矩形 9"/>
          <p:cNvSpPr>
            <a:spLocks noGrp="1"/>
          </p:cNvSpPr>
          <p:nvPr/>
        </p:nvSpPr>
        <p:spPr>
          <a:xfrm>
            <a:off x="3340100" y="4004945"/>
            <a:ext cx="1238250" cy="371475"/>
          </a:xfrm>
          <a:prstGeom prst="rect">
            <a:avLst/>
          </a:prstGeom>
          <a:solidFill>
            <a:srgbClr val="0B3A75"/>
          </a:solidFill>
          <a:ln w="9525">
            <a:solidFill>
              <a:srgbClr val="D9E6F7"/>
            </a:solidFill>
            <a:prstDash val="solid"/>
          </a:ln>
        </p:spPr>
      </p:sp>
      <p:sp>
        <p:nvSpPr>
          <p:cNvPr id="11" name="矩形 10"/>
          <p:cNvSpPr>
            <a:spLocks noGrp="1"/>
          </p:cNvSpPr>
          <p:nvPr/>
        </p:nvSpPr>
        <p:spPr>
          <a:xfrm>
            <a:off x="3416300" y="4081145"/>
            <a:ext cx="1085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段数</a:t>
            </a:r>
            <a:endParaRPr sz="1050" b="1">
              <a:solidFill>
                <a:srgbClr val="FFFFFF"/>
              </a:solidFill>
            </a:endParaRPr>
          </a:p>
        </p:txBody>
      </p:sp>
      <p:sp>
        <p:nvSpPr>
          <p:cNvPr id="12" name="矩形 11"/>
          <p:cNvSpPr>
            <a:spLocks noGrp="1"/>
          </p:cNvSpPr>
          <p:nvPr/>
        </p:nvSpPr>
        <p:spPr>
          <a:xfrm>
            <a:off x="4578350" y="4004945"/>
            <a:ext cx="2381250" cy="371475"/>
          </a:xfrm>
          <a:prstGeom prst="rect">
            <a:avLst/>
          </a:prstGeom>
          <a:solidFill>
            <a:srgbClr val="0B3A75"/>
          </a:solidFill>
          <a:ln w="9525">
            <a:solidFill>
              <a:srgbClr val="D9E6F7"/>
            </a:solidFill>
            <a:prstDash val="solid"/>
          </a:ln>
        </p:spPr>
      </p:sp>
      <p:sp>
        <p:nvSpPr>
          <p:cNvPr id="13" name="矩形 12"/>
          <p:cNvSpPr>
            <a:spLocks noGrp="1"/>
          </p:cNvSpPr>
          <p:nvPr/>
        </p:nvSpPr>
        <p:spPr>
          <a:xfrm>
            <a:off x="4654550" y="4081145"/>
            <a:ext cx="2228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累计时长</a:t>
            </a:r>
            <a:endParaRPr sz="1050" b="1">
              <a:solidFill>
                <a:srgbClr val="FFFFFF"/>
              </a:solidFill>
            </a:endParaRPr>
          </a:p>
        </p:txBody>
      </p:sp>
      <p:sp>
        <p:nvSpPr>
          <p:cNvPr id="14" name="矩形 13"/>
          <p:cNvSpPr>
            <a:spLocks noGrp="1"/>
          </p:cNvSpPr>
          <p:nvPr/>
        </p:nvSpPr>
        <p:spPr>
          <a:xfrm>
            <a:off x="6959600" y="4004945"/>
            <a:ext cx="2000250" cy="371475"/>
          </a:xfrm>
          <a:prstGeom prst="rect">
            <a:avLst/>
          </a:prstGeom>
          <a:solidFill>
            <a:srgbClr val="0B3A75"/>
          </a:solidFill>
          <a:ln w="9525">
            <a:solidFill>
              <a:srgbClr val="D9E6F7"/>
            </a:solidFill>
            <a:prstDash val="solid"/>
          </a:ln>
        </p:spPr>
      </p:sp>
      <p:sp>
        <p:nvSpPr>
          <p:cNvPr id="15" name="矩形 14"/>
          <p:cNvSpPr>
            <a:spLocks noGrp="1"/>
          </p:cNvSpPr>
          <p:nvPr/>
        </p:nvSpPr>
        <p:spPr>
          <a:xfrm>
            <a:off x="7035800" y="4081145"/>
            <a:ext cx="1847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平均时长</a:t>
            </a:r>
            <a:endParaRPr sz="1050" b="1">
              <a:solidFill>
                <a:srgbClr val="FFFFFF"/>
              </a:solidFill>
            </a:endParaRPr>
          </a:p>
        </p:txBody>
      </p:sp>
      <p:sp>
        <p:nvSpPr>
          <p:cNvPr id="16" name="矩形 15"/>
          <p:cNvSpPr>
            <a:spLocks noGrp="1"/>
          </p:cNvSpPr>
          <p:nvPr/>
        </p:nvSpPr>
        <p:spPr>
          <a:xfrm>
            <a:off x="8959850" y="4004945"/>
            <a:ext cx="2000250" cy="371475"/>
          </a:xfrm>
          <a:prstGeom prst="rect">
            <a:avLst/>
          </a:prstGeom>
          <a:solidFill>
            <a:srgbClr val="0B3A75"/>
          </a:solidFill>
          <a:ln w="9525">
            <a:solidFill>
              <a:srgbClr val="D9E6F7"/>
            </a:solidFill>
            <a:prstDash val="solid"/>
          </a:ln>
        </p:spPr>
      </p:sp>
      <p:sp>
        <p:nvSpPr>
          <p:cNvPr id="17" name="矩形 16"/>
          <p:cNvSpPr>
            <a:spLocks noGrp="1"/>
          </p:cNvSpPr>
          <p:nvPr/>
        </p:nvSpPr>
        <p:spPr>
          <a:xfrm>
            <a:off x="9036050" y="4081145"/>
            <a:ext cx="1847850" cy="276225"/>
          </a:xfrm>
          <a:prstGeom prst="rect">
            <a:avLst/>
          </a:prstGeom>
          <a:noFill/>
          <a:ln w="0">
            <a:noFill/>
            <a:prstDash val="solid"/>
          </a:ln>
        </p:spPr>
        <p:txBody>
          <a:bodyPr/>
          <a:lstStyle/>
          <a:p>
            <a:pPr algn="l">
              <a:defRPr sz="1050" b="1">
                <a:solidFill>
                  <a:srgbClr val="FFFFFF"/>
                </a:solidFill>
              </a:defRPr>
            </a:pPr>
            <a:r>
              <a:rPr sz="1050" b="1">
                <a:solidFill>
                  <a:srgbClr val="FFFFFF"/>
                </a:solidFill>
              </a:rPr>
              <a:t>最长时长</a:t>
            </a:r>
            <a:endParaRPr sz="1050" b="1">
              <a:solidFill>
                <a:srgbClr val="FFFFFF"/>
              </a:solidFill>
            </a:endParaRPr>
          </a:p>
        </p:txBody>
      </p:sp>
      <p:sp>
        <p:nvSpPr>
          <p:cNvPr id="18" name="矩形 17"/>
          <p:cNvSpPr>
            <a:spLocks noGrp="1"/>
          </p:cNvSpPr>
          <p:nvPr/>
        </p:nvSpPr>
        <p:spPr>
          <a:xfrm>
            <a:off x="863600" y="4376420"/>
            <a:ext cx="1238250" cy="371475"/>
          </a:xfrm>
          <a:prstGeom prst="rect">
            <a:avLst/>
          </a:prstGeom>
          <a:solidFill>
            <a:srgbClr val="F7FBFF"/>
          </a:solidFill>
          <a:ln w="9525">
            <a:solidFill>
              <a:srgbClr val="D9E6F7"/>
            </a:solidFill>
            <a:prstDash val="solid"/>
          </a:ln>
        </p:spPr>
      </p:sp>
      <p:sp>
        <p:nvSpPr>
          <p:cNvPr id="19" name="矩形 18"/>
          <p:cNvSpPr>
            <a:spLocks noGrp="1"/>
          </p:cNvSpPr>
          <p:nvPr/>
        </p:nvSpPr>
        <p:spPr>
          <a:xfrm>
            <a:off x="939800" y="445262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刮板机</a:t>
            </a:r>
            <a:endParaRPr sz="900" b="0">
              <a:solidFill>
                <a:srgbClr val="172033"/>
              </a:solidFill>
            </a:endParaRPr>
          </a:p>
        </p:txBody>
      </p:sp>
      <p:sp>
        <p:nvSpPr>
          <p:cNvPr id="20" name="矩形 19"/>
          <p:cNvSpPr>
            <a:spLocks noGrp="1"/>
          </p:cNvSpPr>
          <p:nvPr/>
        </p:nvSpPr>
        <p:spPr>
          <a:xfrm>
            <a:off x="2101850" y="4376420"/>
            <a:ext cx="1238250" cy="371475"/>
          </a:xfrm>
          <a:prstGeom prst="rect">
            <a:avLst/>
          </a:prstGeom>
          <a:solidFill>
            <a:srgbClr val="F7FBFF"/>
          </a:solidFill>
          <a:ln w="9525">
            <a:solidFill>
              <a:srgbClr val="D9E6F7"/>
            </a:solidFill>
            <a:prstDash val="solid"/>
          </a:ln>
        </p:spPr>
      </p:sp>
      <p:sp>
        <p:nvSpPr>
          <p:cNvPr id="21" name="矩形 20"/>
          <p:cNvSpPr>
            <a:spLocks noGrp="1"/>
          </p:cNvSpPr>
          <p:nvPr/>
        </p:nvSpPr>
        <p:spPr>
          <a:xfrm>
            <a:off x="2178050" y="445262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停机</a:t>
            </a:r>
            <a:endParaRPr sz="900" b="0">
              <a:solidFill>
                <a:srgbClr val="172033"/>
              </a:solidFill>
            </a:endParaRPr>
          </a:p>
        </p:txBody>
      </p:sp>
      <p:sp>
        <p:nvSpPr>
          <p:cNvPr id="22" name="矩形 21"/>
          <p:cNvSpPr>
            <a:spLocks noGrp="1"/>
          </p:cNvSpPr>
          <p:nvPr/>
        </p:nvSpPr>
        <p:spPr>
          <a:xfrm>
            <a:off x="3340100" y="4376420"/>
            <a:ext cx="1238250" cy="371475"/>
          </a:xfrm>
          <a:prstGeom prst="rect">
            <a:avLst/>
          </a:prstGeom>
          <a:solidFill>
            <a:srgbClr val="F7FBFF"/>
          </a:solidFill>
          <a:ln w="9525">
            <a:solidFill>
              <a:srgbClr val="D9E6F7"/>
            </a:solidFill>
            <a:prstDash val="solid"/>
          </a:ln>
        </p:spPr>
      </p:sp>
      <p:sp>
        <p:nvSpPr>
          <p:cNvPr id="23" name="矩形 22"/>
          <p:cNvSpPr>
            <a:spLocks noGrp="1"/>
          </p:cNvSpPr>
          <p:nvPr/>
        </p:nvSpPr>
        <p:spPr>
          <a:xfrm>
            <a:off x="3416300" y="445262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1,268</a:t>
            </a:r>
            <a:endParaRPr sz="900" b="0">
              <a:solidFill>
                <a:srgbClr val="172033"/>
              </a:solidFill>
            </a:endParaRPr>
          </a:p>
        </p:txBody>
      </p:sp>
      <p:sp>
        <p:nvSpPr>
          <p:cNvPr id="24" name="矩形 23"/>
          <p:cNvSpPr>
            <a:spLocks noGrp="1"/>
          </p:cNvSpPr>
          <p:nvPr/>
        </p:nvSpPr>
        <p:spPr>
          <a:xfrm>
            <a:off x="4578350" y="4376420"/>
            <a:ext cx="2381250" cy="371475"/>
          </a:xfrm>
          <a:prstGeom prst="rect">
            <a:avLst/>
          </a:prstGeom>
          <a:solidFill>
            <a:srgbClr val="F7FBFF"/>
          </a:solidFill>
          <a:ln w="9525">
            <a:solidFill>
              <a:srgbClr val="D9E6F7"/>
            </a:solidFill>
            <a:prstDash val="solid"/>
          </a:ln>
        </p:spPr>
      </p:sp>
      <p:sp>
        <p:nvSpPr>
          <p:cNvPr id="25" name="矩形 24"/>
          <p:cNvSpPr>
            <a:spLocks noGrp="1"/>
          </p:cNvSpPr>
          <p:nvPr/>
        </p:nvSpPr>
        <p:spPr>
          <a:xfrm>
            <a:off x="4654550" y="4452620"/>
            <a:ext cx="2228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15417 min</a:t>
            </a:r>
            <a:endParaRPr sz="900" b="0">
              <a:solidFill>
                <a:srgbClr val="172033"/>
              </a:solidFill>
            </a:endParaRPr>
          </a:p>
        </p:txBody>
      </p:sp>
      <p:sp>
        <p:nvSpPr>
          <p:cNvPr id="26" name="矩形 25"/>
          <p:cNvSpPr>
            <a:spLocks noGrp="1"/>
          </p:cNvSpPr>
          <p:nvPr/>
        </p:nvSpPr>
        <p:spPr>
          <a:xfrm>
            <a:off x="6959600" y="4376420"/>
            <a:ext cx="2000250" cy="371475"/>
          </a:xfrm>
          <a:prstGeom prst="rect">
            <a:avLst/>
          </a:prstGeom>
          <a:solidFill>
            <a:srgbClr val="F7FBFF"/>
          </a:solidFill>
          <a:ln w="9525">
            <a:solidFill>
              <a:srgbClr val="D9E6F7"/>
            </a:solidFill>
            <a:prstDash val="solid"/>
          </a:ln>
        </p:spPr>
      </p:sp>
      <p:sp>
        <p:nvSpPr>
          <p:cNvPr id="27" name="矩形 26"/>
          <p:cNvSpPr>
            <a:spLocks noGrp="1"/>
          </p:cNvSpPr>
          <p:nvPr/>
        </p:nvSpPr>
        <p:spPr>
          <a:xfrm>
            <a:off x="7035800" y="4452620"/>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12.2 min</a:t>
            </a:r>
            <a:endParaRPr sz="900" b="0">
              <a:solidFill>
                <a:srgbClr val="172033"/>
              </a:solidFill>
            </a:endParaRPr>
          </a:p>
        </p:txBody>
      </p:sp>
      <p:sp>
        <p:nvSpPr>
          <p:cNvPr id="28" name="矩形 27"/>
          <p:cNvSpPr>
            <a:spLocks noGrp="1"/>
          </p:cNvSpPr>
          <p:nvPr/>
        </p:nvSpPr>
        <p:spPr>
          <a:xfrm>
            <a:off x="8959850" y="4376420"/>
            <a:ext cx="2000250" cy="371475"/>
          </a:xfrm>
          <a:prstGeom prst="rect">
            <a:avLst/>
          </a:prstGeom>
          <a:solidFill>
            <a:srgbClr val="F7FBFF"/>
          </a:solidFill>
          <a:ln w="9525">
            <a:solidFill>
              <a:srgbClr val="D9E6F7"/>
            </a:solidFill>
            <a:prstDash val="solid"/>
          </a:ln>
        </p:spPr>
      </p:sp>
      <p:sp>
        <p:nvSpPr>
          <p:cNvPr id="29" name="矩形 28"/>
          <p:cNvSpPr>
            <a:spLocks noGrp="1"/>
          </p:cNvSpPr>
          <p:nvPr/>
        </p:nvSpPr>
        <p:spPr>
          <a:xfrm>
            <a:off x="9036050" y="4452620"/>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366 min</a:t>
            </a:r>
            <a:endParaRPr sz="900" b="0">
              <a:solidFill>
                <a:srgbClr val="172033"/>
              </a:solidFill>
            </a:endParaRPr>
          </a:p>
        </p:txBody>
      </p:sp>
      <p:sp>
        <p:nvSpPr>
          <p:cNvPr id="30" name="矩形 29"/>
          <p:cNvSpPr>
            <a:spLocks noGrp="1"/>
          </p:cNvSpPr>
          <p:nvPr/>
        </p:nvSpPr>
        <p:spPr>
          <a:xfrm>
            <a:off x="863600" y="4747895"/>
            <a:ext cx="1238250" cy="371475"/>
          </a:xfrm>
          <a:prstGeom prst="rect">
            <a:avLst/>
          </a:prstGeom>
          <a:solidFill>
            <a:srgbClr val="FFFFFF"/>
          </a:solidFill>
          <a:ln w="9525">
            <a:solidFill>
              <a:srgbClr val="D9E6F7"/>
            </a:solidFill>
            <a:prstDash val="solid"/>
          </a:ln>
        </p:spPr>
      </p:sp>
      <p:sp>
        <p:nvSpPr>
          <p:cNvPr id="31" name="矩形 30"/>
          <p:cNvSpPr>
            <a:spLocks noGrp="1"/>
          </p:cNvSpPr>
          <p:nvPr/>
        </p:nvSpPr>
        <p:spPr>
          <a:xfrm>
            <a:off x="939800" y="482409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刮板机</a:t>
            </a:r>
            <a:endParaRPr sz="900" b="0">
              <a:solidFill>
                <a:srgbClr val="172033"/>
              </a:solidFill>
            </a:endParaRPr>
          </a:p>
        </p:txBody>
      </p:sp>
      <p:sp>
        <p:nvSpPr>
          <p:cNvPr id="32" name="矩形 31"/>
          <p:cNvSpPr>
            <a:spLocks noGrp="1"/>
          </p:cNvSpPr>
          <p:nvPr/>
        </p:nvSpPr>
        <p:spPr>
          <a:xfrm>
            <a:off x="2101850" y="4747895"/>
            <a:ext cx="1238250" cy="371475"/>
          </a:xfrm>
          <a:prstGeom prst="rect">
            <a:avLst/>
          </a:prstGeom>
          <a:solidFill>
            <a:srgbClr val="FFFFFF"/>
          </a:solidFill>
          <a:ln w="9525">
            <a:solidFill>
              <a:srgbClr val="D9E6F7"/>
            </a:solidFill>
            <a:prstDash val="solid"/>
          </a:ln>
        </p:spPr>
      </p:sp>
      <p:sp>
        <p:nvSpPr>
          <p:cNvPr id="33" name="矩形 32"/>
          <p:cNvSpPr>
            <a:spLocks noGrp="1"/>
          </p:cNvSpPr>
          <p:nvPr/>
        </p:nvSpPr>
        <p:spPr>
          <a:xfrm>
            <a:off x="2178050" y="482409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运行</a:t>
            </a:r>
            <a:endParaRPr sz="900" b="0">
              <a:solidFill>
                <a:srgbClr val="172033"/>
              </a:solidFill>
            </a:endParaRPr>
          </a:p>
        </p:txBody>
      </p:sp>
      <p:sp>
        <p:nvSpPr>
          <p:cNvPr id="34" name="矩形 33"/>
          <p:cNvSpPr>
            <a:spLocks noGrp="1"/>
          </p:cNvSpPr>
          <p:nvPr/>
        </p:nvSpPr>
        <p:spPr>
          <a:xfrm>
            <a:off x="3340100" y="4747895"/>
            <a:ext cx="1238250" cy="371475"/>
          </a:xfrm>
          <a:prstGeom prst="rect">
            <a:avLst/>
          </a:prstGeom>
          <a:solidFill>
            <a:srgbClr val="FFFFFF"/>
          </a:solidFill>
          <a:ln w="9525">
            <a:solidFill>
              <a:srgbClr val="D9E6F7"/>
            </a:solidFill>
            <a:prstDash val="solid"/>
          </a:ln>
        </p:spPr>
      </p:sp>
      <p:sp>
        <p:nvSpPr>
          <p:cNvPr id="35" name="矩形 34"/>
          <p:cNvSpPr>
            <a:spLocks noGrp="1"/>
          </p:cNvSpPr>
          <p:nvPr/>
        </p:nvSpPr>
        <p:spPr>
          <a:xfrm>
            <a:off x="3416300" y="482409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1,269</a:t>
            </a:r>
            <a:endParaRPr sz="900" b="0">
              <a:solidFill>
                <a:srgbClr val="172033"/>
              </a:solidFill>
            </a:endParaRPr>
          </a:p>
        </p:txBody>
      </p:sp>
      <p:sp>
        <p:nvSpPr>
          <p:cNvPr id="36" name="矩形 35"/>
          <p:cNvSpPr>
            <a:spLocks noGrp="1"/>
          </p:cNvSpPr>
          <p:nvPr/>
        </p:nvSpPr>
        <p:spPr>
          <a:xfrm>
            <a:off x="4578350" y="4747895"/>
            <a:ext cx="2381250" cy="371475"/>
          </a:xfrm>
          <a:prstGeom prst="rect">
            <a:avLst/>
          </a:prstGeom>
          <a:solidFill>
            <a:srgbClr val="FFFFFF"/>
          </a:solidFill>
          <a:ln w="9525">
            <a:solidFill>
              <a:srgbClr val="D9E6F7"/>
            </a:solidFill>
            <a:prstDash val="solid"/>
          </a:ln>
        </p:spPr>
      </p:sp>
      <p:sp>
        <p:nvSpPr>
          <p:cNvPr id="37" name="矩形 36"/>
          <p:cNvSpPr>
            <a:spLocks noGrp="1"/>
          </p:cNvSpPr>
          <p:nvPr/>
        </p:nvSpPr>
        <p:spPr>
          <a:xfrm>
            <a:off x="4654550" y="4824095"/>
            <a:ext cx="2228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24909 min</a:t>
            </a:r>
            <a:endParaRPr sz="900" b="0">
              <a:solidFill>
                <a:srgbClr val="172033"/>
              </a:solidFill>
            </a:endParaRPr>
          </a:p>
        </p:txBody>
      </p:sp>
      <p:sp>
        <p:nvSpPr>
          <p:cNvPr id="38" name="矩形 37"/>
          <p:cNvSpPr>
            <a:spLocks noGrp="1"/>
          </p:cNvSpPr>
          <p:nvPr/>
        </p:nvSpPr>
        <p:spPr>
          <a:xfrm>
            <a:off x="6959600" y="4747895"/>
            <a:ext cx="2000250" cy="371475"/>
          </a:xfrm>
          <a:prstGeom prst="rect">
            <a:avLst/>
          </a:prstGeom>
          <a:solidFill>
            <a:srgbClr val="FFFFFF"/>
          </a:solidFill>
          <a:ln w="9525">
            <a:solidFill>
              <a:srgbClr val="D9E6F7"/>
            </a:solidFill>
            <a:prstDash val="solid"/>
          </a:ln>
        </p:spPr>
      </p:sp>
      <p:sp>
        <p:nvSpPr>
          <p:cNvPr id="39" name="矩形 38"/>
          <p:cNvSpPr>
            <a:spLocks noGrp="1"/>
          </p:cNvSpPr>
          <p:nvPr/>
        </p:nvSpPr>
        <p:spPr>
          <a:xfrm>
            <a:off x="7035800" y="4824095"/>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19.6 min</a:t>
            </a:r>
            <a:endParaRPr sz="900" b="0">
              <a:solidFill>
                <a:srgbClr val="172033"/>
              </a:solidFill>
            </a:endParaRPr>
          </a:p>
        </p:txBody>
      </p:sp>
      <p:sp>
        <p:nvSpPr>
          <p:cNvPr id="40" name="矩形 39"/>
          <p:cNvSpPr>
            <a:spLocks noGrp="1"/>
          </p:cNvSpPr>
          <p:nvPr/>
        </p:nvSpPr>
        <p:spPr>
          <a:xfrm>
            <a:off x="8959850" y="4747895"/>
            <a:ext cx="2000250" cy="371475"/>
          </a:xfrm>
          <a:prstGeom prst="rect">
            <a:avLst/>
          </a:prstGeom>
          <a:solidFill>
            <a:srgbClr val="FFFFFF"/>
          </a:solidFill>
          <a:ln w="9525">
            <a:solidFill>
              <a:srgbClr val="D9E6F7"/>
            </a:solidFill>
            <a:prstDash val="solid"/>
          </a:ln>
        </p:spPr>
      </p:sp>
      <p:sp>
        <p:nvSpPr>
          <p:cNvPr id="41" name="矩形 40"/>
          <p:cNvSpPr>
            <a:spLocks noGrp="1"/>
          </p:cNvSpPr>
          <p:nvPr/>
        </p:nvSpPr>
        <p:spPr>
          <a:xfrm>
            <a:off x="9036050" y="4824095"/>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363 min</a:t>
            </a:r>
            <a:endParaRPr sz="900" b="0">
              <a:solidFill>
                <a:srgbClr val="172033"/>
              </a:solidFill>
            </a:endParaRPr>
          </a:p>
        </p:txBody>
      </p:sp>
      <p:sp>
        <p:nvSpPr>
          <p:cNvPr id="42" name="矩形 41"/>
          <p:cNvSpPr>
            <a:spLocks noGrp="1"/>
          </p:cNvSpPr>
          <p:nvPr/>
        </p:nvSpPr>
        <p:spPr>
          <a:xfrm>
            <a:off x="863600" y="5119370"/>
            <a:ext cx="1238250" cy="371475"/>
          </a:xfrm>
          <a:prstGeom prst="rect">
            <a:avLst/>
          </a:prstGeom>
          <a:solidFill>
            <a:srgbClr val="F7FBFF"/>
          </a:solidFill>
          <a:ln w="9525">
            <a:solidFill>
              <a:srgbClr val="D9E6F7"/>
            </a:solidFill>
            <a:prstDash val="solid"/>
          </a:ln>
        </p:spPr>
      </p:sp>
      <p:sp>
        <p:nvSpPr>
          <p:cNvPr id="43" name="矩形 42"/>
          <p:cNvSpPr>
            <a:spLocks noGrp="1"/>
          </p:cNvSpPr>
          <p:nvPr/>
        </p:nvSpPr>
        <p:spPr>
          <a:xfrm>
            <a:off x="939800" y="519557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a:t>
            </a:r>
            <a:endParaRPr sz="900" b="0">
              <a:solidFill>
                <a:srgbClr val="172033"/>
              </a:solidFill>
            </a:endParaRPr>
          </a:p>
        </p:txBody>
      </p:sp>
      <p:sp>
        <p:nvSpPr>
          <p:cNvPr id="44" name="矩形 43"/>
          <p:cNvSpPr>
            <a:spLocks noGrp="1"/>
          </p:cNvSpPr>
          <p:nvPr/>
        </p:nvSpPr>
        <p:spPr>
          <a:xfrm>
            <a:off x="2101850" y="5119370"/>
            <a:ext cx="1238250" cy="371475"/>
          </a:xfrm>
          <a:prstGeom prst="rect">
            <a:avLst/>
          </a:prstGeom>
          <a:solidFill>
            <a:srgbClr val="F7FBFF"/>
          </a:solidFill>
          <a:ln w="9525">
            <a:solidFill>
              <a:srgbClr val="D9E6F7"/>
            </a:solidFill>
            <a:prstDash val="solid"/>
          </a:ln>
        </p:spPr>
      </p:sp>
      <p:sp>
        <p:nvSpPr>
          <p:cNvPr id="45" name="矩形 44"/>
          <p:cNvSpPr>
            <a:spLocks noGrp="1"/>
          </p:cNvSpPr>
          <p:nvPr/>
        </p:nvSpPr>
        <p:spPr>
          <a:xfrm>
            <a:off x="2178050" y="519557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停机</a:t>
            </a:r>
            <a:endParaRPr sz="900" b="0">
              <a:solidFill>
                <a:srgbClr val="172033"/>
              </a:solidFill>
            </a:endParaRPr>
          </a:p>
        </p:txBody>
      </p:sp>
      <p:sp>
        <p:nvSpPr>
          <p:cNvPr id="46" name="矩形 45"/>
          <p:cNvSpPr>
            <a:spLocks noGrp="1"/>
          </p:cNvSpPr>
          <p:nvPr/>
        </p:nvSpPr>
        <p:spPr>
          <a:xfrm>
            <a:off x="3340100" y="5119370"/>
            <a:ext cx="1238250" cy="371475"/>
          </a:xfrm>
          <a:prstGeom prst="rect">
            <a:avLst/>
          </a:prstGeom>
          <a:solidFill>
            <a:srgbClr val="F7FBFF"/>
          </a:solidFill>
          <a:ln w="9525">
            <a:solidFill>
              <a:srgbClr val="D9E6F7"/>
            </a:solidFill>
            <a:prstDash val="solid"/>
          </a:ln>
        </p:spPr>
      </p:sp>
      <p:sp>
        <p:nvSpPr>
          <p:cNvPr id="47" name="矩形 46"/>
          <p:cNvSpPr>
            <a:spLocks noGrp="1"/>
          </p:cNvSpPr>
          <p:nvPr/>
        </p:nvSpPr>
        <p:spPr>
          <a:xfrm>
            <a:off x="3416300" y="5195570"/>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933</a:t>
            </a:r>
            <a:endParaRPr sz="900" b="0">
              <a:solidFill>
                <a:srgbClr val="172033"/>
              </a:solidFill>
            </a:endParaRPr>
          </a:p>
        </p:txBody>
      </p:sp>
      <p:sp>
        <p:nvSpPr>
          <p:cNvPr id="48" name="矩形 47"/>
          <p:cNvSpPr>
            <a:spLocks noGrp="1"/>
          </p:cNvSpPr>
          <p:nvPr/>
        </p:nvSpPr>
        <p:spPr>
          <a:xfrm>
            <a:off x="4578350" y="5119370"/>
            <a:ext cx="2381250" cy="371475"/>
          </a:xfrm>
          <a:prstGeom prst="rect">
            <a:avLst/>
          </a:prstGeom>
          <a:solidFill>
            <a:srgbClr val="F7FBFF"/>
          </a:solidFill>
          <a:ln w="9525">
            <a:solidFill>
              <a:srgbClr val="D9E6F7"/>
            </a:solidFill>
            <a:prstDash val="solid"/>
          </a:ln>
        </p:spPr>
      </p:sp>
      <p:sp>
        <p:nvSpPr>
          <p:cNvPr id="49" name="矩形 48"/>
          <p:cNvSpPr>
            <a:spLocks noGrp="1"/>
          </p:cNvSpPr>
          <p:nvPr/>
        </p:nvSpPr>
        <p:spPr>
          <a:xfrm>
            <a:off x="4654550" y="5195570"/>
            <a:ext cx="2228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35604 min</a:t>
            </a:r>
            <a:endParaRPr sz="900" b="0">
              <a:solidFill>
                <a:srgbClr val="172033"/>
              </a:solidFill>
            </a:endParaRPr>
          </a:p>
        </p:txBody>
      </p:sp>
      <p:sp>
        <p:nvSpPr>
          <p:cNvPr id="50" name="矩形 49"/>
          <p:cNvSpPr>
            <a:spLocks noGrp="1"/>
          </p:cNvSpPr>
          <p:nvPr/>
        </p:nvSpPr>
        <p:spPr>
          <a:xfrm>
            <a:off x="6959600" y="5119370"/>
            <a:ext cx="2000250" cy="371475"/>
          </a:xfrm>
          <a:prstGeom prst="rect">
            <a:avLst/>
          </a:prstGeom>
          <a:solidFill>
            <a:srgbClr val="F7FBFF"/>
          </a:solidFill>
          <a:ln w="9525">
            <a:solidFill>
              <a:srgbClr val="D9E6F7"/>
            </a:solidFill>
            <a:prstDash val="solid"/>
          </a:ln>
        </p:spPr>
      </p:sp>
      <p:sp>
        <p:nvSpPr>
          <p:cNvPr id="51" name="矩形 50"/>
          <p:cNvSpPr>
            <a:spLocks noGrp="1"/>
          </p:cNvSpPr>
          <p:nvPr/>
        </p:nvSpPr>
        <p:spPr>
          <a:xfrm>
            <a:off x="7035800" y="5195570"/>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38.2 min</a:t>
            </a:r>
            <a:endParaRPr sz="900" b="0">
              <a:solidFill>
                <a:srgbClr val="172033"/>
              </a:solidFill>
            </a:endParaRPr>
          </a:p>
        </p:txBody>
      </p:sp>
      <p:sp>
        <p:nvSpPr>
          <p:cNvPr id="52" name="矩形 51"/>
          <p:cNvSpPr>
            <a:spLocks noGrp="1"/>
          </p:cNvSpPr>
          <p:nvPr/>
        </p:nvSpPr>
        <p:spPr>
          <a:xfrm>
            <a:off x="8959850" y="5119370"/>
            <a:ext cx="2000250" cy="371475"/>
          </a:xfrm>
          <a:prstGeom prst="rect">
            <a:avLst/>
          </a:prstGeom>
          <a:solidFill>
            <a:srgbClr val="F7FBFF"/>
          </a:solidFill>
          <a:ln w="9525">
            <a:solidFill>
              <a:srgbClr val="D9E6F7"/>
            </a:solidFill>
            <a:prstDash val="solid"/>
          </a:ln>
        </p:spPr>
      </p:sp>
      <p:sp>
        <p:nvSpPr>
          <p:cNvPr id="53" name="矩形 52"/>
          <p:cNvSpPr>
            <a:spLocks noGrp="1"/>
          </p:cNvSpPr>
          <p:nvPr/>
        </p:nvSpPr>
        <p:spPr>
          <a:xfrm>
            <a:off x="9036050" y="5195570"/>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4548 min</a:t>
            </a:r>
            <a:endParaRPr sz="900" b="0">
              <a:solidFill>
                <a:srgbClr val="172033"/>
              </a:solidFill>
            </a:endParaRPr>
          </a:p>
        </p:txBody>
      </p:sp>
      <p:sp>
        <p:nvSpPr>
          <p:cNvPr id="54" name="矩形 53"/>
          <p:cNvSpPr>
            <a:spLocks noGrp="1"/>
          </p:cNvSpPr>
          <p:nvPr/>
        </p:nvSpPr>
        <p:spPr>
          <a:xfrm>
            <a:off x="863600" y="5490845"/>
            <a:ext cx="1238250" cy="371475"/>
          </a:xfrm>
          <a:prstGeom prst="rect">
            <a:avLst/>
          </a:prstGeom>
          <a:solidFill>
            <a:srgbClr val="FFFFFF"/>
          </a:solidFill>
          <a:ln w="9525">
            <a:solidFill>
              <a:srgbClr val="D9E6F7"/>
            </a:solidFill>
            <a:prstDash val="solid"/>
          </a:ln>
        </p:spPr>
      </p:sp>
      <p:sp>
        <p:nvSpPr>
          <p:cNvPr id="55" name="矩形 54"/>
          <p:cNvSpPr>
            <a:spLocks noGrp="1"/>
          </p:cNvSpPr>
          <p:nvPr/>
        </p:nvSpPr>
        <p:spPr>
          <a:xfrm>
            <a:off x="939800" y="556704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破碎机</a:t>
            </a:r>
            <a:endParaRPr sz="900" b="0">
              <a:solidFill>
                <a:srgbClr val="172033"/>
              </a:solidFill>
            </a:endParaRPr>
          </a:p>
        </p:txBody>
      </p:sp>
      <p:sp>
        <p:nvSpPr>
          <p:cNvPr id="56" name="矩形 55"/>
          <p:cNvSpPr>
            <a:spLocks noGrp="1"/>
          </p:cNvSpPr>
          <p:nvPr/>
        </p:nvSpPr>
        <p:spPr>
          <a:xfrm>
            <a:off x="2101850" y="5490845"/>
            <a:ext cx="1238250" cy="371475"/>
          </a:xfrm>
          <a:prstGeom prst="rect">
            <a:avLst/>
          </a:prstGeom>
          <a:solidFill>
            <a:srgbClr val="FFFFFF"/>
          </a:solidFill>
          <a:ln w="9525">
            <a:solidFill>
              <a:srgbClr val="D9E6F7"/>
            </a:solidFill>
            <a:prstDash val="solid"/>
          </a:ln>
        </p:spPr>
      </p:sp>
      <p:sp>
        <p:nvSpPr>
          <p:cNvPr id="57" name="矩形 56"/>
          <p:cNvSpPr>
            <a:spLocks noGrp="1"/>
          </p:cNvSpPr>
          <p:nvPr/>
        </p:nvSpPr>
        <p:spPr>
          <a:xfrm>
            <a:off x="2178050" y="556704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运行</a:t>
            </a:r>
            <a:endParaRPr sz="900" b="0">
              <a:solidFill>
                <a:srgbClr val="172033"/>
              </a:solidFill>
            </a:endParaRPr>
          </a:p>
        </p:txBody>
      </p:sp>
      <p:sp>
        <p:nvSpPr>
          <p:cNvPr id="58" name="矩形 57"/>
          <p:cNvSpPr>
            <a:spLocks noGrp="1"/>
          </p:cNvSpPr>
          <p:nvPr/>
        </p:nvSpPr>
        <p:spPr>
          <a:xfrm>
            <a:off x="3340100" y="5490845"/>
            <a:ext cx="1238250" cy="371475"/>
          </a:xfrm>
          <a:prstGeom prst="rect">
            <a:avLst/>
          </a:prstGeom>
          <a:solidFill>
            <a:srgbClr val="FFFFFF"/>
          </a:solidFill>
          <a:ln w="9525">
            <a:solidFill>
              <a:srgbClr val="D9E6F7"/>
            </a:solidFill>
            <a:prstDash val="solid"/>
          </a:ln>
        </p:spPr>
      </p:sp>
      <p:sp>
        <p:nvSpPr>
          <p:cNvPr id="59" name="矩形 58"/>
          <p:cNvSpPr>
            <a:spLocks noGrp="1"/>
          </p:cNvSpPr>
          <p:nvPr/>
        </p:nvSpPr>
        <p:spPr>
          <a:xfrm>
            <a:off x="3416300" y="5567045"/>
            <a:ext cx="1085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933</a:t>
            </a:r>
            <a:endParaRPr sz="900" b="0">
              <a:solidFill>
                <a:srgbClr val="172033"/>
              </a:solidFill>
            </a:endParaRPr>
          </a:p>
        </p:txBody>
      </p:sp>
      <p:sp>
        <p:nvSpPr>
          <p:cNvPr id="60" name="矩形 59"/>
          <p:cNvSpPr>
            <a:spLocks noGrp="1"/>
          </p:cNvSpPr>
          <p:nvPr/>
        </p:nvSpPr>
        <p:spPr>
          <a:xfrm>
            <a:off x="4578350" y="5490845"/>
            <a:ext cx="2381250" cy="371475"/>
          </a:xfrm>
          <a:prstGeom prst="rect">
            <a:avLst/>
          </a:prstGeom>
          <a:solidFill>
            <a:srgbClr val="FFFFFF"/>
          </a:solidFill>
          <a:ln w="9525">
            <a:solidFill>
              <a:srgbClr val="D9E6F7"/>
            </a:solidFill>
            <a:prstDash val="solid"/>
          </a:ln>
        </p:spPr>
      </p:sp>
      <p:sp>
        <p:nvSpPr>
          <p:cNvPr id="61" name="矩形 60"/>
          <p:cNvSpPr>
            <a:spLocks noGrp="1"/>
          </p:cNvSpPr>
          <p:nvPr/>
        </p:nvSpPr>
        <p:spPr>
          <a:xfrm>
            <a:off x="4654550" y="5567045"/>
            <a:ext cx="2228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51728 min</a:t>
            </a:r>
            <a:endParaRPr sz="900" b="0">
              <a:solidFill>
                <a:srgbClr val="172033"/>
              </a:solidFill>
            </a:endParaRPr>
          </a:p>
        </p:txBody>
      </p:sp>
      <p:sp>
        <p:nvSpPr>
          <p:cNvPr id="62" name="矩形 61"/>
          <p:cNvSpPr>
            <a:spLocks noGrp="1"/>
          </p:cNvSpPr>
          <p:nvPr/>
        </p:nvSpPr>
        <p:spPr>
          <a:xfrm>
            <a:off x="6959600" y="5490845"/>
            <a:ext cx="2000250" cy="371475"/>
          </a:xfrm>
          <a:prstGeom prst="rect">
            <a:avLst/>
          </a:prstGeom>
          <a:solidFill>
            <a:srgbClr val="FFFFFF"/>
          </a:solidFill>
          <a:ln w="9525">
            <a:solidFill>
              <a:srgbClr val="D9E6F7"/>
            </a:solidFill>
            <a:prstDash val="solid"/>
          </a:ln>
        </p:spPr>
      </p:sp>
      <p:sp>
        <p:nvSpPr>
          <p:cNvPr id="63" name="矩形 62"/>
          <p:cNvSpPr>
            <a:spLocks noGrp="1"/>
          </p:cNvSpPr>
          <p:nvPr/>
        </p:nvSpPr>
        <p:spPr>
          <a:xfrm>
            <a:off x="7035800" y="5567045"/>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55.4 min</a:t>
            </a:r>
            <a:endParaRPr sz="900" b="0">
              <a:solidFill>
                <a:srgbClr val="172033"/>
              </a:solidFill>
            </a:endParaRPr>
          </a:p>
        </p:txBody>
      </p:sp>
      <p:sp>
        <p:nvSpPr>
          <p:cNvPr id="64" name="矩形 63"/>
          <p:cNvSpPr>
            <a:spLocks noGrp="1"/>
          </p:cNvSpPr>
          <p:nvPr/>
        </p:nvSpPr>
        <p:spPr>
          <a:xfrm>
            <a:off x="8959850" y="5490845"/>
            <a:ext cx="2000250" cy="371475"/>
          </a:xfrm>
          <a:prstGeom prst="rect">
            <a:avLst/>
          </a:prstGeom>
          <a:solidFill>
            <a:srgbClr val="FFFFFF"/>
          </a:solidFill>
          <a:ln w="9525">
            <a:solidFill>
              <a:srgbClr val="D9E6F7"/>
            </a:solidFill>
            <a:prstDash val="solid"/>
          </a:ln>
        </p:spPr>
      </p:sp>
      <p:sp>
        <p:nvSpPr>
          <p:cNvPr id="65" name="矩形 64"/>
          <p:cNvSpPr>
            <a:spLocks noGrp="1"/>
          </p:cNvSpPr>
          <p:nvPr/>
        </p:nvSpPr>
        <p:spPr>
          <a:xfrm>
            <a:off x="9036050" y="5567045"/>
            <a:ext cx="1847850" cy="276225"/>
          </a:xfrm>
          <a:prstGeom prst="rect">
            <a:avLst/>
          </a:prstGeom>
          <a:noFill/>
          <a:ln w="0">
            <a:noFill/>
            <a:prstDash val="solid"/>
          </a:ln>
        </p:spPr>
        <p:txBody>
          <a:bodyPr/>
          <a:lstStyle/>
          <a:p>
            <a:pPr algn="l">
              <a:defRPr sz="900" b="0">
                <a:solidFill>
                  <a:srgbClr val="172033"/>
                </a:solidFill>
              </a:defRPr>
            </a:pPr>
            <a:r>
              <a:rPr sz="900" b="0">
                <a:solidFill>
                  <a:srgbClr val="172033"/>
                </a:solidFill>
              </a:rPr>
              <a:t>884 min</a:t>
            </a:r>
            <a:endParaRPr sz="900" b="0">
              <a:solidFill>
                <a:srgbClr val="172033"/>
              </a:solidFill>
            </a:endParaRPr>
          </a:p>
        </p:txBody>
      </p:sp>
      <p:sp>
        <p:nvSpPr>
          <p:cNvPr id="66" name="矩形 65"/>
          <p:cNvSpPr>
            <a:spLocks noGrp="1"/>
          </p:cNvSpPr>
          <p:nvPr/>
        </p:nvSpPr>
        <p:spPr>
          <a:xfrm>
            <a:off x="1238250" y="6115050"/>
            <a:ext cx="9334500" cy="228600"/>
          </a:xfrm>
          <a:prstGeom prst="rect">
            <a:avLst/>
          </a:prstGeom>
          <a:noFill/>
          <a:ln w="0">
            <a:noFill/>
            <a:prstDash val="solid"/>
          </a:ln>
        </p:spPr>
        <p:txBody>
          <a:bodyPr/>
          <a:lstStyle/>
          <a:p>
            <a:pPr algn="ctr">
              <a:defRPr sz="1050" b="0">
                <a:solidFill>
                  <a:srgbClr val="5D6B82"/>
                </a:solidFill>
              </a:defRPr>
            </a:pPr>
            <a:r>
              <a:rPr sz="1200" b="0">
                <a:solidFill>
                  <a:srgbClr val="5D6B82"/>
                </a:solidFill>
                <a:latin typeface="微软雅黑" panose="020B0503020204020204" charset="-122"/>
                <a:ea typeface="微软雅黑" panose="020B0503020204020204" charset="-122"/>
              </a:rPr>
              <a:t>状态占比用于判断样本分布是否均衡；持续时间统计用于检查频繁启停、长时间停机或异常长运行段。</a:t>
            </a:r>
            <a:endParaRPr sz="1200" b="0">
              <a:solidFill>
                <a:srgbClr val="5D6B82"/>
              </a:solidFill>
              <a:latin typeface="微软雅黑" panose="020B0503020204020204" charset="-122"/>
              <a:ea typeface="微软雅黑" panose="020B0503020204020204" charset="-122"/>
            </a:endParaRPr>
          </a:p>
        </p:txBody>
      </p:sp>
      <p:sp>
        <p:nvSpPr>
          <p:cNvPr id="67" name="矩形 66"/>
          <p:cNvSpPr>
            <a:spLocks noGrp="1"/>
          </p:cNvSpPr>
          <p:nvPr/>
        </p:nvSpPr>
        <p:spPr>
          <a:xfrm>
            <a:off x="514350" y="6429375"/>
            <a:ext cx="11163300" cy="9525"/>
          </a:xfrm>
          <a:prstGeom prst="rect">
            <a:avLst/>
          </a:prstGeom>
          <a:solidFill>
            <a:srgbClr val="D9E6F7"/>
          </a:solidFill>
          <a:ln w="0">
            <a:noFill/>
            <a:prstDash val="solid"/>
          </a:ln>
        </p:spPr>
      </p:sp>
      <p:sp>
        <p:nvSpPr>
          <p:cNvPr id="69" name="矩形 6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lang="en-US" sz="825" b="0">
                <a:solidFill>
                  <a:srgbClr val="5D6B82"/>
                </a:solidFill>
              </a:rPr>
              <a:t>09</a:t>
            </a:r>
            <a:endParaRPr lang="en-US" sz="825" b="0">
              <a:solidFill>
                <a:srgbClr val="5D6B8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圆角矩形 29"/>
          <p:cNvSpPr>
            <a:spLocks noGrp="1"/>
          </p:cNvSpPr>
          <p:nvPr/>
        </p:nvSpPr>
        <p:spPr>
          <a:xfrm>
            <a:off x="6456045" y="5012690"/>
            <a:ext cx="5334000" cy="990600"/>
          </a:xfrm>
          <a:prstGeom prst="roundRect">
            <a:avLst>
              <a:gd name="adj" fmla="val 7692"/>
            </a:avLst>
          </a:prstGeom>
          <a:solidFill>
            <a:srgbClr val="EAF3FF"/>
          </a:solidFill>
          <a:ln w="9525">
            <a:solidFill>
              <a:srgbClr val="CFE0F5"/>
            </a:solidFill>
            <a:prstDash val="solid"/>
          </a:ln>
        </p:spPr>
      </p:sp>
      <p:pic>
        <p:nvPicPr>
          <p:cNvPr id="10" name="图片 9" descr="02c_刮板机_三驱动部五类参数状态箱线图"/>
          <p:cNvPicPr>
            <a:picLocks noChangeAspect="1"/>
          </p:cNvPicPr>
          <p:nvPr/>
        </p:nvPicPr>
        <p:blipFill>
          <a:blip r:embed="rId1"/>
          <a:stretch>
            <a:fillRect/>
          </a:stretch>
        </p:blipFill>
        <p:spPr>
          <a:xfrm>
            <a:off x="407035" y="115570"/>
            <a:ext cx="5749290" cy="6590030"/>
          </a:xfrm>
          <a:prstGeom prst="rect">
            <a:avLst/>
          </a:prstGeom>
        </p:spPr>
      </p:pic>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335280" y="9334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刮板机运行状态</a:t>
            </a:r>
            <a:r>
              <a:rPr lang="zh-CN" sz="1875" b="1">
                <a:solidFill>
                  <a:srgbClr val="FFFFFF"/>
                </a:solidFill>
              </a:rPr>
              <a:t>比较</a:t>
            </a:r>
            <a:endParaRPr lang="zh-CN" sz="1875" b="1">
              <a:solidFill>
                <a:srgbClr val="FFFFFF"/>
              </a:solidFill>
            </a:endParaRPr>
          </a:p>
        </p:txBody>
      </p:sp>
      <p:sp>
        <p:nvSpPr>
          <p:cNvPr id="9" name="矩形 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1</a:t>
            </a:r>
            <a:r>
              <a:rPr lang="en-US" sz="825" b="0">
                <a:solidFill>
                  <a:srgbClr val="5D6B82"/>
                </a:solidFill>
              </a:rPr>
              <a:t>0</a:t>
            </a:r>
            <a:endParaRPr lang="en-US" sz="825" b="0">
              <a:solidFill>
                <a:srgbClr val="5D6B82"/>
              </a:solidFill>
            </a:endParaRPr>
          </a:p>
        </p:txBody>
      </p:sp>
      <p:sp>
        <p:nvSpPr>
          <p:cNvPr id="12" name="文本框 11"/>
          <p:cNvSpPr txBox="1"/>
          <p:nvPr/>
        </p:nvSpPr>
        <p:spPr>
          <a:xfrm>
            <a:off x="6456680" y="4891405"/>
            <a:ext cx="5272405" cy="1105535"/>
          </a:xfrm>
          <a:prstGeom prst="rect">
            <a:avLst/>
          </a:prstGeom>
          <a:noFill/>
        </p:spPr>
        <p:txBody>
          <a:bodyPr wrap="square" rtlCol="0">
            <a:noAutofit/>
          </a:bodyPr>
          <a:p>
            <a:endParaRPr lang="en-US" altLang="zh-CN" sz="1200">
              <a:latin typeface="微软雅黑" panose="020B0503020204020204" charset="-122"/>
              <a:ea typeface="微软雅黑" panose="020B0503020204020204" charset="-122"/>
              <a:cs typeface="微软雅黑" panose="020B0503020204020204" charset="-122"/>
            </a:endParaRPr>
          </a:p>
          <a:p>
            <a:endParaRPr lang="en-US" altLang="zh-CN"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电流、转矩、转速适合作为刮板机状态划分和负载识别的直接特征；</a:t>
            </a:r>
            <a:r>
              <a:rPr lang="en-US" altLang="zh-CN" sz="1200">
                <a:latin typeface="微软雅黑" panose="020B0503020204020204" charset="-122"/>
                <a:ea typeface="微软雅黑" panose="020B0503020204020204" charset="-122"/>
                <a:cs typeface="微软雅黑" panose="020B0503020204020204" charset="-122"/>
              </a:rPr>
              <a:t>IGBT1 </a:t>
            </a:r>
            <a:r>
              <a:rPr lang="zh-CN" altLang="en-US" sz="1200">
                <a:latin typeface="微软雅黑" panose="020B0503020204020204" charset="-122"/>
                <a:ea typeface="微软雅黑" panose="020B0503020204020204" charset="-122"/>
                <a:cs typeface="微软雅黑" panose="020B0503020204020204" charset="-122"/>
              </a:rPr>
              <a:t>温度和冷却水流量更适合作为运行状态下热管理和冷却状态的辅助监测指标。</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4" name="云形标注 13"/>
          <p:cNvSpPr/>
          <p:nvPr/>
        </p:nvSpPr>
        <p:spPr>
          <a:xfrm>
            <a:off x="6654165" y="1124585"/>
            <a:ext cx="4680585" cy="2087880"/>
          </a:xfrm>
          <a:prstGeom prst="cloudCallout">
            <a:avLst/>
          </a:prstGeom>
          <a:solidFill>
            <a:schemeClr val="accent1">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7085965" y="1772285"/>
            <a:ext cx="4064000" cy="645160"/>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sym typeface="+mn-ea"/>
              </a:rPr>
              <a:t>刮板机在运行状态下，三个驱动部的电流、转矩和转速整体明显高于停机状态，说明这些参数能够较好反映设备负载和运行状态变化。</a:t>
            </a:r>
            <a:endParaRPr lang="zh-CN"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sz="1875" b="1">
                <a:solidFill>
                  <a:srgbClr val="FFFFFF"/>
                </a:solidFill>
              </a:rPr>
              <a:t>破碎机振动、温度和冷却参数随运行状态变化更明显</a:t>
            </a:r>
            <a:endParaRPr sz="1875" b="1">
              <a:solidFill>
                <a:srgbClr val="FFFFFF"/>
              </a:solidFill>
            </a:endParaRPr>
          </a:p>
        </p:txBody>
      </p:sp>
      <p:pic>
        <p:nvPicPr>
          <p:cNvPr id="13" name="图片 12"/>
          <p:cNvPicPr>
            <a:picLocks noChangeAspect="1"/>
          </p:cNvPicPr>
          <p:nvPr/>
        </p:nvPicPr>
        <p:blipFill>
          <a:blip r:embed="rId1"/>
          <a:stretch>
            <a:fillRect/>
          </a:stretch>
        </p:blipFill>
        <p:spPr>
          <a:xfrm>
            <a:off x="1629319" y="914400"/>
            <a:ext cx="8933361" cy="4095750"/>
          </a:xfrm>
          <a:prstGeom prst="roundRect">
            <a:avLst>
              <a:gd name="adj" fmla="val 1860"/>
            </a:avLst>
          </a:prstGeom>
        </p:spPr>
      </p:pic>
      <p:sp>
        <p:nvSpPr>
          <p:cNvPr id="5" name="圆角矩形 4"/>
          <p:cNvSpPr>
            <a:spLocks noGrp="1"/>
          </p:cNvSpPr>
          <p:nvPr/>
        </p:nvSpPr>
        <p:spPr>
          <a:xfrm>
            <a:off x="1600200" y="5448300"/>
            <a:ext cx="8991600" cy="514350"/>
          </a:xfrm>
          <a:prstGeom prst="roundRect">
            <a:avLst>
              <a:gd name="adj" fmla="val 14815"/>
            </a:avLst>
          </a:prstGeom>
          <a:solidFill>
            <a:srgbClr val="EAF3FF"/>
          </a:solidFill>
          <a:ln w="9525">
            <a:solidFill>
              <a:srgbClr val="CFE0F5"/>
            </a:solidFill>
            <a:prstDash val="solid"/>
          </a:ln>
        </p:spPr>
      </p:sp>
      <p:sp>
        <p:nvSpPr>
          <p:cNvPr id="6" name="矩形 5"/>
          <p:cNvSpPr>
            <a:spLocks noGrp="1"/>
          </p:cNvSpPr>
          <p:nvPr/>
        </p:nvSpPr>
        <p:spPr>
          <a:xfrm>
            <a:off x="1775460" y="5562600"/>
            <a:ext cx="8648700" cy="285750"/>
          </a:xfrm>
          <a:prstGeom prst="rect">
            <a:avLst/>
          </a:prstGeom>
          <a:noFill/>
          <a:ln w="0">
            <a:noFill/>
            <a:prstDash val="solid"/>
          </a:ln>
        </p:spPr>
        <p:txBody>
          <a:bodyPr/>
          <a:lstStyle/>
          <a:p>
            <a:pPr algn="l">
              <a:defRPr sz="1200" b="0">
                <a:solidFill>
                  <a:srgbClr val="172033"/>
                </a:solidFill>
              </a:defRPr>
            </a:pPr>
            <a:r>
              <a:rPr sz="1600" b="0">
                <a:solidFill>
                  <a:srgbClr val="172033"/>
                </a:solidFill>
                <a:latin typeface="微软雅黑" panose="020B0503020204020204" charset="-122"/>
                <a:ea typeface="微软雅黑" panose="020B0503020204020204" charset="-122"/>
              </a:rPr>
              <a:t>破碎机重点展示振动、冷却流量、油温、轴承温度和冷却水压力</a:t>
            </a:r>
            <a:endParaRPr sz="1600" b="0">
              <a:solidFill>
                <a:srgbClr val="172033"/>
              </a:solidFill>
              <a:latin typeface="微软雅黑" panose="020B0503020204020204" charset="-122"/>
              <a:ea typeface="微软雅黑" panose="020B0503020204020204" charset="-122"/>
            </a:endParaRPr>
          </a:p>
        </p:txBody>
      </p:sp>
      <p:sp>
        <p:nvSpPr>
          <p:cNvPr id="7" name="矩形 6"/>
          <p:cNvSpPr>
            <a:spLocks noGrp="1"/>
          </p:cNvSpPr>
          <p:nvPr/>
        </p:nvSpPr>
        <p:spPr>
          <a:xfrm>
            <a:off x="514350" y="6429375"/>
            <a:ext cx="11163300" cy="9525"/>
          </a:xfrm>
          <a:prstGeom prst="rect">
            <a:avLst/>
          </a:prstGeom>
          <a:solidFill>
            <a:srgbClr val="D9E6F7"/>
          </a:solidFill>
          <a:ln w="0">
            <a:noFill/>
            <a:prstDash val="solid"/>
          </a:ln>
        </p:spPr>
      </p:sp>
      <p:sp>
        <p:nvSpPr>
          <p:cNvPr id="9" name="矩形 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1</a:t>
            </a:r>
            <a:r>
              <a:rPr lang="en-US" sz="825" b="0">
                <a:solidFill>
                  <a:srgbClr val="5D6B82"/>
                </a:solidFill>
              </a:rPr>
              <a:t>1</a:t>
            </a:r>
            <a:endParaRPr lang="en-US" sz="825" b="0">
              <a:solidFill>
                <a:srgbClr val="5D6B8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endParaRPr sz="1875" b="1">
              <a:solidFill>
                <a:srgbClr val="FFFFFF"/>
              </a:solidFill>
            </a:endParaRPr>
          </a:p>
        </p:txBody>
      </p:sp>
      <p:pic>
        <p:nvPicPr>
          <p:cNvPr id="13" name="图片 12"/>
          <p:cNvPicPr>
            <a:picLocks noChangeAspect="1"/>
          </p:cNvPicPr>
          <p:nvPr/>
        </p:nvPicPr>
        <p:blipFill>
          <a:blip r:embed="rId1"/>
          <a:stretch>
            <a:fillRect/>
          </a:stretch>
        </p:blipFill>
        <p:spPr>
          <a:xfrm>
            <a:off x="1127010" y="695325"/>
            <a:ext cx="3736571" cy="4972050"/>
          </a:xfrm>
          <a:prstGeom prst="roundRect">
            <a:avLst>
              <a:gd name="adj" fmla="val 1533"/>
            </a:avLst>
          </a:prstGeom>
        </p:spPr>
      </p:pic>
      <p:sp>
        <p:nvSpPr>
          <p:cNvPr id="5" name="圆角矩形 4"/>
          <p:cNvSpPr>
            <a:spLocks noGrp="1"/>
          </p:cNvSpPr>
          <p:nvPr/>
        </p:nvSpPr>
        <p:spPr>
          <a:xfrm>
            <a:off x="1466850" y="5772150"/>
            <a:ext cx="9258300" cy="552450"/>
          </a:xfrm>
          <a:prstGeom prst="roundRect">
            <a:avLst>
              <a:gd name="adj" fmla="val 13793"/>
            </a:avLst>
          </a:prstGeom>
          <a:solidFill>
            <a:srgbClr val="EAF3FF"/>
          </a:solidFill>
          <a:ln w="9525">
            <a:solidFill>
              <a:srgbClr val="CFE0F5"/>
            </a:solidFill>
            <a:prstDash val="solid"/>
          </a:ln>
        </p:spPr>
      </p:sp>
      <p:sp>
        <p:nvSpPr>
          <p:cNvPr id="6" name="矩形 5"/>
          <p:cNvSpPr>
            <a:spLocks noGrp="1"/>
          </p:cNvSpPr>
          <p:nvPr/>
        </p:nvSpPr>
        <p:spPr>
          <a:xfrm>
            <a:off x="1638300" y="5833745"/>
            <a:ext cx="8953500" cy="429260"/>
          </a:xfrm>
          <a:prstGeom prst="rect">
            <a:avLst/>
          </a:prstGeom>
          <a:noFill/>
          <a:ln w="0">
            <a:noFill/>
            <a:prstDash val="solid"/>
          </a:ln>
        </p:spPr>
        <p:txBody>
          <a:bodyPr/>
          <a:lstStyle/>
          <a:p>
            <a:pPr algn="l">
              <a:defRPr sz="1200" b="0">
                <a:solidFill>
                  <a:srgbClr val="172033"/>
                </a:solidFill>
              </a:defRPr>
            </a:pPr>
            <a:r>
              <a:rPr sz="1200" b="0">
                <a:solidFill>
                  <a:srgbClr val="172033"/>
                </a:solidFill>
              </a:rPr>
              <a:t>刮板机最明显的是机尾转速、电流和转矩类参数。</a:t>
            </a:r>
            <a:endParaRPr sz="1200" b="0">
              <a:solidFill>
                <a:srgbClr val="172033"/>
              </a:solidFill>
            </a:endParaRPr>
          </a:p>
          <a:p>
            <a:pPr algn="l">
              <a:defRPr sz="1200" b="0">
                <a:solidFill>
                  <a:srgbClr val="172033"/>
                </a:solidFill>
              </a:defRPr>
            </a:pPr>
            <a:r>
              <a:rPr>
                <a:sym typeface="+mn-ea"/>
              </a:rPr>
              <a:t>破碎机运行状态对电机振动、减速器振动影响最强；冷却水温度、油箱油温也有明显差异。</a:t>
            </a:r>
            <a:endParaRPr b="0">
              <a:solidFill>
                <a:srgbClr val="172033"/>
              </a:solidFill>
            </a:endParaRPr>
          </a:p>
          <a:p>
            <a:pPr algn="l">
              <a:defRPr sz="1200" b="0">
                <a:solidFill>
                  <a:srgbClr val="172033"/>
                </a:solidFill>
              </a:defRPr>
            </a:pPr>
            <a:endParaRPr sz="1200" b="0">
              <a:solidFill>
                <a:srgbClr val="172033"/>
              </a:solidFill>
            </a:endParaRPr>
          </a:p>
        </p:txBody>
      </p:sp>
      <p:sp>
        <p:nvSpPr>
          <p:cNvPr id="7" name="矩形 6"/>
          <p:cNvSpPr>
            <a:spLocks noGrp="1"/>
          </p:cNvSpPr>
          <p:nvPr/>
        </p:nvSpPr>
        <p:spPr>
          <a:xfrm>
            <a:off x="514350" y="6429375"/>
            <a:ext cx="11163300" cy="9525"/>
          </a:xfrm>
          <a:prstGeom prst="rect">
            <a:avLst/>
          </a:prstGeom>
          <a:solidFill>
            <a:srgbClr val="D9E6F7"/>
          </a:solidFill>
          <a:ln w="0">
            <a:noFill/>
            <a:prstDash val="solid"/>
          </a:ln>
        </p:spPr>
      </p:sp>
      <p:sp>
        <p:nvSpPr>
          <p:cNvPr id="9" name="矩形 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1</a:t>
            </a:r>
            <a:r>
              <a:rPr lang="en-US" sz="825" b="0">
                <a:solidFill>
                  <a:srgbClr val="5D6B82"/>
                </a:solidFill>
              </a:rPr>
              <a:t>2</a:t>
            </a:r>
            <a:endParaRPr lang="en-US" sz="825" b="0">
              <a:solidFill>
                <a:srgbClr val="5D6B82"/>
              </a:solidFill>
            </a:endParaRPr>
          </a:p>
        </p:txBody>
      </p:sp>
      <p:pic>
        <p:nvPicPr>
          <p:cNvPr id="10" name="图片 9"/>
          <p:cNvPicPr>
            <a:picLocks noChangeAspect="1"/>
          </p:cNvPicPr>
          <p:nvPr/>
        </p:nvPicPr>
        <p:blipFill>
          <a:blip r:embed="rId2"/>
          <a:stretch>
            <a:fillRect/>
          </a:stretch>
        </p:blipFill>
        <p:spPr>
          <a:xfrm>
            <a:off x="5736147" y="756920"/>
            <a:ext cx="6108315" cy="4876800"/>
          </a:xfrm>
          <a:prstGeom prst="roundRect">
            <a:avLst>
              <a:gd name="adj" fmla="val 1563"/>
            </a:avLst>
          </a:prstGeom>
        </p:spPr>
      </p:pic>
      <p:sp>
        <p:nvSpPr>
          <p:cNvPr id="11" name="矩形 10"/>
          <p:cNvSpPr>
            <a:spLocks noGrp="1"/>
          </p:cNvSpPr>
          <p:nvPr/>
        </p:nvSpPr>
        <p:spPr>
          <a:xfrm>
            <a:off x="407035" y="95250"/>
            <a:ext cx="9334500" cy="361950"/>
          </a:xfrm>
          <a:prstGeom prst="rect">
            <a:avLst/>
          </a:prstGeom>
          <a:noFill/>
          <a:ln w="0">
            <a:noFill/>
            <a:prstDash val="solid"/>
          </a:ln>
        </p:spPr>
        <p:txBody>
          <a:bodyPr/>
          <a:lstStyle/>
          <a:p>
            <a:pPr algn="l">
              <a:defRPr sz="1875" b="1">
                <a:solidFill>
                  <a:srgbClr val="FFFFFF"/>
                </a:solidFill>
              </a:defRPr>
            </a:pPr>
            <a:r>
              <a:rPr lang="zh-CN" altLang="en-US" sz="1875">
                <a:solidFill>
                  <a:srgbClr val="FFFFFF"/>
                </a:solidFill>
                <a:latin typeface="微软雅黑" panose="020B0503020204020204" charset="-122"/>
                <a:ea typeface="微软雅黑" panose="020B0503020204020204" charset="-122"/>
                <a:cs typeface="微软雅黑" panose="020B0503020204020204" charset="-122"/>
              </a:rPr>
              <a:t>克拉斯卡-瓦立斯检验</a:t>
            </a:r>
            <a:r>
              <a:rPr lang="en-US" altLang="zh-CN" sz="1875">
                <a:solidFill>
                  <a:srgbClr val="FFFFFF"/>
                </a:solidFill>
                <a:latin typeface="微软雅黑" panose="020B0503020204020204" charset="-122"/>
                <a:ea typeface="微软雅黑" panose="020B0503020204020204" charset="-122"/>
                <a:cs typeface="微软雅黑" panose="020B0503020204020204" charset="-122"/>
              </a:rPr>
              <a:t>+FDR</a:t>
            </a:r>
            <a:r>
              <a:rPr lang="zh-CN" altLang="en-US" sz="1875">
                <a:solidFill>
                  <a:srgbClr val="FFFFFF"/>
                </a:solidFill>
                <a:latin typeface="微软雅黑" panose="020B0503020204020204" charset="-122"/>
                <a:ea typeface="微软雅黑" panose="020B0503020204020204" charset="-122"/>
                <a:cs typeface="微软雅黑" panose="020B0503020204020204" charset="-122"/>
              </a:rPr>
              <a:t>修正</a:t>
            </a:r>
            <a:r>
              <a:rPr lang="en-US" altLang="zh-CN" sz="1875">
                <a:solidFill>
                  <a:schemeClr val="bg1"/>
                </a:solidFill>
                <a:latin typeface="微软雅黑" panose="020B0503020204020204" charset="-122"/>
                <a:ea typeface="微软雅黑" panose="020B0503020204020204" charset="-122"/>
                <a:cs typeface="微软雅黑" panose="020B0503020204020204" charset="-122"/>
              </a:rPr>
              <a:t>+</a:t>
            </a:r>
            <a:r>
              <a:rPr>
                <a:solidFill>
                  <a:schemeClr val="bg1"/>
                </a:solidFill>
                <a:latin typeface="微软雅黑" panose="020B0503020204020204" charset="-122"/>
                <a:ea typeface="微软雅黑" panose="020B0503020204020204" charset="-122"/>
                <a:cs typeface="微软雅黑" panose="020B0503020204020204" charset="-122"/>
                <a:sym typeface="+mn-ea"/>
              </a:rPr>
              <a:t>ε²效应量</a:t>
            </a:r>
            <a:endParaRPr lang="en-US" altLang="zh-CN" sz="1875">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0" y="0"/>
            <a:ext cx="12192000" cy="552450"/>
          </a:xfrm>
          <a:prstGeom prst="rect">
            <a:avLst/>
          </a:prstGeom>
          <a:solidFill>
            <a:srgbClr val="0B3A75"/>
          </a:solidFill>
          <a:ln w="0">
            <a:noFill/>
            <a:prstDash val="solid"/>
          </a:ln>
        </p:spPr>
      </p:sp>
      <p:sp>
        <p:nvSpPr>
          <p:cNvPr id="3" name="矩形 2"/>
          <p:cNvSpPr>
            <a:spLocks noGrp="1"/>
          </p:cNvSpPr>
          <p:nvPr/>
        </p:nvSpPr>
        <p:spPr>
          <a:xfrm>
            <a:off x="514350" y="123825"/>
            <a:ext cx="9334500" cy="361950"/>
          </a:xfrm>
          <a:prstGeom prst="rect">
            <a:avLst/>
          </a:prstGeom>
          <a:noFill/>
          <a:ln w="0">
            <a:noFill/>
            <a:prstDash val="solid"/>
          </a:ln>
        </p:spPr>
        <p:txBody>
          <a:bodyPr/>
          <a:lstStyle/>
          <a:p>
            <a:pPr algn="l">
              <a:defRPr sz="1875" b="1">
                <a:solidFill>
                  <a:srgbClr val="FFFFFF"/>
                </a:solidFill>
              </a:defRPr>
            </a:pPr>
            <a:r>
              <a:rPr lang="zh-CN" altLang="en-US" sz="1875" b="1">
                <a:solidFill>
                  <a:srgbClr val="FFFFFF"/>
                </a:solidFill>
              </a:rPr>
              <a:t>总结</a:t>
            </a:r>
            <a:r>
              <a:rPr lang="zh-CN" altLang="en-US" sz="1875" b="1">
                <a:solidFill>
                  <a:srgbClr val="FFFFFF"/>
                </a:solidFill>
              </a:rPr>
              <a:t>规划</a:t>
            </a:r>
            <a:endParaRPr lang="zh-CN" altLang="en-US" sz="1875" b="1">
              <a:solidFill>
                <a:srgbClr val="FFFFFF"/>
              </a:solidFill>
            </a:endParaRPr>
          </a:p>
        </p:txBody>
      </p:sp>
      <p:sp>
        <p:nvSpPr>
          <p:cNvPr id="5" name="矩形 4"/>
          <p:cNvSpPr>
            <a:spLocks noGrp="1"/>
          </p:cNvSpPr>
          <p:nvPr/>
        </p:nvSpPr>
        <p:spPr>
          <a:xfrm>
            <a:off x="666750" y="2028825"/>
            <a:ext cx="57150" cy="247650"/>
          </a:xfrm>
          <a:prstGeom prst="rect">
            <a:avLst/>
          </a:prstGeom>
          <a:solidFill>
            <a:srgbClr val="155AA8"/>
          </a:solidFill>
          <a:ln w="0">
            <a:noFill/>
            <a:prstDash val="solid"/>
          </a:ln>
        </p:spPr>
      </p:sp>
      <p:sp>
        <p:nvSpPr>
          <p:cNvPr id="6" name="矩形 5"/>
          <p:cNvSpPr>
            <a:spLocks noGrp="1"/>
          </p:cNvSpPr>
          <p:nvPr/>
        </p:nvSpPr>
        <p:spPr>
          <a:xfrm>
            <a:off x="800100" y="2019300"/>
            <a:ext cx="4381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已完成</a:t>
            </a:r>
            <a:endParaRPr sz="1425" b="1">
              <a:solidFill>
                <a:srgbClr val="0B3A75"/>
              </a:solidFill>
            </a:endParaRPr>
          </a:p>
        </p:txBody>
      </p:sp>
      <p:sp>
        <p:nvSpPr>
          <p:cNvPr id="7" name="椭圆 6"/>
          <p:cNvSpPr>
            <a:spLocks noGrp="1"/>
          </p:cNvSpPr>
          <p:nvPr/>
        </p:nvSpPr>
        <p:spPr>
          <a:xfrm>
            <a:off x="838200" y="2609850"/>
            <a:ext cx="57150" cy="57150"/>
          </a:xfrm>
          <a:prstGeom prst="ellipse">
            <a:avLst/>
          </a:prstGeom>
          <a:solidFill>
            <a:srgbClr val="155AA8"/>
          </a:solidFill>
          <a:ln w="0">
            <a:noFill/>
            <a:prstDash val="solid"/>
          </a:ln>
        </p:spPr>
      </p:sp>
      <p:sp>
        <p:nvSpPr>
          <p:cNvPr id="8" name="矩形 7"/>
          <p:cNvSpPr>
            <a:spLocks noGrp="1"/>
          </p:cNvSpPr>
          <p:nvPr/>
        </p:nvSpPr>
        <p:spPr>
          <a:xfrm>
            <a:off x="1009650" y="2524125"/>
            <a:ext cx="49720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完成刮板机、破碎机点位遍历和解释表覆盖核验。</a:t>
            </a:r>
            <a:endParaRPr sz="1275" b="0">
              <a:solidFill>
                <a:srgbClr val="172033"/>
              </a:solidFill>
            </a:endParaRPr>
          </a:p>
        </p:txBody>
      </p:sp>
      <p:sp>
        <p:nvSpPr>
          <p:cNvPr id="9" name="椭圆 8"/>
          <p:cNvSpPr>
            <a:spLocks noGrp="1"/>
          </p:cNvSpPr>
          <p:nvPr/>
        </p:nvSpPr>
        <p:spPr>
          <a:xfrm>
            <a:off x="838200" y="3067050"/>
            <a:ext cx="57150" cy="57150"/>
          </a:xfrm>
          <a:prstGeom prst="ellipse">
            <a:avLst/>
          </a:prstGeom>
          <a:solidFill>
            <a:srgbClr val="155AA8"/>
          </a:solidFill>
          <a:ln w="0">
            <a:noFill/>
            <a:prstDash val="solid"/>
          </a:ln>
        </p:spPr>
      </p:sp>
      <p:sp>
        <p:nvSpPr>
          <p:cNvPr id="10" name="矩形 9"/>
          <p:cNvSpPr>
            <a:spLocks noGrp="1"/>
          </p:cNvSpPr>
          <p:nvPr/>
        </p:nvSpPr>
        <p:spPr>
          <a:xfrm>
            <a:off x="1009650" y="2981325"/>
            <a:ext cx="49720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完成</a:t>
            </a:r>
            <a:r>
              <a:rPr lang="zh-CN" sz="1275" b="0">
                <a:solidFill>
                  <a:srgbClr val="172033"/>
                </a:solidFill>
              </a:rPr>
              <a:t>长表</a:t>
            </a:r>
            <a:r>
              <a:rPr sz="1275" b="0">
                <a:solidFill>
                  <a:srgbClr val="172033"/>
                </a:solidFill>
              </a:rPr>
              <a:t>到 </a:t>
            </a:r>
            <a:r>
              <a:rPr lang="zh-CN" sz="1275" b="0">
                <a:solidFill>
                  <a:srgbClr val="172033"/>
                </a:solidFill>
              </a:rPr>
              <a:t>宽表</a:t>
            </a:r>
            <a:r>
              <a:rPr sz="1275" b="0">
                <a:solidFill>
                  <a:srgbClr val="172033"/>
                </a:solidFill>
              </a:rPr>
              <a:t>的预处理链路和质量审计。</a:t>
            </a:r>
            <a:endParaRPr sz="1275" b="0">
              <a:solidFill>
                <a:srgbClr val="172033"/>
              </a:solidFill>
            </a:endParaRPr>
          </a:p>
        </p:txBody>
      </p:sp>
      <p:sp>
        <p:nvSpPr>
          <p:cNvPr id="11" name="椭圆 10"/>
          <p:cNvSpPr>
            <a:spLocks noGrp="1"/>
          </p:cNvSpPr>
          <p:nvPr/>
        </p:nvSpPr>
        <p:spPr>
          <a:xfrm>
            <a:off x="838200" y="3524250"/>
            <a:ext cx="57150" cy="57150"/>
          </a:xfrm>
          <a:prstGeom prst="ellipse">
            <a:avLst/>
          </a:prstGeom>
          <a:solidFill>
            <a:srgbClr val="155AA8"/>
          </a:solidFill>
          <a:ln w="0">
            <a:noFill/>
            <a:prstDash val="solid"/>
          </a:ln>
        </p:spPr>
      </p:sp>
      <p:sp>
        <p:nvSpPr>
          <p:cNvPr id="12" name="矩形 11"/>
          <p:cNvSpPr>
            <a:spLocks noGrp="1"/>
          </p:cNvSpPr>
          <p:nvPr/>
        </p:nvSpPr>
        <p:spPr>
          <a:xfrm>
            <a:off x="1009650" y="3438525"/>
            <a:ext cx="49720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完成运行状态点核验、状态划分、状态时序和持续时间统计。</a:t>
            </a:r>
            <a:endParaRPr sz="1275" b="0">
              <a:solidFill>
                <a:srgbClr val="172033"/>
              </a:solidFill>
            </a:endParaRPr>
          </a:p>
        </p:txBody>
      </p:sp>
      <p:sp>
        <p:nvSpPr>
          <p:cNvPr id="13" name="椭圆 12"/>
          <p:cNvSpPr>
            <a:spLocks noGrp="1"/>
          </p:cNvSpPr>
          <p:nvPr/>
        </p:nvSpPr>
        <p:spPr>
          <a:xfrm>
            <a:off x="838200" y="3981450"/>
            <a:ext cx="57150" cy="57150"/>
          </a:xfrm>
          <a:prstGeom prst="ellipse">
            <a:avLst/>
          </a:prstGeom>
          <a:solidFill>
            <a:srgbClr val="155AA8"/>
          </a:solidFill>
          <a:ln w="0">
            <a:noFill/>
            <a:prstDash val="solid"/>
          </a:ln>
        </p:spPr>
      </p:sp>
      <p:sp>
        <p:nvSpPr>
          <p:cNvPr id="14" name="矩形 13"/>
          <p:cNvSpPr>
            <a:spLocks noGrp="1"/>
          </p:cNvSpPr>
          <p:nvPr/>
        </p:nvSpPr>
        <p:spPr>
          <a:xfrm>
            <a:off x="1009650" y="3895725"/>
            <a:ext cx="49720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完成分状态箱线图、Kruskal-Wallis 检验、FDR 校正和 ε²效应量输出。</a:t>
            </a:r>
            <a:endParaRPr sz="1275" b="0">
              <a:solidFill>
                <a:srgbClr val="172033"/>
              </a:solidFill>
            </a:endParaRPr>
          </a:p>
        </p:txBody>
      </p:sp>
      <p:sp>
        <p:nvSpPr>
          <p:cNvPr id="15" name="矩形 14"/>
          <p:cNvSpPr>
            <a:spLocks noGrp="1"/>
          </p:cNvSpPr>
          <p:nvPr/>
        </p:nvSpPr>
        <p:spPr>
          <a:xfrm>
            <a:off x="6572250" y="2028825"/>
            <a:ext cx="57150" cy="247650"/>
          </a:xfrm>
          <a:prstGeom prst="rect">
            <a:avLst/>
          </a:prstGeom>
          <a:solidFill>
            <a:srgbClr val="155AA8"/>
          </a:solidFill>
          <a:ln w="0">
            <a:noFill/>
            <a:prstDash val="solid"/>
          </a:ln>
        </p:spPr>
      </p:sp>
      <p:sp>
        <p:nvSpPr>
          <p:cNvPr id="16" name="矩形 15"/>
          <p:cNvSpPr>
            <a:spLocks noGrp="1"/>
          </p:cNvSpPr>
          <p:nvPr/>
        </p:nvSpPr>
        <p:spPr>
          <a:xfrm>
            <a:off x="6705600" y="2019300"/>
            <a:ext cx="4381500" cy="266700"/>
          </a:xfrm>
          <a:prstGeom prst="rect">
            <a:avLst/>
          </a:prstGeom>
          <a:noFill/>
          <a:ln w="0">
            <a:noFill/>
            <a:prstDash val="solid"/>
          </a:ln>
        </p:spPr>
        <p:txBody>
          <a:bodyPr/>
          <a:lstStyle/>
          <a:p>
            <a:pPr algn="l">
              <a:defRPr sz="1425" b="1">
                <a:solidFill>
                  <a:srgbClr val="0B3A75"/>
                </a:solidFill>
              </a:defRPr>
            </a:pPr>
            <a:r>
              <a:rPr sz="1425" b="1">
                <a:solidFill>
                  <a:srgbClr val="0B3A75"/>
                </a:solidFill>
              </a:rPr>
              <a:t>第二周再做</a:t>
            </a:r>
            <a:endParaRPr sz="1425" b="1">
              <a:solidFill>
                <a:srgbClr val="0B3A75"/>
              </a:solidFill>
            </a:endParaRPr>
          </a:p>
        </p:txBody>
      </p:sp>
      <p:sp>
        <p:nvSpPr>
          <p:cNvPr id="17" name="椭圆 16"/>
          <p:cNvSpPr>
            <a:spLocks noGrp="1"/>
          </p:cNvSpPr>
          <p:nvPr/>
        </p:nvSpPr>
        <p:spPr>
          <a:xfrm>
            <a:off x="6743700" y="2609850"/>
            <a:ext cx="57150" cy="57150"/>
          </a:xfrm>
          <a:prstGeom prst="ellipse">
            <a:avLst/>
          </a:prstGeom>
          <a:solidFill>
            <a:srgbClr val="16836A"/>
          </a:solidFill>
          <a:ln w="0">
            <a:noFill/>
            <a:prstDash val="solid"/>
          </a:ln>
        </p:spPr>
      </p:sp>
      <p:sp>
        <p:nvSpPr>
          <p:cNvPr id="18" name="矩形 17"/>
          <p:cNvSpPr>
            <a:spLocks noGrp="1"/>
          </p:cNvSpPr>
          <p:nvPr/>
        </p:nvSpPr>
        <p:spPr>
          <a:xfrm>
            <a:off x="6915150" y="2524125"/>
            <a:ext cx="44005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细粒度工况划分和工况中心解释。</a:t>
            </a:r>
            <a:endParaRPr sz="1275" b="0">
              <a:solidFill>
                <a:srgbClr val="172033"/>
              </a:solidFill>
            </a:endParaRPr>
          </a:p>
        </p:txBody>
      </p:sp>
      <p:sp>
        <p:nvSpPr>
          <p:cNvPr id="19" name="椭圆 18"/>
          <p:cNvSpPr>
            <a:spLocks noGrp="1"/>
          </p:cNvSpPr>
          <p:nvPr/>
        </p:nvSpPr>
        <p:spPr>
          <a:xfrm>
            <a:off x="6743700" y="3067050"/>
            <a:ext cx="57150" cy="57150"/>
          </a:xfrm>
          <a:prstGeom prst="ellipse">
            <a:avLst/>
          </a:prstGeom>
          <a:solidFill>
            <a:srgbClr val="16836A"/>
          </a:solidFill>
          <a:ln w="0">
            <a:noFill/>
            <a:prstDash val="solid"/>
          </a:ln>
        </p:spPr>
      </p:sp>
      <p:sp>
        <p:nvSpPr>
          <p:cNvPr id="20" name="矩形 19"/>
          <p:cNvSpPr>
            <a:spLocks noGrp="1"/>
          </p:cNvSpPr>
          <p:nvPr/>
        </p:nvSpPr>
        <p:spPr>
          <a:xfrm>
            <a:off x="6915150" y="2981325"/>
            <a:ext cx="44005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参数相关性与特征解耦分析。</a:t>
            </a:r>
            <a:endParaRPr sz="1275" b="0">
              <a:solidFill>
                <a:srgbClr val="172033"/>
              </a:solidFill>
            </a:endParaRPr>
          </a:p>
        </p:txBody>
      </p:sp>
      <p:sp>
        <p:nvSpPr>
          <p:cNvPr id="21" name="椭圆 20"/>
          <p:cNvSpPr>
            <a:spLocks noGrp="1"/>
          </p:cNvSpPr>
          <p:nvPr/>
        </p:nvSpPr>
        <p:spPr>
          <a:xfrm>
            <a:off x="6743700" y="3524250"/>
            <a:ext cx="57150" cy="57150"/>
          </a:xfrm>
          <a:prstGeom prst="ellipse">
            <a:avLst/>
          </a:prstGeom>
          <a:solidFill>
            <a:srgbClr val="16836A"/>
          </a:solidFill>
          <a:ln w="0">
            <a:noFill/>
            <a:prstDash val="solid"/>
          </a:ln>
        </p:spPr>
      </p:sp>
      <p:sp>
        <p:nvSpPr>
          <p:cNvPr id="22" name="矩形 21"/>
          <p:cNvSpPr>
            <a:spLocks noGrp="1"/>
          </p:cNvSpPr>
          <p:nvPr/>
        </p:nvSpPr>
        <p:spPr>
          <a:xfrm>
            <a:off x="6915150" y="3438525"/>
            <a:ext cx="44005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结合现场生产记录解释长停机、频繁切换和高影响参数。</a:t>
            </a:r>
            <a:endParaRPr sz="1275" b="0">
              <a:solidFill>
                <a:srgbClr val="172033"/>
              </a:solidFill>
            </a:endParaRPr>
          </a:p>
        </p:txBody>
      </p:sp>
      <p:sp>
        <p:nvSpPr>
          <p:cNvPr id="23" name="椭圆 22"/>
          <p:cNvSpPr>
            <a:spLocks noGrp="1"/>
          </p:cNvSpPr>
          <p:nvPr/>
        </p:nvSpPr>
        <p:spPr>
          <a:xfrm>
            <a:off x="6743700" y="3981450"/>
            <a:ext cx="57150" cy="57150"/>
          </a:xfrm>
          <a:prstGeom prst="ellipse">
            <a:avLst/>
          </a:prstGeom>
          <a:solidFill>
            <a:srgbClr val="16836A"/>
          </a:solidFill>
          <a:ln w="0">
            <a:noFill/>
            <a:prstDash val="solid"/>
          </a:ln>
        </p:spPr>
      </p:sp>
      <p:sp>
        <p:nvSpPr>
          <p:cNvPr id="24" name="矩形 23"/>
          <p:cNvSpPr>
            <a:spLocks noGrp="1"/>
          </p:cNvSpPr>
          <p:nvPr/>
        </p:nvSpPr>
        <p:spPr>
          <a:xfrm>
            <a:off x="6915150" y="3895725"/>
            <a:ext cx="4400550" cy="285750"/>
          </a:xfrm>
          <a:prstGeom prst="rect">
            <a:avLst/>
          </a:prstGeom>
          <a:noFill/>
          <a:ln w="0">
            <a:noFill/>
            <a:prstDash val="solid"/>
          </a:ln>
        </p:spPr>
        <p:txBody>
          <a:bodyPr/>
          <a:lstStyle/>
          <a:p>
            <a:pPr algn="l">
              <a:defRPr sz="1275" b="0">
                <a:solidFill>
                  <a:srgbClr val="172033"/>
                </a:solidFill>
              </a:defRPr>
            </a:pPr>
            <a:r>
              <a:rPr sz="1275" b="0">
                <a:solidFill>
                  <a:srgbClr val="172033"/>
                </a:solidFill>
              </a:rPr>
              <a:t>形成阶段一完整结论和中间结果附件。</a:t>
            </a:r>
            <a:endParaRPr sz="1275" b="0">
              <a:solidFill>
                <a:srgbClr val="172033"/>
              </a:solidFill>
            </a:endParaRPr>
          </a:p>
        </p:txBody>
      </p:sp>
      <p:sp>
        <p:nvSpPr>
          <p:cNvPr id="27" name="矩形 26"/>
          <p:cNvSpPr>
            <a:spLocks noGrp="1"/>
          </p:cNvSpPr>
          <p:nvPr/>
        </p:nvSpPr>
        <p:spPr>
          <a:xfrm>
            <a:off x="514350" y="6429375"/>
            <a:ext cx="11163300" cy="9525"/>
          </a:xfrm>
          <a:prstGeom prst="rect">
            <a:avLst/>
          </a:prstGeom>
          <a:solidFill>
            <a:srgbClr val="D9E6F7"/>
          </a:solidFill>
          <a:ln w="0">
            <a:noFill/>
            <a:prstDash val="solid"/>
          </a:ln>
        </p:spPr>
      </p:sp>
      <p:sp>
        <p:nvSpPr>
          <p:cNvPr id="29" name="矩形 28"/>
          <p:cNvSpPr>
            <a:spLocks noGrp="1"/>
          </p:cNvSpPr>
          <p:nvPr/>
        </p:nvSpPr>
        <p:spPr>
          <a:xfrm>
            <a:off x="11334750" y="6515100"/>
            <a:ext cx="342900" cy="190500"/>
          </a:xfrm>
          <a:prstGeom prst="rect">
            <a:avLst/>
          </a:prstGeom>
          <a:noFill/>
          <a:ln w="0">
            <a:noFill/>
            <a:prstDash val="solid"/>
          </a:ln>
        </p:spPr>
        <p:txBody>
          <a:bodyPr/>
          <a:lstStyle/>
          <a:p>
            <a:pPr algn="r">
              <a:defRPr sz="825" b="0">
                <a:solidFill>
                  <a:srgbClr val="5D6B82"/>
                </a:solidFill>
              </a:defRPr>
            </a:pPr>
            <a:r>
              <a:rPr sz="825" b="0">
                <a:solidFill>
                  <a:srgbClr val="5D6B82"/>
                </a:solidFill>
              </a:rPr>
              <a:t>1</a:t>
            </a:r>
            <a:r>
              <a:rPr lang="en-US" sz="825" b="0">
                <a:solidFill>
                  <a:srgbClr val="5D6B82"/>
                </a:solidFill>
              </a:rPr>
              <a:t>3</a:t>
            </a:r>
            <a:endParaRPr lang="en-US" sz="825" b="0">
              <a:solidFill>
                <a:srgbClr val="5D6B82"/>
              </a:solidFill>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2759</Words>
  <Application>WPS 演示</Application>
  <PresentationFormat>Converted Presentation</PresentationFormat>
  <Paragraphs>520</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黑体</vt:lpstr>
      <vt:lpstr>微软雅黑</vt:lpstr>
      <vt:lpstr>Calibri</vt:lpstr>
      <vt:lpstr>Arial Unicode MS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DBAA</cp:lastModifiedBy>
  <cp:revision>2</cp:revision>
  <dcterms:created xsi:type="dcterms:W3CDTF">2026-07-07T15:06:00Z</dcterms:created>
  <dcterms:modified xsi:type="dcterms:W3CDTF">2026-07-14T07:21:48Z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A2065323D7BA4152830BD7F7B128702E_13</vt:lpwstr>
  </property>
</Properties>
</file>